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fe666f9904425" /><Relationship Type="http://schemas.openxmlformats.org/officeDocument/2006/relationships/extended-properties" Target="/docProps/app.xml" Id="R26ffcd4d3eaa45f3" /><Relationship Type="http://schemas.openxmlformats.org/officeDocument/2006/relationships/officeDocument" Target="/ppt/presentation.xml" Id="R7c321a6fdbb1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058e4da7e464d"/>
  </p:sldMasterIdLst>
  <p:notesMasterIdLst>
    <p:notesMasterId xmlns:r="http://schemas.openxmlformats.org/officeDocument/2006/relationships" r:id="R9d65121528d64491"/>
  </p:notesMasterIdLst>
  <p:sldIdLst>
    <p:sldId xmlns:r="http://schemas.openxmlformats.org/officeDocument/2006/relationships" id="256" r:id="Rc80171f9556e49d7"/>
    <p:sldId xmlns:r="http://schemas.openxmlformats.org/officeDocument/2006/relationships" id="257" r:id="Rb52c19306fee4fbe"/>
    <p:sldId xmlns:r="http://schemas.openxmlformats.org/officeDocument/2006/relationships" id="258" r:id="R218c9c57a534496b"/>
    <p:sldId xmlns:r="http://schemas.openxmlformats.org/officeDocument/2006/relationships" id="259" r:id="R44b59a51ce4046c4"/>
    <p:sldId xmlns:r="http://schemas.openxmlformats.org/officeDocument/2006/relationships" id="260" r:id="R1c6a14e10eea49e6"/>
    <p:sldId xmlns:r="http://schemas.openxmlformats.org/officeDocument/2006/relationships" id="261" r:id="R2d7e2700921d475c"/>
    <p:sldId xmlns:r="http://schemas.openxmlformats.org/officeDocument/2006/relationships" id="262" r:id="R758358af8b604b01"/>
    <p:sldId xmlns:r="http://schemas.openxmlformats.org/officeDocument/2006/relationships" id="263" r:id="Rbdf519f9b8114f5c"/>
    <p:sldId xmlns:r="http://schemas.openxmlformats.org/officeDocument/2006/relationships" id="264" r:id="R1630877a3ef94282"/>
    <p:sldId xmlns:r="http://schemas.openxmlformats.org/officeDocument/2006/relationships" id="265" r:id="R1bb8edcc10714ddc"/>
    <p:sldId xmlns:r="http://schemas.openxmlformats.org/officeDocument/2006/relationships" id="266" r:id="Rf2c3ee2d7c9a455d"/>
    <p:sldId xmlns:r="http://schemas.openxmlformats.org/officeDocument/2006/relationships" id="267" r:id="R007f2fbe14da4827"/>
    <p:sldId xmlns:r="http://schemas.openxmlformats.org/officeDocument/2006/relationships" id="268" r:id="R372f750a3f5a447b"/>
    <p:sldId xmlns:r="http://schemas.openxmlformats.org/officeDocument/2006/relationships" id="269" r:id="R55a9df515249468c"/>
    <p:sldId xmlns:r="http://schemas.openxmlformats.org/officeDocument/2006/relationships" id="270" r:id="R828f4d7e777e489b"/>
    <p:sldId xmlns:r="http://schemas.openxmlformats.org/officeDocument/2006/relationships" id="271" r:id="R8a6f3dbf8e864c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2cf781c0144f0" /><Relationship Type="http://schemas.openxmlformats.org/officeDocument/2006/relationships/slideMaster" Target="/ppt/slideMasters/slideMaster1.xml" Id="R890058e4da7e464d" /><Relationship Type="http://schemas.openxmlformats.org/officeDocument/2006/relationships/notesMaster" Target="/ppt/notesMasters/notesMaster1.xml" Id="R9d65121528d64491" /><Relationship Type="http://schemas.openxmlformats.org/officeDocument/2006/relationships/presProps" Target="/ppt/presProps.xml" Id="R195d3b91f61f4933" /><Relationship Type="http://schemas.openxmlformats.org/officeDocument/2006/relationships/tableStyles" Target="/ppt/tableStyles.xml" Id="R52f223e5934347b3" /><Relationship Type="http://schemas.openxmlformats.org/officeDocument/2006/relationships/slide" Target="/ppt/slides/slide1.xml" Id="Rc80171f9556e49d7" /><Relationship Type="http://schemas.openxmlformats.org/officeDocument/2006/relationships/slide" Target="/ppt/slides/slide2.xml" Id="Rb52c19306fee4fbe" /><Relationship Type="http://schemas.openxmlformats.org/officeDocument/2006/relationships/slide" Target="/ppt/slides/slide3.xml" Id="R218c9c57a534496b" /><Relationship Type="http://schemas.openxmlformats.org/officeDocument/2006/relationships/slide" Target="/ppt/slides/slide4.xml" Id="R44b59a51ce4046c4" /><Relationship Type="http://schemas.openxmlformats.org/officeDocument/2006/relationships/slide" Target="/ppt/slides/slide5.xml" Id="R1c6a14e10eea49e6" /><Relationship Type="http://schemas.openxmlformats.org/officeDocument/2006/relationships/slide" Target="/ppt/slides/slide6.xml" Id="R2d7e2700921d475c" /><Relationship Type="http://schemas.openxmlformats.org/officeDocument/2006/relationships/slide" Target="/ppt/slides/slide7.xml" Id="R758358af8b604b01" /><Relationship Type="http://schemas.openxmlformats.org/officeDocument/2006/relationships/slide" Target="/ppt/slides/slide8.xml" Id="Rbdf519f9b8114f5c" /><Relationship Type="http://schemas.openxmlformats.org/officeDocument/2006/relationships/slide" Target="/ppt/slides/slide9.xml" Id="R1630877a3ef94282" /><Relationship Type="http://schemas.openxmlformats.org/officeDocument/2006/relationships/slide" Target="/ppt/slides/slide10.xml" Id="R1bb8edcc10714ddc" /><Relationship Type="http://schemas.openxmlformats.org/officeDocument/2006/relationships/slide" Target="/ppt/slides/slide11.xml" Id="Rf2c3ee2d7c9a455d" /><Relationship Type="http://schemas.openxmlformats.org/officeDocument/2006/relationships/slide" Target="/ppt/slides/slide12.xml" Id="R007f2fbe14da4827" /><Relationship Type="http://schemas.openxmlformats.org/officeDocument/2006/relationships/slide" Target="/ppt/slides/slide13.xml" Id="R372f750a3f5a447b" /><Relationship Type="http://schemas.openxmlformats.org/officeDocument/2006/relationships/slide" Target="/ppt/slides/slide14.xml" Id="R55a9df515249468c" /><Relationship Type="http://schemas.openxmlformats.org/officeDocument/2006/relationships/slide" Target="/ppt/slides/slide15.xml" Id="R828f4d7e777e489b" /><Relationship Type="http://schemas.openxmlformats.org/officeDocument/2006/relationships/slide" Target="/ppt/slides/slide16.xml" Id="R8a6f3dbf8e864c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acfa10a18441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9470bcc65439e" /><Relationship Type="http://schemas.openxmlformats.org/officeDocument/2006/relationships/notesMaster" Target="/ppt/notesMasters/notesMaster1.xml" Id="Rd023ff7910f3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76ca612e694029" /><Relationship Type="http://schemas.openxmlformats.org/officeDocument/2006/relationships/notesMaster" Target="/ppt/notesMasters/notesMaster1.xml" Id="Rd2d38bf6e060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9ded1a5cdb442b" /><Relationship Type="http://schemas.openxmlformats.org/officeDocument/2006/relationships/notesMaster" Target="/ppt/notesMasters/notesMaster1.xml" Id="Rb23e7b0d826d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9f2a5d65e4467" /><Relationship Type="http://schemas.openxmlformats.org/officeDocument/2006/relationships/notesMaster" Target="/ppt/notesMasters/notesMaster1.xml" Id="Rc78f82d403eb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b00603935f4563" /><Relationship Type="http://schemas.openxmlformats.org/officeDocument/2006/relationships/notesMaster" Target="/ppt/notesMasters/notesMaster1.xml" Id="R0a2de6fa9b1343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ee5027cab841c8" /><Relationship Type="http://schemas.openxmlformats.org/officeDocument/2006/relationships/notesMaster" Target="/ppt/notesMasters/notesMaster1.xml" Id="Rfcc2f834982b47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116eb428b64168" /><Relationship Type="http://schemas.openxmlformats.org/officeDocument/2006/relationships/notesMaster" Target="/ppt/notesMasters/notesMaster1.xml" Id="Re05a31b32c9645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fa90f923944ac3" /><Relationship Type="http://schemas.openxmlformats.org/officeDocument/2006/relationships/notesMaster" Target="/ppt/notesMasters/notesMaster1.xml" Id="R9d584a74191c4d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6b03a973a443b8" /><Relationship Type="http://schemas.openxmlformats.org/officeDocument/2006/relationships/notesMaster" Target="/ppt/notesMasters/notesMaster1.xml" Id="Rd6c80ebb11cc42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cd26dea6d64a93" /><Relationship Type="http://schemas.openxmlformats.org/officeDocument/2006/relationships/notesMaster" Target="/ppt/notesMasters/notesMaster1.xml" Id="R493586d9120046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a11072ec65473b" /><Relationship Type="http://schemas.openxmlformats.org/officeDocument/2006/relationships/notesMaster" Target="/ppt/notesMasters/notesMaster1.xml" Id="R73fe966687ba4a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63eacddfb64c93" /><Relationship Type="http://schemas.openxmlformats.org/officeDocument/2006/relationships/notesMaster" Target="/ppt/notesMasters/notesMaster1.xml" Id="R15deaf9ef31f47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0789aba3c041b2" /><Relationship Type="http://schemas.openxmlformats.org/officeDocument/2006/relationships/notesMaster" Target="/ppt/notesMasters/notesMaster1.xml" Id="Rbe296ee530fb40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06bd8f74bb47f0" /><Relationship Type="http://schemas.openxmlformats.org/officeDocument/2006/relationships/notesMaster" Target="/ppt/notesMasters/notesMaster1.xml" Id="R2fb845381fe645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988819e3c74569" /><Relationship Type="http://schemas.openxmlformats.org/officeDocument/2006/relationships/notesMaster" Target="/ppt/notesMasters/notesMaster1.xml" Id="R6eef2e31d35f4c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21ea5e911e49ef" /><Relationship Type="http://schemas.openxmlformats.org/officeDocument/2006/relationships/notesMaster" Target="/ppt/notesMasters/notesMaster1.xml" Id="Rc5350cdc2fed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04160368b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99d0dc56cb448b" /><Relationship Type="http://schemas.openxmlformats.org/officeDocument/2006/relationships/slideLayout" Target="/ppt/slideLayouts/slideLayout1.xml" Id="R04cdfdaa0ec5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dfdaa0ec5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8037dbd304ddf" /><Relationship Type="http://schemas.openxmlformats.org/officeDocument/2006/relationships/image" Target="/ppt/media/image.png" Id="R314be021f3f04bc4" /><Relationship Type="http://schemas.openxmlformats.org/officeDocument/2006/relationships/notesSlide" Target="/ppt/notesSlides/notesSlide1.xml" Id="Raa16dabc06db4e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4a2165ba94c49" /><Relationship Type="http://schemas.openxmlformats.org/officeDocument/2006/relationships/notesSlide" Target="/ppt/notesSlides/notesSlide2.xml" Id="R4e6003754900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bc5c43d0d4d91" /><Relationship Type="http://schemas.openxmlformats.org/officeDocument/2006/relationships/notesSlide" Target="/ppt/notesSlides/notesSlide3.xml" Id="R84c952698629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6a0d419464b08" /><Relationship Type="http://schemas.openxmlformats.org/officeDocument/2006/relationships/chart" Target="/ppt/slides/charts/chart1.xml" Id="R7d21e3ad3aad46bb" /><Relationship Type="http://schemas.openxmlformats.org/officeDocument/2006/relationships/notesSlide" Target="/ppt/notesSlides/notesSlide4.xml" Id="R3023b929631648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06965cd7742f4" /><Relationship Type="http://schemas.openxmlformats.org/officeDocument/2006/relationships/image" Target="/ppt/media/image2.png" Id="Rb8e4e63a4d0a41cc" /><Relationship Type="http://schemas.openxmlformats.org/officeDocument/2006/relationships/image" Target="/ppt/media/image3.png" Id="R064524c7413d4a81" /><Relationship Type="http://schemas.openxmlformats.org/officeDocument/2006/relationships/notesSlide" Target="/ppt/notesSlides/notesSlide5.xml" Id="R4c4540dfab0842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e28bd7a54b7a" /><Relationship Type="http://schemas.openxmlformats.org/officeDocument/2006/relationships/image" Target="/ppt/media/image4.png" Id="Ra01c74de40234de2" /><Relationship Type="http://schemas.openxmlformats.org/officeDocument/2006/relationships/notesSlide" Target="/ppt/notesSlides/notesSlide6.xml" Id="Rd9de646ceb1545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ac99771b4898" /><Relationship Type="http://schemas.openxmlformats.org/officeDocument/2006/relationships/notesSlide" Target="/ppt/notesSlides/notesSlide7.xml" Id="R3e650b381fe4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be548075f484b" /><Relationship Type="http://schemas.openxmlformats.org/officeDocument/2006/relationships/chart" Target="/ppt/slides/charts/chart2.xml" Id="R939af9ee09d94f06" /><Relationship Type="http://schemas.openxmlformats.org/officeDocument/2006/relationships/image" Target="/ppt/media/image5.png" Id="R0a59d78d963a4686" /><Relationship Type="http://schemas.openxmlformats.org/officeDocument/2006/relationships/notesSlide" Target="/ppt/notesSlides/notesSlide8.xml" Id="Rb84230f5a22d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354de7a614bc2" /><Relationship Type="http://schemas.openxmlformats.org/officeDocument/2006/relationships/notesSlide" Target="/ppt/notesSlides/notesSlide9.xml" Id="R819512a5cfef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f383bb70c422e" /><Relationship Type="http://schemas.openxmlformats.org/officeDocument/2006/relationships/image" Target="/ppt/media/image6.png" Id="R3a27a98cf96e4df2" /><Relationship Type="http://schemas.openxmlformats.org/officeDocument/2006/relationships/image" Target="/ppt/media/image7.png" Id="R55681bda9ee8468f" /><Relationship Type="http://schemas.openxmlformats.org/officeDocument/2006/relationships/notesSlide" Target="/ppt/notesSlides/notesSlide10.xml" Id="R6c8266b7afd249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6f92e63bb4444" /><Relationship Type="http://schemas.openxmlformats.org/officeDocument/2006/relationships/image" Target="/ppt/media/image8.png" Id="Rd6cc5849d3df42be" /><Relationship Type="http://schemas.openxmlformats.org/officeDocument/2006/relationships/image" Target="/ppt/media/image9.png" Id="R9e0cb649e9174e0e" /><Relationship Type="http://schemas.openxmlformats.org/officeDocument/2006/relationships/notesSlide" Target="/ppt/notesSlides/notesSlide11.xml" Id="Ra7904ce4782d4e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65ca295954042" /><Relationship Type="http://schemas.openxmlformats.org/officeDocument/2006/relationships/image" Target="/ppt/media/image10.png" Id="R4cfd9e4c0ad1451e" /><Relationship Type="http://schemas.openxmlformats.org/officeDocument/2006/relationships/image" Target="/ppt/media/image11.png" Id="Rbb2a730314f54e6b" /><Relationship Type="http://schemas.openxmlformats.org/officeDocument/2006/relationships/notesSlide" Target="/ppt/notesSlides/notesSlide12.xml" Id="Rd5c1cbcc39ef43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7eabd11946c9" /><Relationship Type="http://schemas.openxmlformats.org/officeDocument/2006/relationships/image" Target="/ppt/media/image12.png" Id="Reec492ce964f4e7f" /><Relationship Type="http://schemas.openxmlformats.org/officeDocument/2006/relationships/notesSlide" Target="/ppt/notesSlides/notesSlide13.xml" Id="R63ad1756990245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7edee66814027" /><Relationship Type="http://schemas.openxmlformats.org/officeDocument/2006/relationships/image" Target="/ppt/media/image13.png" Id="Rcdfc4f663125462c" /><Relationship Type="http://schemas.openxmlformats.org/officeDocument/2006/relationships/image" Target="/ppt/media/image14.png" Id="Rccea7c55fabc4274" /><Relationship Type="http://schemas.openxmlformats.org/officeDocument/2006/relationships/notesSlide" Target="/ppt/notesSlides/notesSlide14.xml" Id="R604a8461a3ae40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402dbc8ad4479" /><Relationship Type="http://schemas.openxmlformats.org/officeDocument/2006/relationships/image" Target="/ppt/media/image15.png" Id="R75b4493522d74346" /><Relationship Type="http://schemas.openxmlformats.org/officeDocument/2006/relationships/image" Target="/ppt/media/image16.png" Id="R58a60cef643e40a5" /><Relationship Type="http://schemas.openxmlformats.org/officeDocument/2006/relationships/image" Target="/ppt/media/image17.png" Id="R4fccfae72ae04d1a" /><Relationship Type="http://schemas.openxmlformats.org/officeDocument/2006/relationships/notesSlide" Target="/ppt/notesSlides/notesSlide15.xml" Id="R2c75962639b147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ced4da87f42db" /><Relationship Type="http://schemas.openxmlformats.org/officeDocument/2006/relationships/notesSlide" Target="/ppt/notesSlides/notesSlide16.xml" Id="R15fb635041e545a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영화 수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100만+</c:v>
              </c:pt>
              <c:pt idx="1">
                <c:v>300만+</c:v>
              </c:pt>
              <c:pt idx="2">
                <c:v>500만+</c:v>
              </c:pt>
            </c:strLit>
          </c:cat>
          <c:val>
            <c:numLit>
              <c:formatCode>General</c:formatCode>
              <c:ptCount val="3"/>
              <c:pt idx="0">
                <c:v>376</c:v>
              </c:pt>
              <c:pt idx="1">
                <c:v>134</c:v>
              </c:pt>
              <c:pt idx="2">
                <c:v>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메타+제목 / RF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Accuracy</c:v>
              </c:pt>
              <c:pt idx="1">
                <c:v>F1</c:v>
              </c:pt>
              <c:pt idx="2">
                <c:v>ROC-AUC</c:v>
              </c:pt>
            </c:strLit>
          </c:cat>
          <c:val>
            <c:numLit>
              <c:formatCode>General</c:formatCode>
              <c:ptCount val="3"/>
              <c:pt idx="0">
                <c:v>0.824</c:v>
              </c:pt>
              <c:pt idx="1">
                <c:v>0.511</c:v>
              </c:pt>
              <c:pt idx="2">
                <c:v>0.819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2F8BA-F52F-414B-A58A-A774ABAC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1A51F-BD9C-47DE-8A8A-21467E0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DATA MINING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D530A-BE15-48E1-A63E-BC034B26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국내 영화 흥행 여부 예측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및 성공 요인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6F555-E434-4747-9AED-C37430F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영화 제목, 포스터, 메타데이터를 중심으로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D8DD4-E5D3-4F6C-8460-7FBB871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52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0B7AA-C210-40B2-BDF0-C5923BE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7C4B5-7A01-4A86-B1E8-796B5D0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분석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17384-F159-48D5-8AE4-9FE3B7C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654편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25C0A-0DAE-46CD-852B-A30CA6C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KOBIS + TMDB 매칭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D2D79-896A-4D9E-956E-61058217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2905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8918C-C74C-4CA2-94EE-711F27B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290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2478B-0AD8-49E3-8C53-F6859FFA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005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기간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FCEBB-13D4-4035-88C3-DA5A218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5767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2003~2026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7B04D-39B8-466D-8F45-9C99C6E7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19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국내 개봉 영화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3F0D6-2EF7-4E46-AD27-442B106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524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97466-08D8-41BD-8DB8-9D78175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E09DD-EB73-43F8-9984-129DF6B1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B5426-4EC6-45DD-B964-F264EE89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576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300만+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B6CCC-C467-4FF0-A30C-6DC921E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기본 흥행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F3E7A-EC4C-4103-A6CF-B8D0E3D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04850"/>
            <a:ext cx="49530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be021f3f04bc4"/>
          <a:stretch xmlns:a="http://schemas.openxmlformats.org/drawingml/2006/main"/>
        </p:blipFill>
        <p:spPr>
          <a:xfrm xmlns:a="http://schemas.openxmlformats.org/drawingml/2006/main">
            <a:off x="6838950" y="2158760"/>
            <a:ext cx="4419600" cy="145463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0E250-A791-4F5D-8C5A-A480E8C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분석 대상 영화 포스터 예시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4007D-4C71-4043-9D5A-7B2902A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B5B99-C4EF-47A8-B024-318D5DE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43611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AFD52-FF0F-4E66-B03A-CC6BC39F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발표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25BC-3281-4E92-94AB-D56CBAC7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발표는 데이터에서 결론까지 다섯 단계로 전개한다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758FC-1AEF-418C-914A-0D0E6570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A5D35-838F-4A54-88B4-C5C1CC06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043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0D41C-28F9-40EA-AE05-54F611B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59BE8-0DF4-48E3-92CA-8ADBFCC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76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8F02F-63C3-4145-AF47-BA3CFAF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716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747C1-50F5-483D-AC24-CAE176F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95500"/>
            <a:ext cx="954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흥행 예측을 어떤 라벨과 지표로 볼지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8629-8AAA-4B20-91A5-E7E9F3BA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043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83082-BF5C-460E-8BEC-96117CE3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302B6-93CF-40D9-ADAB-7ED0339E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D45D-F8F9-429E-A6AE-5C87199F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데이터와 특성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7A513-8833-445B-9EE2-4A447140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33700"/>
            <a:ext cx="954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KOBIS/TMDB 병합, 제목·포스터·메타데이터 설계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41396-2099-4074-9A9F-D916276E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43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8F86C-EC9A-44EA-A16F-B0D1E8F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40688-5896-48CB-8486-D1CF9515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1E79-EA9D-4E43-A9B9-99A9AD0B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480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모델 실험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7C7D-CA9F-441F-AE66-88ECDACA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954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분류·회귀·랭크 문제로 나누어 ablation study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3766F-0669-44CE-B2F3-36AD152A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43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84FC4-9FF8-4492-BB9B-0B420F5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4D2F5-9967-4E1F-B70E-9A9B08C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6E1C7-9257-4BBB-8FBC-91BFE21C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862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결과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7314C-5021-4EE3-8EAB-3C7E911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0100"/>
            <a:ext cx="954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성능 비교, 오분류 구조, 성공 요인 신호 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670DC-FED5-4570-B791-823B6C33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439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4DB54-37BE-4E5F-AAB0-49AD540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88E0E-0BFD-4D33-8F73-E2F6E5F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AF2B4-CEED-40EF-8674-9A6B8B10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한계와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F02D5-D17C-4264-AA4E-208934B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954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데이터 확장, 불균형 보정, 임베딩 기반 개선 제안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5DD78-F126-48FB-B3CF-9FEC87A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301B2-CA23-4AB7-9F32-DEE59216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370615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64C5C-4B5E-42D4-9544-520B7DD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프로젝트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A1826-BC6B-4FA5-B495-E82F0BB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질문은 개봉 전후 정보로 흥행 가능성을 설명할 수 있는가이다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ED073-F6ED-4BA4-9971-DE0BEBFE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63509-F8B6-449C-AFAD-6961EDB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953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C5994-50F5-44F4-9EA8-491DDA53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예측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2C7B8-28F0-4C9E-BAE7-F20BA29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8B96-483E-46E9-87AC-71DDA631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영화 단위로 누적 관객 수를 기준화한다.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6EC5F-EA2C-4A53-9104-93BE1FC9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83C7-AA9F-4395-9AD8-5E7C7427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기본 분류 라벨은 300만 명 이상 여부로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7AF04-EC98-4A27-BE6B-E167C87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E3403-332D-410A-A04B-541BD06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회귀는 log 관객 수를 예측하고, 랭크는 성공도 등급을 예측한다.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BECB-3C4E-4ABF-BE87-CEF8912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C29E1-7098-4B6F-BFDD-823C12F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목표는 성능뿐 아니라 어떤 요인이 설명력을 가지는지 해석하는 것이다.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74435-4268-40E2-8938-1A3C20B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51816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98FDF-EA0F-4F2C-80D6-A8962B3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분석 단위와 판단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3CEE9-5866-474A-9566-3DA95EEC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ADB9D-2AFA-421F-913B-831C1F9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E2723-8679-4DC2-ACD9-1CBC892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기본 흥행 라벨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0174D-AF77-440B-B30C-53ED6313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300만+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E101D-FB31-48B4-B28D-EC3719E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1733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누적 관객 수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9561B-DFE1-45EF-BDBE-A305CE3F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3F684-3FA2-4653-82A5-FE5E7261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F8DE8-52D8-4589-B6EC-70D8207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고흥행 참고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5BA52-3594-42D0-BF66-0320B8D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67025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500만+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92D15-F4D2-4C0A-8093-F6C23AC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733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배우/랭크 분석 참고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E2A68-6E38-43A3-B48A-98651C5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4457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ACE04-62DC-4951-8D8C-18B008DC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57650"/>
            <a:ext cx="407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흥행작 비중이 낮기 때문에 Accuracy보다 F1, Recall, ROC-AUC를 함께 봐야 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D82F21-D98D-442E-BACC-73CA1020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23C34-7E06-4CA4-90F8-A2DF246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421750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7976B-2730-4EF3-9419-7017F74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데이터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98C1-ED40-4452-B893-1AA3466E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데이터는 KOBIS 관객 수와 TMDB 메타데이터를 결합했다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DA77F-9E84-458E-9C52-76AA25C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CDF75-86C1-4B4F-AB93-761153A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FF771-7D24-44B9-B74E-14A088D3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BC6D8-70D9-407E-907A-B9675CA5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전체 영화 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6CAA3-B64A-4593-ACEB-407303F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654편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A255E-2008-43C1-942D-657CB0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포스터 특성도 동일 수량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D087C-3073-4754-BDDE-BFA86B73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811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59D8A-87F2-4167-8645-E145BFF6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81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447B0-0F70-4152-BD41-755507B4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개봉 연도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A6BD1-7025-47AE-AACF-C6C99CD5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97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2003~2026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8C8BE-C6DE-4887-A27E-2F0611D5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국내 개봉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D7536-9EAC-41B1-ACCD-899A753E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9EC6E-631B-40B6-BD61-F07E6DFA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29476-1C32-4974-912F-F09FC6C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평균 관객 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9DF53-3F7B-47E9-B9D5-93B7A926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97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210.9만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C69F3-0508-419A-8AC6-946E2733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중앙값 123.4만 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0DCD4-6B15-4419-BDA2-397A48B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727F9-BDDF-4721-BAC1-513B7F6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C64E7-2B9D-475F-9C3F-E40853C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300만 이상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579D4-97B8-43A7-BC14-CBD9417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97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134편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351E3-387D-4F2B-958D-F77E567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기본 흥행작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8572500" y="1485900"/>
          <a:ext xmlns:a="http://schemas.openxmlformats.org/drawingml/2006/main" cx="2762250" cy="1676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1e3ad3aad46bb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E7D41-5A57-4272-96A6-23948B9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6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D86E6-310B-414A-B8EA-D43FE05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데이터 결합 구조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2B11D-A2EE-4613-B610-20D335C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E9302-F908-472C-B6A3-53923A7A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KOBIS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C4B62-C400-42C5-8A3B-521DD8F3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박스오피스 관객 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개봉 연도·제목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583F5-6305-4BEA-843F-424703A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00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2630A-53C5-4327-8693-D8D361F0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DD546-5CCE-4190-9254-4FEB1A7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053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제목 매핑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1F54B5-5E87-4A11-9944-1E5F77B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KOBIS 제목과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TMDB 제목 병합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D19FC-5FB8-4E5C-B0E3-47773D97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00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F3F202-4BE7-499A-99F5-50AA702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01CE89-F733-499E-925F-331C317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TMDB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34B9C0-86FF-41BB-AFB7-4780C1D0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장르·런타임·제작비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포스터·출연진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D83D8E-B30F-45B7-A6BE-7E7BC9B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005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9D806-68D6-4233-8180-0B2A97B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A26009-87A5-4A42-AA79-72BF7D9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분석 테이블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EBAE39-06E7-453A-AB7C-4531CBD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529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모델 학습용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특성 행렬 구성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EBDCDE-AA5E-43FF-B790-CD5F5A5C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312314-BCC1-44A0-A11E-CF4FE51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564675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82C67-F08D-42CC-8EBA-0270BC5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데이터 분포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353B7-1FF1-4809-A1A8-6F6F0026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관객 수 분포는 긴 꼬리를 가지며 흥행작 클래스가 작다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9DB7A-9437-4167-AB9F-2197143C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838E6-5B35-4AC2-A17C-B18A1B4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43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4e63a4d0a41cc"/>
          <a:stretch xmlns:a="http://schemas.openxmlformats.org/drawingml/2006/main"/>
        </p:blipFill>
        <p:spPr>
          <a:xfrm xmlns:a="http://schemas.openxmlformats.org/drawingml/2006/main">
            <a:off x="762000" y="1791260"/>
            <a:ext cx="4838700" cy="27039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A1A7C-3994-496B-BEB3-EEEED06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누적 관객 수 분포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10ED9-8927-49A1-855C-8FAFCD08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5143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524c7413d4a81"/>
          <a:stretch xmlns:a="http://schemas.openxmlformats.org/drawingml/2006/main"/>
        </p:blipFill>
        <p:spPr>
          <a:xfrm xmlns:a="http://schemas.openxmlformats.org/drawingml/2006/main">
            <a:off x="6254750" y="1695450"/>
            <a:ext cx="4826000" cy="2895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53E42-1BDF-4C53-A539-3F264D4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기준별 흥행작 비율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660B-5E69-47B7-A2FB-EA68F55E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B8C04-18B6-4A82-B7B3-45E5A1E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300만 기준 양성 클래스: 134편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6104E-FCA9-4983-B2E3-D984107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BB50B-DDD8-4863-9E10-9E4915E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43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500만 기준은 72편으로 더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9CB0F-B67E-42B6-A0A2-B891F1E6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91150"/>
            <a:ext cx="2819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C4F56-80F6-4DB0-B6E6-DB6A9587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435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불균형 해석이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8DBA7-1AB2-485A-BE1A-5BE35DA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55FCF-120D-4C85-A570-F36AF108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94963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EBD44-243C-45E4-9A96-C0C4844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특성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9B28D-1D4F-4E3A-BF1D-0995D8D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특성은 메타데이터, 제목, 포스터를 분리해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FE438-151F-468B-9292-B1DE8FA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2D17A-2731-4325-BCE0-C834C4C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333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1CD01-78AC-48AE-AEE4-C379DD6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A102C-57B4-4F92-BD07-AEA3530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36A85-7198-4051-8BF6-F5F78083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메타데이터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7F309-D120-4B8E-90E8-0E69F4E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런타임, 제작비, 개봉 연도·월, 계절, 장르 원-핫, 감독·출연진·제작사 빈도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822C3-56C0-401A-8FF3-B3F32C1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3333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80D76-CE67-46E6-8DD0-F38CFAD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F9F3B-7E1B-49F9-8FB1-A495E5B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38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926D-C5DC-4770-9CA4-BD9008D0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33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제목 특성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CA5E6-EB2E-4F60-8D7A-F963043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제목 길이, 단어 수, 숫자·영어·특수문자 포함 여부, 장르성 키워드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77FFF-457C-4F67-99C4-C2339FA4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3333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63768-6CD7-4FDF-BFAF-F93BE13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521A9-4672-41A1-9976-613954BA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8B99-5502-420D-9563-7D873F4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33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포스터 특성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C42AC-5C51-4E66-A5E8-F4D605E3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평균 밝기, 평균 채도, RGB 평균, 대비, 에지 밀도 등 저수준 시각 특성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9F8D1-6260-488C-A967-E23DDE5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5156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c74de40234de2"/>
          <a:stretch xmlns:a="http://schemas.openxmlformats.org/drawingml/2006/main"/>
        </p:blipFill>
        <p:spPr>
          <a:xfrm xmlns:a="http://schemas.openxmlformats.org/drawingml/2006/main">
            <a:off x="4076700" y="3257550"/>
            <a:ext cx="4038600" cy="20193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4B92B-3B8F-4CB4-8AEC-C7A513B2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1017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수집, 매핑, 특성 추출, 모델 학습, 평가·해석 흐름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5409C-18B1-4237-9049-40901486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C566F-41AC-48B4-8538-C0BAA8C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052192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6F8E1-494F-41D0-9F7B-3EC51EE5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모델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F7D69-1863-461F-84D1-A9DC1C55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실험은 문제 유형과 특성 조합을 나눠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E001E-2E3D-4E09-92A7-F7A7632F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FE0F8-2ED1-4B58-AB2A-683F7698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197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5D5A7-771D-4369-B670-5E9760D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문제 유형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D24BC-375C-4749-8F84-8523622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610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80CBD-4F7F-4876-9D36-462B6FEC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DC400-9DB3-4056-87C7-E3CCDDE8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3E3A2-6414-4484-9690-64D58EE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D2051-8786-4940-B620-FFA079EC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3714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300만 이상 흥행 여부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Logistic / Decision Tree / RF / DNN MLP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184DE-B6FC-4D5A-BC25-D0EB6614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610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4D9CB-9FFA-4342-BC0A-7FC9D80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23071-51AE-4E60-B138-F2055F7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99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8A98B-373C-49A7-8113-3634D1E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회귀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E0759-5403-4C1D-86C8-9F42B595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3714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log 관객 수 예측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Linear / Ridge / Lasso / RF Regressor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05B93-974C-4FAD-A060-9F675C1E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610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0B4DA-C4B3-408F-A0B3-01063EE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775D3-3E79-42A3-8BAF-82F674F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0D0E5-9E6D-42BC-8BEF-41B4472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랭크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6FDB3-3E5B-472D-BCFF-F36F20CC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3714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성공도 등급 분류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D-C-B-A-S 직접 분류와 보조 전략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7B76F-B961-41EE-9926-5C8317B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52959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6EA5C-25C5-46A7-89DE-1CF2B10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입력 특성 조합과 지표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9D654-9350-42EC-8C61-E57594A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8CD8F-7F07-4A1A-BDFB-91382978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286C1-05BD-4CA3-8DF2-89F6093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메타데이터만 사용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4BAEC-3F5C-4F2F-AFAA-A8D3F644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B301F-895B-466A-9CB5-5CC04508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metadata_title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92321-A892-426C-9E1C-A6D7F4A8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메타데이터 + 제목 특성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CAA514-34FD-40EB-B1B2-1E8778EA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528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1F4DA-A35F-40CA-BAF5-392996B3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metadata_poster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C66ED-3FC4-4EDC-AADB-5FFAE512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메타데이터 + 포스터 특성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99CCC-0073-477F-A5EA-1EF3C566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671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ACBB6-8CE1-431B-8D57-E9D2E8A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678F3-4E09-4A48-A34A-9656CC9E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전체 특성 사용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1985EB-8DDA-4DF5-A0EB-50D5621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720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E6F0AA-B165-40B6-831F-255AE68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평가 지표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42A5E-C1C3-4197-8D25-A288E3E6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Accuracy, F1, Recall, ROC-AUC, RMSE, R2를 함께 보고 불균형 효과를 해석했다.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3A0E2B-C692-4351-87CC-96F2598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26921-639D-4F07-96BF-DA93D17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441266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2F7CDB-BF7D-423D-A772-CCA02AC7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분류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62801-3D3E-40A1-9601-3D331CF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분류에서는 Random Forest가 가장 안정적인 기준 모델이었다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F647-F3A5-46CD-9A67-6BAF68AE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F6A07-1812-40B0-B988-3BA808CA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4DF35-4B4E-4817-9437-3110427E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81D27-7626-4012-BF01-3EF6BB44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최고 ROC-AUC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F2D08-9AFB-4D88-B338-BEA7C62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0.819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6E486-8E7B-4437-A0AA-788A3D72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메타+제목 / 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258A0-67FA-4132-BA28-F84AF568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049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12F51-DD61-498A-AA96-5ABACCCE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9D465-B778-4BE6-A778-15BF679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7B1FE-582B-43E9-9620-A62DB53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335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0.824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CAC8B-3CEF-4B2B-9F07-848F3EB0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메타+제목 / 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2703C-745D-4A71-90BF-122E9B0C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CCAE1-DC86-4C02-80D9-974D016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03DC1-AB8F-4A49-B423-1C7969A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D187-F042-4051-A8D1-7F660EE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335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0.511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DA77-FCF1-4E64-A684-53B27B8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메타+제목 / 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43C9A-6625-4525-A5E0-7580EA0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F9A2C-9C3A-456E-97DB-D0DD384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36F05-5837-4CFA-A333-0F531C9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최고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D839-5D6A-443F-AE18-A70A1AAE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0.522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965BA-6509-4A99-AD5D-DD70228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8515350" y="1504950"/>
          <a:ext xmlns:a="http://schemas.openxmlformats.org/drawingml/2006/main" cx="285750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9af9ee09d94f06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BEE99-209C-444F-91BC-23D87564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1341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9d78d963a4686"/>
          <a:stretch xmlns:a="http://schemas.openxmlformats.org/drawingml/2006/main"/>
        </p:blipFill>
        <p:spPr>
          <a:xfrm xmlns:a="http://schemas.openxmlformats.org/drawingml/2006/main">
            <a:off x="2025650" y="3390900"/>
            <a:ext cx="3302000" cy="19812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DF683A-8490-4A6A-9E90-2618932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Forest 입력 특성 조합별 ROC-AUC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D49A7-DAD2-4079-A7CA-9728ED8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42672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0CA14-FEB4-4DAC-A93B-5F620B2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해석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97048-249E-4F74-8541-948E60C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3CBAC-8A1E-4944-BE35-D371D8F3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제목 특성은 ROC-AUC를 소폭 높였지만 F1 개선은 제한적이다.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28085C-A240-434D-8C8E-1EE95713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904C4-2CC2-4563-AC1C-392C603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메타데이터만으로도 RF 기준 F1 0.522를 기록했다.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789419-D215-499A-984F-70D0CBC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D13F6C-4E30-452C-A8BA-4992832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911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흥행작 비중이 낮아 Accuracy만으로 모델을 선택하면 위험하다.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12B884-FE35-4748-BF0E-C98471CF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426BA-A161-4C92-8DD4-592B334C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773931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0B014-E60F-426F-AA74-D80DA0D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분류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E86F4-485F-456F-A7F0-46CCB9C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분류 성능은 Accuracy보다 흥행작 탐지 관점에서 봐야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D732F-7D4D-4D4F-88DA-2AFD53E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CDC57-F4D4-4872-AB37-F3175DB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04825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24509-6960-40E7-89AA-C4AFA94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왜 Accuracy만 보면 안 되는가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86A2A-1590-442D-A881-37CD0C71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BA01D-2268-485F-BF65-36633DB7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300만 이상 영화는 654편 중 134편으로 소수 클래스다.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75148-C5C4-420A-B956-5DEFDFB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0DD7C-7B2F-4583-9959-3A7F890B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대부분을 비흥행으로 예측해도 Accuracy는 높게 보일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5F7DC-7538-4E6E-8F9C-52FDAC79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F531C-E887-4B63-9690-A6F5B0B5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발표에서는 ROC-AUC로 순위화 능력, F1/Recall로 흥행작 탐지력을 함께 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D9EFF-DD9C-4419-9B37-4E05A6F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6FE2B-D201-4349-8108-6D64B229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실무적으로는 임계값 조정과 클래스 가중치 실험이 후속 과제다.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8E58D-87B7-4B18-996E-E0570975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51435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E47F4-51E1-4B2E-831D-0EFA949E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지표별 의미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6D424-3745-4CF9-A0D2-DAAFF26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93FE9-427F-424C-9E27-28D4D16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전체 예측 중 맞춘 비율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E0F5D-CA76-48D0-8FBC-87633F31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불균형 데이터에서 과대평가 가능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1BC31-FEF4-4A72-BF46-E98D73F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5F2A7-A6D8-4284-B604-C05EEB8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Precision과 Recall의 균형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7D621-DE45-4F2C-9D0F-23F991B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흥행작 탐지 성능 판단에 유용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92C3C-B047-405D-94BA-1E956AA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03E07-0C57-4A2E-B444-56DD8016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실제 흥행작을 놓치지 않는 정도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3419E-3974-4FBB-8C14-81285FAA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마케팅 의사결정 관점에서 중요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A768B-69EE-4B03-8A05-4FE4D8C4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ROC-AUC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770AF-FA85-441B-A417-71C4BDCA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임계값과 무관한 순위화 성능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A4DBF-0604-4A91-B391-0C564B5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제목 특성의 소폭 기여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067C0-DA73-4D03-8A2A-60A854E4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C6680B-A597-4017-905F-38631AD7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22929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8B468-7D67-4D5E-87FE-EB747F2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회귀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A7A9-5386-4096-8A55-4CFE00D2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관객 수 회귀는 블록버스터 쏠림 때문에 설명력이 제한적이었다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5C75C-8A10-43F0-8BFC-442D6F1D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13B4-1EA6-4F74-8EF5-A584100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E7FF2-E6AA-4325-93CA-877D37D2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5B8B0-E6EE-439D-9C50-781A540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최고 R2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C13DE-B702-4DF4-9BC2-6A9E699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0.190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26C93-DD78-4AC3-BC53-5F40AC4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 Regr.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AFC4-7C23-4CD1-9A4D-EF40060F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04950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04C50-3716-4B47-B21F-9F7A7E33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FECEC-531D-4B12-BF94-E95BCBF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76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31DB7-9E4D-4CA9-B68F-F2A25096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228.0만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A50FC-2D57-4DF4-B504-9EDAC4E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 Regr.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BCCDE-C72A-4543-803A-CCD60837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49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3EF77-ED71-4D52-94DE-08851C21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4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57670-E1D1-4A56-B4C8-E91FC4A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76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671C7-8893-4E70-B7B9-6DEDFE4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3357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129.8만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2FF20-CF9D-4BED-B783-E0B90D1A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 Regr.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FF4C8-4F84-4F73-AD16-C09CB830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04950"/>
            <a:ext cx="447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3CEEB-BF16-4215-A3CD-B5935E1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R2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51862-22A7-475C-B216-733C0140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2C349-D14E-4300-A509-8C33E49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90E7C-0968-46FA-9145-9A24AB6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6781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3DFA3-9C8A-4E0F-8D69-25779E2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0.190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2F525-0E85-4F3B-B179-3AE3F54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metadata_title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4AA15-7747-43A0-B22A-DE2A6A5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39B8D-3D4D-4E4E-A060-87686CD2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1660467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95F5B-0904-420D-ADE5-4953700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0980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0.188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9D599-E58F-4860-A9F8-35B121C9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384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metadata_poster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36BFF-FA7E-438E-AC6E-592E17F6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12865-F015-431B-A58A-EB14BD7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1501486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3C5AB-6160-40F1-B7B4-53ABDA60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1935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0.170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4C128-1ACE-4886-ADE1-396FD93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0247CC-D979-4B55-B19C-DC273BE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BF496-C6D7-4682-A0F6-B0D5E261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1448493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C39C9-1428-409D-9827-37E0A8E2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28900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0.164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27F5A7-A9DE-416B-ADA5-0E3F9AC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143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7a98cf96e4df2"/>
          <a:stretch xmlns:a="http://schemas.openxmlformats.org/drawingml/2006/main"/>
        </p:blipFill>
        <p:spPr>
          <a:xfrm xmlns:a="http://schemas.openxmlformats.org/drawingml/2006/main">
            <a:off x="1466850" y="3314700"/>
            <a:ext cx="3429000" cy="20574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FE5F6C-32A3-4B3E-AC71-2F7F41C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R2 기준 회귀 모델 비교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7210C-8455-43FF-AC00-9A74F400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5143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81bda9ee8468f"/>
          <a:stretch xmlns:a="http://schemas.openxmlformats.org/drawingml/2006/main"/>
        </p:blipFill>
        <p:spPr>
          <a:xfrm xmlns:a="http://schemas.openxmlformats.org/drawingml/2006/main">
            <a:off x="6943878" y="3314700"/>
            <a:ext cx="3447745" cy="20574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8513AF-61B3-4ED7-A9D2-F6249D3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816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상위 관객 수 구간의 예측 난도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F2F2E4-5C6F-4C95-89A4-31C5944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D62506-8B32-4547-976D-D68267E3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082237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045267-D953-489F-8CD2-DA1CD20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랭크 예측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E074-7778-4B5D-86B9-5EBE1023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성공도 랭크는 등급 경계가 겹쳐 macro F1이 낮았다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BB06-D982-4361-A977-CD1727EA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81271-E461-4046-AC71-4FCFA619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028950" cy="40957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1945C-A5A1-4E0A-93C5-CD641D6C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최고 macro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AAC5E-678B-4A30-A166-EA8553B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0.308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33A85-FD36-43FD-86F2-2414EF7D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8B191-ED4B-4E88-8C63-09BCD4ED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1EEF6-A343-4175-8F7E-22AFC798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F7548-86BA-4707-ABB2-0B32B1E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메타 / 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9CC0F-6038-4B9B-B30C-042EFD33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랭크는 단순 흥행 여부보다 클래스 경계가 촘촘해 인접 등급 오분류가 더 많이 발생한다.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E5618-38BA-4DFA-8BB6-891C096F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c5849d3df42be"/>
          <a:stretch xmlns:a="http://schemas.openxmlformats.org/drawingml/2006/main"/>
        </p:blipFill>
        <p:spPr>
          <a:xfrm xmlns:a="http://schemas.openxmlformats.org/drawingml/2006/main">
            <a:off x="4133850" y="2620051"/>
            <a:ext cx="2838450" cy="157979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6FA73-2DB6-419E-80A3-00DBBC6A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530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랭크별 표본 분포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BF28F-8DFD-408E-9124-9B7E856C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3905250" cy="40957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cb649e9174e0e"/>
          <a:stretch xmlns:a="http://schemas.openxmlformats.org/drawingml/2006/main"/>
        </p:blipFill>
        <p:spPr>
          <a:xfrm xmlns:a="http://schemas.openxmlformats.org/drawingml/2006/main">
            <a:off x="7620000" y="1823362"/>
            <a:ext cx="3600450" cy="317317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C8638-5991-4A8C-96C1-55C0AD4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랭크별 예측 혼동 구조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ABB26-D2A0-4B94-832E-44F4FB76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FF0E7-A610-498F-B1EF-1A853CF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714065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AA0E4-241C-4A7C-B913-B9477DF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오분류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914EE-FCBD-4ECA-89AE-C34C005B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오분류는 중간 랭크와 고관객 영화에서 해석 여지가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25294-02D5-4673-A1A1-401FC82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F4B8A-4BE5-4255-A9CF-BA58CA9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435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d9e4c0ad1451e"/>
          <a:stretch xmlns:a="http://schemas.openxmlformats.org/drawingml/2006/main"/>
        </p:blipFill>
        <p:spPr>
          <a:xfrm xmlns:a="http://schemas.openxmlformats.org/drawingml/2006/main">
            <a:off x="1039605" y="1657350"/>
            <a:ext cx="4283489" cy="3314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AF2FE-2AD5-49B1-8A4B-3F9A1D6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랭크 오분류 영화별 관객 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2A80A-A61D-4BE4-87AC-76E891D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1435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a730314f54e6b"/>
          <a:stretch xmlns:a="http://schemas.openxmlformats.org/drawingml/2006/main"/>
        </p:blipFill>
        <p:spPr>
          <a:xfrm xmlns:a="http://schemas.openxmlformats.org/drawingml/2006/main">
            <a:off x="6289813" y="1657350"/>
            <a:ext cx="4755874" cy="3314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23DB3-C625-493C-8459-096F0C3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특성 공간에서 본 영화 분포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25CE5-0188-4215-B32F-80D815B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4476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EB5FE-8035-4774-AF2F-14566AA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랭크 문제는 '정확히 맞힘'보다 오차 방향과 인접 등급 여부를 함께 봐야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30E38-C8F5-4548-AE30-F38D79B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53100"/>
            <a:ext cx="4343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CDAD1-C7BC-4190-B64A-FE16894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05500"/>
            <a:ext cx="396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특성 공간에서 비슷한 영화가 다른 흥행 결과를 갖는 사례가 존재한다.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434E7-0DDB-475D-AE9A-15250C1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E2041-6C54-4CFB-8284-57315545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5259925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C13EB-487B-4360-B826-E14E469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성공 요인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23FD1-5530-4AFC-9681-9D5E0E29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성공 요인 신호는 메타데이터 변수에서 더 선명했다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A7149-C473-4A4D-BE81-0C8DDC12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22716-C329-4931-A84F-A735BD6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435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492ce964f4e7f"/>
          <a:stretch xmlns:a="http://schemas.openxmlformats.org/drawingml/2006/main"/>
        </p:blipFill>
        <p:spPr>
          <a:xfrm xmlns:a="http://schemas.openxmlformats.org/drawingml/2006/main">
            <a:off x="762000" y="1782445"/>
            <a:ext cx="4838700" cy="30645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1E2BE-2270-4C7C-9C84-9CDFD14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Forest 기준 주요 변수 중요도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01845-9759-48AE-8089-D1C6E394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1435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83816-9CE1-4BE6-9777-89CDA31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주요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DFC96-22EF-4FFA-ABF4-5719A23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0E08E-D292-4C2A-9A96-4450649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배우·감독·제작사 빈도와 장르 변수는 해석 가능한 신호를 제공한다.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9C31E-E5E8-49DD-8427-9F285F8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F46C8-D021-4FBB-B673-C32CEB4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제목 특성은 순위화 성능 개선에 일부 기여하지만 모델 전체를 바꾸지는 못했다.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9480B-B68D-4A12-A5F1-4D6DB6C6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954C3-7634-4B11-B431-87BBEA9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장르와 개봉 시점은 단독 요인이라기보다 다른 메타데이터와 함께 해석해야 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22DBB-F76C-4044-8F5D-49674B5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0B6DD-A338-4927-81FE-4422F2E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장르와 개봉 시점은 다음 장에서 별도 패턴으로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CA286-6588-415A-A3A0-9B6351B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C5595-5B1B-489D-A103-1F4C7B62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9499740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1511B-54BC-4D6D-B00E-DFCE0C1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성공 요인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831A-5D1A-4034-993D-32DC91E7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장르와 개봉 시기는 성공 랭크 분포의 보조 패턴이다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D28BB-D0E0-4E8E-9A14-FABCCAA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10B5A-3987-4951-919B-B64208E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c4f663125462c"/>
          <a:stretch xmlns:a="http://schemas.openxmlformats.org/drawingml/2006/main"/>
        </p:blipFill>
        <p:spPr>
          <a:xfrm xmlns:a="http://schemas.openxmlformats.org/drawingml/2006/main">
            <a:off x="762000" y="1708259"/>
            <a:ext cx="4838700" cy="300333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76A5-57CF-4280-9B6F-CC6BE3C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장르별 성공도 랭크 분포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18D1D-77E0-4ADC-B279-4A84F7BA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a7c55fabc4274"/>
          <a:stretch xmlns:a="http://schemas.openxmlformats.org/drawingml/2006/main"/>
        </p:blipFill>
        <p:spPr>
          <a:xfrm xmlns:a="http://schemas.openxmlformats.org/drawingml/2006/main">
            <a:off x="6394793" y="1657350"/>
            <a:ext cx="4545914" cy="3105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3475A-4E76-4035-AE62-92D3B4ED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7205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개봉 월별 성공도 랭크 분포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679E0-7017-499C-A6CF-4B3A3264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4476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73864-E5B6-4D70-B0E1-757A703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340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장르는 흥행 경향을 설명하는 보조 축이지만 표본 수 차이를 함께 봐야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71E3F-DB13-4C11-85E5-773DDAC3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000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CECB-6406-4E58-8333-EE22BF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34050"/>
            <a:ext cx="3619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개봉월은 시즌 효과 가능성을 보여주지만 단독 인과로 해석하기 어렵다.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3761-734E-4DA5-AC3C-DC1D319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B1A13-B987-4412-8EE2-763D085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20833193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73436-9672-4A08-BEE5-CC042E1B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성공 요인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4FB5-8C91-409A-B6E0-EA4A4E7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포스터·배우·제작비는 보조 신호로 활용 가능하다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55621-1C71-48BF-A838-C7AC0D88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E1E57-9E15-4103-8AF7-186B24B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4493522d74346"/>
          <a:stretch xmlns:a="http://schemas.openxmlformats.org/drawingml/2006/main"/>
        </p:blipFill>
        <p:spPr>
          <a:xfrm xmlns:a="http://schemas.openxmlformats.org/drawingml/2006/main">
            <a:off x="1057110" y="1657350"/>
            <a:ext cx="2438731" cy="1752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F9EEA-36B5-43CB-8460-DC21A243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포스터 밝기·채도와 흥행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DC7E6-3B8E-4CE9-B6FC-74CCCF0D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60cef643e40a5"/>
          <a:stretch xmlns:a="http://schemas.openxmlformats.org/drawingml/2006/main"/>
        </p:blipFill>
        <p:spPr>
          <a:xfrm xmlns:a="http://schemas.openxmlformats.org/drawingml/2006/main">
            <a:off x="4616073" y="1657350"/>
            <a:ext cx="2940803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1E82C-979E-44FA-9F26-C5F2D089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출연진 빈도 기반 500만 돌파 신호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87D2B-DD57-48A2-80DD-D34DFD49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cfae72ae04d1a"/>
          <a:stretch xmlns:a="http://schemas.openxmlformats.org/drawingml/2006/main"/>
        </p:blipFill>
        <p:spPr>
          <a:xfrm xmlns:a="http://schemas.openxmlformats.org/drawingml/2006/main">
            <a:off x="8511766" y="1657350"/>
            <a:ext cx="2769419" cy="1752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DA3B3-9C5D-46DA-BBFF-D3EA31E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제작비와 관객 수의 군집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83C0F-EAF4-458B-9AD2-B2C10EE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53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5E2A0-9363-4C48-86D1-31DB6293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종합 해석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C37B7-3BAE-4A96-86B3-E774CFF4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D99C6-3EDD-4982-B79F-64C80CB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포스터 저수준 특성은 일부 변수 중요도에 포함되지만 단독 성능 개선은 제한적이다.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7D983-C5F0-41E6-89D8-1DF4E580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0CA0B-245E-4B9A-95A9-6BAD2E30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3870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배우 관련 신호는 해석 가능성이 있지만 표본 수와 출연 빈도 편향을 함께 고려해야 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865AF-8149-48E1-BCE4-216BA07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86326-A602-455B-A65C-E0B3AB7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제작비는 흥행 규모와 관련성이 있지만 결측과 극단값 영향이 커 보정이 필요하다.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86AA2-E396-44EB-B85C-87C10EB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KOBIS/TMDB 데이터, 프로젝트 결과보고서(2026.06)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B48E8-0803-4ADA-976B-14E5546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317984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D0FDE-F5C7-4088-8E64-C9FA44F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결론 및 개선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9104B-A17C-4550-8E37-C829C1E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결론은 RF 기준선은 유효하지만 데이터 확장이 성능 개선의 핵심이다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B0FE5-FF1F-4EDE-960A-BCC16163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183F3-88CB-4D8E-9E2C-C397BAA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31899-5CF0-4DF3-8A3B-27F86F3F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핵심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F2FE6-C6E7-4FDD-BF1E-B07474C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FE23F-0F83-4682-BD7C-49426475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Random Forest는 분류 문제에서 가장 안정적인 기준 모델이었다.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3066B-9659-41F0-9827-E7D277DA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FC94A-9B9C-4059-B785-89FF1F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제목과 포스터는 보조 신호로 의미가 있으나 대폭적인 성능 향상은 제한적이었다.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2809C-2D79-4571-91DB-611504C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6410C-FBD6-49FC-8154-6FAA0B1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관객 수 회귀와 랭크 예측은 데이터 분포와 클래스 경계 문제의 영향을 크게 받았다.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6D71F-CA40-48EB-8887-F7587C4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143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6F0A6-D192-4C4A-B029-DDC7FF2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개선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CBC2C-F6E6-44B9-B688-89CC6176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3D9B6-E6BD-492C-AFBB-69C8EC8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영화 코드 기반 매칭으로 KOBIS-TMDB 연결 품질을 높인다.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D9595-62FA-4FA8-8146-0041E8A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8469E-68BF-4A71-9994-7DE71DE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CLIP/CNN 임베딩으로 포스터 표현력을 확장한다.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B0843-2F8A-4683-AC71-927BDDF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38049-594E-4A2E-9DEA-8A67B588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교차검증, 클래스 불균형 보정, 임계값 조정으로 평가 안정성을 높인다.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95605-2B19-422F-B471-6D4A06F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B5D74-610A-4E76-98FB-D4583CCF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참고 자료: KOBIS 영화관입장권통합전산망, TMDB API, scikit-learn 공식 문서, Pillow 이미지 처리 라이브러리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7B71C-466D-4CF5-A475-B627CA2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출처: 프로젝트 결과보고서 및 outputs/metrics CSV, KOBIS/TMDB/scikit-learn/Pillow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CD029-BA49-4C01-8EA6-CA0281D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26491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2026-06-18T14:15:52.1730000Z</dcterms:created>
  <dcterms:modified xsi:type="dcterms:W3CDTF">2026-06-18T14:15:52.1730000Z</dcterms:modified>
</coreProperties>
</file>