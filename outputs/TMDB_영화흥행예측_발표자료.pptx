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d5d57dc8c940de" /><Relationship Type="http://schemas.openxmlformats.org/officeDocument/2006/relationships/extended-properties" Target="/docProps/app.xml" Id="Rc99918fb2814490c" /><Relationship Type="http://schemas.openxmlformats.org/officeDocument/2006/relationships/officeDocument" Target="/ppt/presentation.xml" Id="R7060c47ce1cf47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fcabb408994a57"/>
  </p:sldMasterIdLst>
  <p:notesMasterIdLst>
    <p:notesMasterId xmlns:r="http://schemas.openxmlformats.org/officeDocument/2006/relationships" r:id="R8e1ee2bac51d4e3c"/>
  </p:notesMasterIdLst>
  <p:sldIdLst>
    <p:sldId xmlns:r="http://schemas.openxmlformats.org/officeDocument/2006/relationships" id="256" r:id="R26948fbf075f4c03"/>
    <p:sldId xmlns:r="http://schemas.openxmlformats.org/officeDocument/2006/relationships" id="257" r:id="R0a462ff5af534310"/>
    <p:sldId xmlns:r="http://schemas.openxmlformats.org/officeDocument/2006/relationships" id="258" r:id="Re3a09eeb29f449dd"/>
    <p:sldId xmlns:r="http://schemas.openxmlformats.org/officeDocument/2006/relationships" id="259" r:id="R8b665925f48f400e"/>
    <p:sldId xmlns:r="http://schemas.openxmlformats.org/officeDocument/2006/relationships" id="260" r:id="R9d2d403296114fde"/>
    <p:sldId xmlns:r="http://schemas.openxmlformats.org/officeDocument/2006/relationships" id="261" r:id="Rdf54b2fe50c44289"/>
    <p:sldId xmlns:r="http://schemas.openxmlformats.org/officeDocument/2006/relationships" id="262" r:id="R8dd5773db5bf4fa1"/>
    <p:sldId xmlns:r="http://schemas.openxmlformats.org/officeDocument/2006/relationships" id="263" r:id="R5f3c9b58556a4d49"/>
    <p:sldId xmlns:r="http://schemas.openxmlformats.org/officeDocument/2006/relationships" id="264" r:id="R12ca89036f364f20"/>
    <p:sldId xmlns:r="http://schemas.openxmlformats.org/officeDocument/2006/relationships" id="265" r:id="Rc999c4284a8e408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3f822b7ae34e77" /><Relationship Type="http://schemas.openxmlformats.org/officeDocument/2006/relationships/slideMaster" Target="/ppt/slideMasters/slideMaster1.xml" Id="Rc6fcabb408994a57" /><Relationship Type="http://schemas.openxmlformats.org/officeDocument/2006/relationships/notesMaster" Target="/ppt/notesMasters/notesMaster1.xml" Id="R8e1ee2bac51d4e3c" /><Relationship Type="http://schemas.openxmlformats.org/officeDocument/2006/relationships/presProps" Target="/ppt/presProps.xml" Id="Rdbfd26627d14457a" /><Relationship Type="http://schemas.openxmlformats.org/officeDocument/2006/relationships/tableStyles" Target="/ppt/tableStyles.xml" Id="R499086bdfd11485c" /><Relationship Type="http://schemas.openxmlformats.org/officeDocument/2006/relationships/slide" Target="/ppt/slides/slide1.xml" Id="R26948fbf075f4c03" /><Relationship Type="http://schemas.openxmlformats.org/officeDocument/2006/relationships/slide" Target="/ppt/slides/slide2.xml" Id="R0a462ff5af534310" /><Relationship Type="http://schemas.openxmlformats.org/officeDocument/2006/relationships/slide" Target="/ppt/slides/slide3.xml" Id="Re3a09eeb29f449dd" /><Relationship Type="http://schemas.openxmlformats.org/officeDocument/2006/relationships/slide" Target="/ppt/slides/slide4.xml" Id="R8b665925f48f400e" /><Relationship Type="http://schemas.openxmlformats.org/officeDocument/2006/relationships/slide" Target="/ppt/slides/slide5.xml" Id="R9d2d403296114fde" /><Relationship Type="http://schemas.openxmlformats.org/officeDocument/2006/relationships/slide" Target="/ppt/slides/slide6.xml" Id="Rdf54b2fe50c44289" /><Relationship Type="http://schemas.openxmlformats.org/officeDocument/2006/relationships/slide" Target="/ppt/slides/slide7.xml" Id="R8dd5773db5bf4fa1" /><Relationship Type="http://schemas.openxmlformats.org/officeDocument/2006/relationships/slide" Target="/ppt/slides/slide8.xml" Id="R5f3c9b58556a4d49" /><Relationship Type="http://schemas.openxmlformats.org/officeDocument/2006/relationships/slide" Target="/ppt/slides/slide9.xml" Id="R12ca89036f364f20" /><Relationship Type="http://schemas.openxmlformats.org/officeDocument/2006/relationships/slide" Target="/ppt/slides/slide10.xml" Id="Rc999c4284a8e40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05c4bcac2643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af93e7ee654bbb" /><Relationship Type="http://schemas.openxmlformats.org/officeDocument/2006/relationships/notesMaster" Target="/ppt/notesMasters/notesMaster1.xml" Id="R5919791a3e0641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57a16301754bbb" /><Relationship Type="http://schemas.openxmlformats.org/officeDocument/2006/relationships/notesMaster" Target="/ppt/notesMasters/notesMaster1.xml" Id="R580bdd0a99aa43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a757a3f09a4eae" /><Relationship Type="http://schemas.openxmlformats.org/officeDocument/2006/relationships/notesMaster" Target="/ppt/notesMasters/notesMaster1.xml" Id="R843779244fc743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e3ccdc368d4afb" /><Relationship Type="http://schemas.openxmlformats.org/officeDocument/2006/relationships/notesMaster" Target="/ppt/notesMasters/notesMaster1.xml" Id="R4e1faafeaecb43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27a53e13064b8f" /><Relationship Type="http://schemas.openxmlformats.org/officeDocument/2006/relationships/notesMaster" Target="/ppt/notesMasters/notesMaster1.xml" Id="R0b54a4d51d3e4e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dc426db02d49f7" /><Relationship Type="http://schemas.openxmlformats.org/officeDocument/2006/relationships/notesMaster" Target="/ppt/notesMasters/notesMaster1.xml" Id="R8607df6c2eb649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489e0245404d56" /><Relationship Type="http://schemas.openxmlformats.org/officeDocument/2006/relationships/notesMaster" Target="/ppt/notesMasters/notesMaster1.xml" Id="Rf5494cdc64a941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0c7241082c4b27" /><Relationship Type="http://schemas.openxmlformats.org/officeDocument/2006/relationships/notesMaster" Target="/ppt/notesMasters/notesMaster1.xml" Id="R1c90fc60ab564f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2b1875d0c94377" /><Relationship Type="http://schemas.openxmlformats.org/officeDocument/2006/relationships/notesMaster" Target="/ppt/notesMasters/notesMaster1.xml" Id="Ra1c715a78a1443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1dde36e5dc4935" /><Relationship Type="http://schemas.openxmlformats.org/officeDocument/2006/relationships/notesMaster" Target="/ppt/notesMasters/notesMaster1.xml" Id="Rd424d434a8b04f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7fcc98939e4c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2943182f8e4721" /><Relationship Type="http://schemas.openxmlformats.org/officeDocument/2006/relationships/slideLayout" Target="/ppt/slideLayouts/slideLayout1.xml" Id="R7800d4ff4a624d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00d4ff4a624d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0549873ef42e3" /><Relationship Type="http://schemas.openxmlformats.org/officeDocument/2006/relationships/image" Target="/ppt/media/image.png" Id="R12d83aa13edb47d3" /><Relationship Type="http://schemas.openxmlformats.org/officeDocument/2006/relationships/notesSlide" Target="/ppt/notesSlides/notesSlide1.xml" Id="R4b009de821e14e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4d50d862245c1" /><Relationship Type="http://schemas.openxmlformats.org/officeDocument/2006/relationships/chart" Target="/ppt/slides/charts/chart1.xml" Id="R9b92da7d047d419b" /><Relationship Type="http://schemas.openxmlformats.org/officeDocument/2006/relationships/image" Target="/ppt/media/image2.png" Id="R6a77fb688b7f44f9" /><Relationship Type="http://schemas.openxmlformats.org/officeDocument/2006/relationships/image" Target="/ppt/media/image3.png" Id="R6324c2a56fdc440a" /><Relationship Type="http://schemas.openxmlformats.org/officeDocument/2006/relationships/notesSlide" Target="/ppt/notesSlides/notesSlide2.xml" Id="Red746297f9854a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9ec6fbc0b4e6f" /><Relationship Type="http://schemas.openxmlformats.org/officeDocument/2006/relationships/image" Target="/ppt/media/image4.png" Id="R9175594507134ecc" /><Relationship Type="http://schemas.openxmlformats.org/officeDocument/2006/relationships/notesSlide" Target="/ppt/notesSlides/notesSlide3.xml" Id="Rfc5417c70a5746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5c2b964ec4870" /><Relationship Type="http://schemas.openxmlformats.org/officeDocument/2006/relationships/notesSlide" Target="/ppt/notesSlides/notesSlide4.xml" Id="Rc2523eee73aa4f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d6064b00b48b1" /><Relationship Type="http://schemas.openxmlformats.org/officeDocument/2006/relationships/chart" Target="/ppt/slides/charts/chart2.xml" Id="R390bf10f7aaa40e6" /><Relationship Type="http://schemas.openxmlformats.org/officeDocument/2006/relationships/image" Target="/ppt/media/image5.png" Id="Raa84a5b9f50d4e39" /><Relationship Type="http://schemas.openxmlformats.org/officeDocument/2006/relationships/notesSlide" Target="/ppt/notesSlides/notesSlide5.xml" Id="Rb187c892a96147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2aba79e854617" /><Relationship Type="http://schemas.openxmlformats.org/officeDocument/2006/relationships/image" Target="/ppt/media/image6.png" Id="R833d6b2327b240c8" /><Relationship Type="http://schemas.openxmlformats.org/officeDocument/2006/relationships/image" Target="/ppt/media/image7.png" Id="R2977a268ad7d4b17" /><Relationship Type="http://schemas.openxmlformats.org/officeDocument/2006/relationships/notesSlide" Target="/ppt/notesSlides/notesSlide6.xml" Id="Ra03a7c63b3f74de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9f1ce556d4594" /><Relationship Type="http://schemas.openxmlformats.org/officeDocument/2006/relationships/image" Target="/ppt/media/image8.png" Id="R4155a8daf539418b" /><Relationship Type="http://schemas.openxmlformats.org/officeDocument/2006/relationships/image" Target="/ppt/media/image9.png" Id="R899c53262afe4a04" /><Relationship Type="http://schemas.openxmlformats.org/officeDocument/2006/relationships/notesSlide" Target="/ppt/notesSlides/notesSlide7.xml" Id="R7378662af9c44a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b9afc50af4013" /><Relationship Type="http://schemas.openxmlformats.org/officeDocument/2006/relationships/image" Target="/ppt/media/image10.png" Id="R45bc27bd84944b75" /><Relationship Type="http://schemas.openxmlformats.org/officeDocument/2006/relationships/image" Target="/ppt/media/image11.png" Id="R55637e9f4a48479d" /><Relationship Type="http://schemas.openxmlformats.org/officeDocument/2006/relationships/image" Target="/ppt/media/image12.png" Id="Ra03a9bad53a748bc" /><Relationship Type="http://schemas.openxmlformats.org/officeDocument/2006/relationships/notesSlide" Target="/ppt/notesSlides/notesSlide8.xml" Id="R4222aedfd49742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578ebecbb4ae4" /><Relationship Type="http://schemas.openxmlformats.org/officeDocument/2006/relationships/image" Target="/ppt/media/image13.png" Id="Rcbe9771381ad409e" /><Relationship Type="http://schemas.openxmlformats.org/officeDocument/2006/relationships/image" Target="/ppt/media/image14.png" Id="R411edf7921704791" /><Relationship Type="http://schemas.openxmlformats.org/officeDocument/2006/relationships/image" Target="/ppt/media/image15.png" Id="Rc81d8f46fb194bc6" /><Relationship Type="http://schemas.openxmlformats.org/officeDocument/2006/relationships/notesSlide" Target="/ppt/notesSlides/notesSlide9.xml" Id="Rd63af6f0e70042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fb00147e8f4b29" /><Relationship Type="http://schemas.openxmlformats.org/officeDocument/2006/relationships/notesSlide" Target="/ppt/notesSlides/notesSlide10.xml" Id="R7e930ca53bdb450d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grouping val="clustered"/>
        <c:varyColors val="0"/>
        <c:ser>
          <c:idx val="0"/>
          <c:order val="0"/>
          <c:tx>
            <c:v>영화 수</c:v>
          </c:tx>
          <c:spPr>
            <a:solidFill xmlns:a="http://schemas.openxmlformats.org/drawingml/2006/main">
              <a:srgbClr val="1D4ED8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100만+</c:v>
              </c:pt>
              <c:pt idx="1">
                <c:v>300만+</c:v>
              </c:pt>
              <c:pt idx="2">
                <c:v>500만+</c:v>
              </c:pt>
            </c:strLit>
          </c:cat>
          <c:val>
            <c:numLit>
              <c:formatCode>General</c:formatCode>
              <c:ptCount val="3"/>
              <c:pt idx="0">
                <c:v>376</c:v>
              </c:pt>
              <c:pt idx="1">
                <c:v>134</c:v>
              </c:pt>
              <c:pt idx="2">
                <c:v>72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EE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34155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plotArea>
      <c:layout/>
      <c:barChart>
        <c:barDir val="bar"/>
        <c:grouping val="clustered"/>
        <c:varyColors val="0"/>
        <c:ser>
          <c:idx val="0"/>
          <c:order val="0"/>
          <c:tx>
            <c:v>메타+제목 / RF</c:v>
          </c:tx>
          <c:spPr>
            <a:solidFill xmlns:a="http://schemas.openxmlformats.org/drawingml/2006/main">
              <a:srgbClr val="1D4ED8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Accuracy</c:v>
              </c:pt>
              <c:pt idx="1">
                <c:v>F1</c:v>
              </c:pt>
              <c:pt idx="2">
                <c:v>ROC-AUC</c:v>
              </c:pt>
            </c:strLit>
          </c:cat>
          <c:val>
            <c:numLit>
              <c:formatCode>General</c:formatCode>
              <c:ptCount val="3"/>
              <c:pt idx="0">
                <c:v>0.824</c:v>
              </c:pt>
              <c:pt idx="1">
                <c:v>0.511</c:v>
              </c:pt>
              <c:pt idx="2">
                <c:v>0.819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EE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4155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57EC85-582A-4F45-BF37-0E9277D4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7716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AC364B-5F77-4F62-A7EE-5D4F461B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DATA MINING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989E1C-9650-4953-AADD-99018953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581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국내 영화 흥행 여부 예측</a:t>
            </a:r>
          </a:p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및 성공 요인 분석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411E6-2919-4327-BD7F-1DEF153A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영화 제목, 포스터, 메타데이터를 중심으로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BACA0-E859-491F-8DAB-3D057B67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5240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C4F4F-369E-4870-8387-D4CACF03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555985-E26C-4267-B7CC-738AC7CC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분석 대상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BA4D7-B42F-4809-ADF8-C0684E99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1162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654편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3C133-DAC7-43A1-9F8B-428EBAE7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116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KOBIS + TMDB 매칭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D804C-B59D-4F28-90FD-1B7B0A6A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29050"/>
            <a:ext cx="1809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14DFF-79CC-4467-95D9-1BB76F61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290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542353-0755-4401-905A-C964B6A8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00500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기간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122FD5-3E2D-47B4-BBF3-5124446A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24815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2003~2026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3F6CB6-F575-4A76-ABD2-5E137C1E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19650"/>
            <a:ext cx="1447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국내 개봉 영화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28077B-8488-41C5-A320-74328FF8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29050"/>
            <a:ext cx="15240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591B48-B7C0-4E74-85DD-D33A9BDC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290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A0173D-A96A-4527-9133-FC568719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00500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기준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AFF5B5-0A88-45A1-B5FB-F2455AC7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248150"/>
            <a:ext cx="1162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300만+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22B8E-43B3-4A5D-A9A5-AAC1634F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19650"/>
            <a:ext cx="116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기본 흥행 기준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EB66E8-D338-4BC4-8778-12DD3E50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04850"/>
            <a:ext cx="4953000" cy="462915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83aa13edb47d3"/>
          <a:srcRect xmlns:a="http://schemas.openxmlformats.org/drawingml/2006/main" l="32266" t="0" r="3226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933450"/>
            <a:ext cx="4495800" cy="4171950"/>
          </a:xfrm>
          <a:prstGeom xmlns:a="http://schemas.openxmlformats.org/drawingml/2006/main" prst="roundRect">
            <a:avLst>
              <a:gd name="adj" fmla="val 1826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7AD49E-0B8A-4F64-9798-642103C8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30854C-4027-446A-B9B1-C0910307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59724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0449E1-E6A1-40CA-9458-3BD7BC3E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프로젝트 개요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C74C6-7561-44D6-BD61-C84DAFD4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문제는 '흥행 여부'를 얼마나 빨리 가늠할 수 있느냐이다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77C227-712B-4C8E-B999-85860F0A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D5AC61-EBA2-401F-A619-5ECE666D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KOBIS 관객 수와 TMDB 메타데이터를 결합해 국내 영화의 흥행 여부와 성공 요인을 예측했다.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538D6-C729-4B53-BEA1-ABEC5A9C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7145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82254-8B57-4D4A-AD40-EC1B0D65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AF4B66-42AF-44A3-99C8-FDCC91FA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전체 영화 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F6E1-AD1D-4E30-98B4-0562BDA1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654편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89425-1550-404D-AE48-CFFC9F3B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포스터 특성도 654편 추출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5CD70C-2349-4E4C-8BBA-87103B51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47900"/>
            <a:ext cx="17145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F7773-DF9D-4637-8952-301FBBA0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4790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E063B-DEC9-4D9F-9267-77F3D2A8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19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관객 수 평균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6A4DE-659D-4D05-B761-DE6863A5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6700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210.9만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FE66A-DE33-460F-8C85-02CC3B58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238500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중앙값 123.4만 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166E5-5C81-4880-B355-ED97012B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47900"/>
            <a:ext cx="17145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D501A-1EA9-48FA-8643-67A44975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4790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EFB2BA-10B5-4C93-8D32-CECA5013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19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흥행작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B41649-3A70-4856-A095-6873DBD2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6700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134편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DD7512-4D7B-4A15-9263-5DAF4638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38500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300만 명 이상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58FF79-CB7E-4FD7-A3A0-D8A2BA17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47900"/>
            <a:ext cx="17145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19526B-FEAE-4170-A549-5E6C5B43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4790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F194C5-A402-4DFC-869D-FF77495E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193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고흥행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213126-94D0-417A-A9E5-3AC1EB5D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6700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72편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C02BFD-5D0A-453F-BABA-189B8420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38500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500만 명 이상</a:t>
            </a:r>
          </a:p>
        </p:txBody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8401050" y="1562100"/>
          <a:ext xmlns:a="http://schemas.openxmlformats.org/drawingml/2006/main" cx="3028950" cy="2247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92da7d047d419b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F3D40B-FC8B-458E-A0DD-3B89E035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671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흥행 기준별 누적 영화 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5A5837-6688-435F-B104-1D181E41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5219700" cy="2152650"/>
          </a:xfrm>
          <a:prstGeom xmlns:a="http://schemas.openxmlformats.org/drawingml/2006/main" prst="roundRect">
            <a:avLst>
              <a:gd name="adj" fmla="val 53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7fb688b7f44f9"/>
          <a:stretch xmlns:a="http://schemas.openxmlformats.org/drawingml/2006/main"/>
        </p:blipFill>
        <p:spPr>
          <a:xfrm xmlns:a="http://schemas.openxmlformats.org/drawingml/2006/main">
            <a:off x="1719513" y="4133850"/>
            <a:ext cx="2999874" cy="167640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B99221-1D7A-4D56-AEA2-C9ACCBB0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487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관객 수 분포는 긴 꼬리를 가진다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81927D-CA6D-452C-9655-04D685E8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00500"/>
            <a:ext cx="5314950" cy="2152650"/>
          </a:xfrm>
          <a:prstGeom xmlns:a="http://schemas.openxmlformats.org/drawingml/2006/main" prst="roundRect">
            <a:avLst>
              <a:gd name="adj" fmla="val 53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24c2a56fdc440a"/>
          <a:stretch xmlns:a="http://schemas.openxmlformats.org/drawingml/2006/main"/>
        </p:blipFill>
        <p:spPr>
          <a:xfrm xmlns:a="http://schemas.openxmlformats.org/drawingml/2006/main">
            <a:off x="7375525" y="4133850"/>
            <a:ext cx="2794000" cy="167640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410B60-026C-48AE-9ECC-33F06A37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67400"/>
            <a:ext cx="497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기준을 올릴수록 양성 클래스가 빠르게 줄어든다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94A9AB-FF1D-4D78-9678-FD6057FE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529A1B-D7C2-413E-80F9-6B0F2640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077151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E4B834-E2C0-4241-9707-A1F5499E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특성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0F4C6-4E03-4F32-B1E3-A28D1272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예측 특성은 메타데이터, 제목, 포스터 세 축으로 설계했다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9B6C6-56EA-412A-9F2C-811B1B33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7C5A3-88C8-4277-ACCC-617DBC9F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D4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64EA7-0688-4930-BDBA-48B8AC49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055234-B56E-42AF-B7D3-7C040A6B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71450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메타데이터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352E6F-9284-4F31-AA42-887B22BE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38350"/>
            <a:ext cx="2514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런타임, 제작비, 개봉 연월, 계절, 장르 원-핫, 감독·출연진·제작사 빈도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7458EA-DEE1-4FE1-9D41-B8A19613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24000"/>
            <a:ext cx="3352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2906D-9342-47E2-BA28-41C3AB96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676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9864D-20FA-4B74-BBDC-0C0EDFE6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1450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제목 특성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9C18E-43E0-4B65-8ADB-F17CA2D0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38350"/>
            <a:ext cx="2514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제목 길이, 단어 수, 숫자·영어·특수문자 포함 여부, 장르성 키워드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25227-01C3-41BB-9130-D320B632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24000"/>
            <a:ext cx="3352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770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AB4D2-4811-4158-9A0C-3D492682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76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5B4BB-A093-43DF-94EE-CA876CB4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71450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포스터 특성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5CF1C-DAC6-4957-B56E-B6B16459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38350"/>
            <a:ext cx="2514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평균 밝기, 평균 채도, RGB 평균, 대비, 에지 밀도 등 저수준 시각 특성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845DBC-5561-45F3-B95E-DE8F28B3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62300"/>
            <a:ext cx="105156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75594507134ecc"/>
          <a:stretch xmlns:a="http://schemas.openxmlformats.org/drawingml/2006/main"/>
        </p:blipFill>
        <p:spPr>
          <a:xfrm xmlns:a="http://schemas.openxmlformats.org/drawingml/2006/main">
            <a:off x="3905250" y="3295650"/>
            <a:ext cx="4381500" cy="21907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9DF63D-0F7A-4445-95B9-BCAB1F01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43550"/>
            <a:ext cx="10172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수집부터 특성 추출, 모델 학습, 평가·해석까지의 흐름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F0FA31-1400-43A2-AB99-2C50936E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6D75B-C6FB-45B2-BBBC-D44A1CFE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689484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607535-D35A-422A-AA9D-25A49981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실험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B5D3A-8691-4629-9BE1-A6206892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모델과 특성 조합을 나눠 ablation study로 비교했다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F5695-02D9-4EA4-8BB1-56AB3425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F1A2D2-EC5E-47BC-80B3-F9447A98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동일한 데이터에서 입력 특성을 단계적으로 추가해 어떤 정보가 성능에 기여하는지 확인했다.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5312F-B7F2-4033-A681-2509B084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190750"/>
            <a:ext cx="16573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F42117-0C80-4232-9AF8-9B7D04E8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431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metadata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30BE5-6955-443B-A3B0-19BC9E5A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90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기본 메타데이터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E6D8B6-EFA7-48A4-8B3E-E3B26DD2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90750"/>
            <a:ext cx="16573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ADF940-1E94-4D70-BA52-3B13CD6D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metadata_title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669110-201F-4BD8-9D4A-EACDF3F7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590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메타 + 제목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1B3E5F-BCDB-4E72-AF03-F87B57B4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90750"/>
            <a:ext cx="16573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9E9589-0EB6-4236-985F-DDD0DAD3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431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metadata_poster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2016B-D7A2-4B75-B9AA-6816AF07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90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메타 + 포스터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572A92-8CE4-4D8D-879D-CF80E409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90750"/>
            <a:ext cx="16573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30D695-0386-41CD-B3C7-2CB501DF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431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006B06-0751-44D4-B97C-DCEB8F37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90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전체 특성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91B2E-6E58-42B7-833F-A2A3F2EB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571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EF974B-93E7-4B54-AA3B-FFF32AA4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분류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51E217-C4DA-40DE-8E6F-BBF7A789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956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300만 이상 흥행 여부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44A58B-8609-4626-A9CF-8442C525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5052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Logistic / Decision Tree / Random Forest / DNN MLP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E476DF-3C1C-49C9-97C4-A844113A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35280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36D76-38B6-4503-804F-F65A1642A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4194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74B3AF-9A30-474F-9ADE-DF46AA75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3A9804-66A8-487A-8BED-F03D1202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194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732C2E-695B-4D01-A1F5-345A72B4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5280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B62E70-C1C3-4E1C-B145-1458B63D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194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159373-A96A-4E58-A645-759CD2C1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35280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0509B4-E4B8-4E81-B086-7F09B117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194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937C59-03C4-4FCF-9F01-120E0E12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571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59C7DD-C37E-4513-948D-4A908FB9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회귀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BECF67-18B5-4732-88E2-84B211B0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672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log 관객 수 예측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73B044-6BD6-4F29-92CF-2423B85C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76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Linear / Ridge / Lasso / Random Forest Regressor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4CA84E-DA1B-4960-AF2B-202D2A24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32435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752F8D-7436-4DF1-8496-D2F3A34F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39102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6CB4B6-6215-4019-847E-669DF143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2435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152A03-E587-4D11-9163-15A303CD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9102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EF5F2B-BE1B-46E7-8909-6BAD504F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784FDF-7C8D-414D-AC92-BDCBB5CE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9102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103058-490A-4C84-9D2B-4FA23F8B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2435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CAB48B-E66D-4A3B-81C6-168E0F08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9102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3F48DC-8BA7-49EE-9CA3-50B4B411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571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770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8C63A34-23F2-4688-95AB-CC9B2C55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387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랭크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995695-9CF3-4F37-9A8A-B13692BE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2387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성공도 등급 분류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6A7264-DEEF-48C8-9CF4-C43971F9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4483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D-C-B-A-S 랭크 및 threshold cascade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531A5E-6F23-4E82-8E95-23BCBF75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29590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3B1661-4665-440B-AEFC-BB9A5BF9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3625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7137B1-D5AC-47DE-967C-0A03C802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29590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2F78CB-F765-43F3-A8B2-BAA58ABF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3625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BF43F3-FC6A-427A-BDAD-095D56FA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9590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4F15677-7C1B-4E98-91B0-1941F5F0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3625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528E9E-0D16-474F-A007-8EAAA9D4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295900"/>
            <a:ext cx="742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EEF2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88B3EE-4162-4128-91BD-17880C8A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3625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4338CA"/>
                </a:solidFill>
                <a:latin typeface="Apple SD Gothic Neo"/>
                <a:ea typeface="Apple SD Gothic Neo"/>
                <a:cs typeface="Apple SD Gothic Neo"/>
              </a:rPr>
              <a:t>실험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911CE0-3E0A-4BEB-B512-3BE29F18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204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DA77D64-69CB-4B39-94FE-9E096103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53150"/>
            <a:ext cx="104394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평가 지표는 Accuracy 단독이 아니라 F1, Recall, ROC-AUC, RMSE/R2를 함께 해석했다.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CAA353-C765-47F0-9C5D-56E5039D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60491C4-AC82-4718-A61F-A08CC834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039728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B56F81-69E1-4ABE-A407-E2598060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분류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071EF-4CF2-40D0-9D34-D1A71508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분류에서는 Random Forest가 가장 안정적인 기준 모델이었다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77214-67C8-4924-A5FB-F6B1FF5C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9EAEB-5ACB-40A4-A7E8-0F55F63B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714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45B78-7CAC-4C9B-BA75-4C245CB7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30970-024B-473C-B859-7CC1FBE3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최고 ROC-AUC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B0C240-EBA3-424A-8399-4DF274B3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0.819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5F534-0225-4D69-A87E-0391116E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메타+제목 / RF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4B8F1B-0246-4888-A6B1-214E7796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504950"/>
            <a:ext cx="1714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DACC17-D095-404D-AA19-7C0999FF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5049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93ADB-5B79-49A3-91F6-15C30977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67640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D039E1-027A-4E35-A741-856FAF3D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240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0.824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8DA18-D41A-4B2A-8FCB-0E25BA64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9555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메타+제목 / 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74D9D-595F-4575-808E-04F0B53D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04950"/>
            <a:ext cx="1714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D3149-AD93-4EEE-B166-95FE20DF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049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ADD49A-7DF0-45D4-AF86-C28CF3A8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67640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CD56BF-CC27-4739-B237-5CC49E87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240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0.511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40B36-3C77-4517-9565-D2867F55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9555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메타+제목 / RF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632425-D49B-46C1-8F1C-83A377AD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714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1D555E-CCF0-44B3-B6FA-7FEBFE92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A3DEAC-0084-4149-B710-7456458E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7640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최고 F1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A280B2-9CA6-4552-9508-B07D5B10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240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0.522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12EFCD-CFB5-4923-ADAC-FCBB1D33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9555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 / RF</a:t>
            </a:r>
          </a:p>
        </p:txBody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8362950" y="1485900"/>
          <a:ext xmlns:a="http://schemas.openxmlformats.org/drawingml/2006/main" cx="3048000" cy="1524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0bf10f7aaa40e6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7C7774-B546-4705-8218-A3A49E83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6572250" cy="28003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4a5b9f50d4e39"/>
          <a:stretch xmlns:a="http://schemas.openxmlformats.org/drawingml/2006/main"/>
        </p:blipFill>
        <p:spPr>
          <a:xfrm xmlns:a="http://schemas.openxmlformats.org/drawingml/2006/main">
            <a:off x="1958975" y="3390900"/>
            <a:ext cx="3873500" cy="232410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1EA066-E488-4153-B112-F5330664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72150"/>
            <a:ext cx="622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모델·특성 조합별 분류 성능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E25309-3920-492C-80BA-114F26B4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9A1C04-61DB-401D-A857-E6BF3B59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71850"/>
            <a:ext cx="350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제목 특성은 ROC-AUC를 소폭 높였지만 F1 개선 폭은 제한적이었다.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75F7FA-64C2-4913-9221-4875F31F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A3250B-78AE-459C-B188-4117735A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76700"/>
            <a:ext cx="350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흥행작 클래스가 적어 Accuracy만 보면 성능이 과대평가될 수 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1242D5-875B-42F0-84FE-9F9B349B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48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E6AA75-F0B8-43D1-8D79-D10A3D04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781550"/>
            <a:ext cx="350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Recall과 F1을 함께 보며 실제 흥행작 탐지 성능을 해석해야 한다.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2B9FCB-486B-4A1A-95FB-0C129403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2B2EC3-46CA-468C-B556-94163EC4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78430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8B2A4C-CA21-41B7-B761-E1F5B5EA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회귀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D70AF6-E0DD-4005-94A5-CFBDE8CB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관객 수 회귀는 블록버스터 쏠림 때문에 설명력이 제한적이었다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FD5D25-F3F7-4F76-A08F-95538F81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564D0-10B5-4892-8F7C-71C4D260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809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4B390-9121-4BF2-BB60-0B52C18A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E9A8A-4D19-4F47-A17E-7EF23999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95450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최고 R2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B5BBB-9DCB-4EE9-85EB-3CFA2611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0.190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F42BF7-DBDF-49E5-9BDE-3387FAA3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 / RF Regr.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A874E-C1D9-41D6-8036-7743BED1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524000"/>
            <a:ext cx="2000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1AD29-DA37-494A-A9A8-17466CB9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5240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C3974-6E44-4BDF-A72C-95E7E1B9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95450"/>
            <a:ext cx="1638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RMSE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BA4E8-84A1-4CE2-9622-B0C6E191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94310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228.0만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1CEC5E-D8D8-463A-BADC-667576C6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514600"/>
            <a:ext cx="163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 / RF Regr.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81D5D6-F605-44E2-BB6D-B340DD37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24000"/>
            <a:ext cx="1809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83B9F-9129-4749-982C-8DCCD62B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240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39B5A6-8A8D-4F39-8757-DCB3E1C8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695450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MAE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D8D1E9-DDBF-43F5-89D9-E54FA4E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94310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129.8만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FCF300-A801-41CD-ACCB-B1349211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5146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 / RF Regr.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ACABD3-6D38-48D5-8E94-4C288E19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66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R2 by Random Forest Regressor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95AB4E-6133-4E01-B3B6-A8469AA3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097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metadata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B00FA0-40BB-499C-8AAF-F7F68745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38325"/>
            <a:ext cx="24765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8F1DD-09A6-4F4E-839D-703B1AA9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38325"/>
            <a:ext cx="2138795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A2B4EF-BF2C-40AD-9268-EC2843A8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800225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0.190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74DE8-62EC-4947-BE6F-13D371EB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907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metadata_title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A14785-AB59-48B0-B936-195D35F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19325"/>
            <a:ext cx="24765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CCAB62-50A5-4481-8AC7-FCBCEC93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19325"/>
            <a:ext cx="2116282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01AD75-3C49-4977-A52F-ABBB9F68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2181225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0.188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1309C3-2313-4A42-8DF5-7516F39C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717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metadata_poster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307478-4EB0-40CE-B7F5-E668AC7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00325"/>
            <a:ext cx="24765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B1A7CD-C710-4D67-B6EF-1C5AC289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00325"/>
            <a:ext cx="1913659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35AE63-D839-4B46-89FF-236C57C7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2562225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0.170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6AFC7E-EDE6-4589-B2C4-C8FAD602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527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all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1FAF02-82B9-43FB-BE41-741DB655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81325"/>
            <a:ext cx="24765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B54E79-68A0-44F7-8E19-8E4ACB77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81325"/>
            <a:ext cx="1846118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736333-9A6D-4F9E-AA2F-6FC1B22F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2943225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0.164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18862C-909B-4F31-95C3-02219231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429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d6b2327b240c8"/>
          <a:stretch xmlns:a="http://schemas.openxmlformats.org/drawingml/2006/main"/>
        </p:blipFill>
        <p:spPr>
          <a:xfrm xmlns:a="http://schemas.openxmlformats.org/drawingml/2006/main">
            <a:off x="1657350" y="3562350"/>
            <a:ext cx="3333750" cy="20002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E05CE0-C987-4371-BFB7-DE3EC8B8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508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R2 기준 Random Forest 계열이 상대적으로 우세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383434-E209-40B9-A47D-184BF747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29000"/>
            <a:ext cx="51244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7a268ad7d4b17"/>
          <a:stretch xmlns:a="http://schemas.openxmlformats.org/drawingml/2006/main"/>
        </p:blipFill>
        <p:spPr>
          <a:xfrm xmlns:a="http://schemas.openxmlformats.org/drawingml/2006/main">
            <a:off x="7191788" y="3562350"/>
            <a:ext cx="3351974" cy="2000250"/>
          </a:xfrm>
          <a:prstGeom xmlns:a="http://schemas.openxmlformats.org/drawingml/2006/main" prst="rect">
            <a:avLst/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E89EA7-A27B-4BC8-ADDF-407B2B84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619750"/>
            <a:ext cx="478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관객 수 상단부는 예측 난도가 높다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0BF2F7-3546-421A-837C-0A9B4F40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35FA64-A35A-46A0-A195-507A3A7C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728954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25129E-6E75-4F0E-83B8-12FC223E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랭크 예측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EC8D0-E4BC-427A-846A-7795303F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성공도 랭크는 등급 간 경계가 겹쳐 macro F1이 낮았다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7BC19-F051-4610-9D60-7C2DAE23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83E11-CC30-465F-8BF9-7DC5F6D0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809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943D2-C2B1-4AA9-B201-40E15847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27E204-5A5E-4417-B168-B8034FA7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95450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최고 macro 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3FCDA-51EC-474C-8E7A-67467FA2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0.308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1BAEE-E477-4C46-B47D-B0A2453F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 / RF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676BE9-60B5-434E-904E-923D6ADB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524000"/>
            <a:ext cx="1809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46B75-4934-4625-9721-784F272C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52400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A8BED9-B626-4D21-AA4E-D70B89EE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95450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C4A10-5247-4409-907B-ABEFE653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94310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0.496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EA2847-70DB-4F33-98E2-3818C75A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514600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메타 / 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BEDB2-64CA-48A9-A1DD-4D254746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19250"/>
            <a:ext cx="3143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DD51A3-FEE7-4ACE-A98B-EB8FE4C4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9070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랭크 문제는 단순 흥행 여부보다 클래스 경계가 촘촘해 오분류 구조를 함께 봐야 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4E01A-3CF1-4D3B-926C-C1C4ABB2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4953000" cy="2552700"/>
          </a:xfrm>
          <a:prstGeom xmlns:a="http://schemas.openxmlformats.org/drawingml/2006/main" prst="roundRect">
            <a:avLst>
              <a:gd name="adj" fmla="val 4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5a8daf539418b"/>
          <a:stretch xmlns:a="http://schemas.openxmlformats.org/drawingml/2006/main"/>
        </p:blipFill>
        <p:spPr>
          <a:xfrm xmlns:a="http://schemas.openxmlformats.org/drawingml/2006/main">
            <a:off x="1220703" y="3390900"/>
            <a:ext cx="3730793" cy="20764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5EEEDE-894E-457F-8E7B-1E1C4060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461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랭크별 표본 수 분포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E96B67-6A0F-4120-B7D2-E4467B5F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28750"/>
            <a:ext cx="5486400" cy="438150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c53262afe4a04"/>
          <a:stretch xmlns:a="http://schemas.openxmlformats.org/drawingml/2006/main"/>
        </p:blipFill>
        <p:spPr>
          <a:xfrm xmlns:a="http://schemas.openxmlformats.org/drawingml/2006/main">
            <a:off x="6471251" y="1562100"/>
            <a:ext cx="4431098" cy="39052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E9A6FD-EF5E-4AD3-B682-C61D2C11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524500"/>
            <a:ext cx="514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인접 랭크 간 오분류가 핵심 패턴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AB7CD9-9504-4757-B18E-94410599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2FF57A-B1AA-447A-B4DF-D73A0BA8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935275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F3763A-9F44-4B40-A9F9-BEC45561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요인 해석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F9772-71B7-41C3-8B69-A9140CAF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성공 요인 신호는 메타데이터 쪽에서 더 선명하게 관찰됐다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2915B-C3A4-4B0F-891C-6581857E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C20CFE-D08B-4FD9-ABC6-B1058A8E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c27bd84944b75"/>
          <a:stretch xmlns:a="http://schemas.openxmlformats.org/drawingml/2006/main"/>
        </p:blipFill>
        <p:spPr>
          <a:xfrm xmlns:a="http://schemas.openxmlformats.org/drawingml/2006/main">
            <a:off x="1527008" y="1562100"/>
            <a:ext cx="3308684" cy="2095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0014BF-292A-4D6E-98DD-460FDE2E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Random Forest 기준 주요 변수 중요도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1A66E-877A-499B-84D0-890A23BB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28750"/>
            <a:ext cx="53721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37e9f4a48479d"/>
          <a:stretch xmlns:a="http://schemas.openxmlformats.org/drawingml/2006/main"/>
        </p:blipFill>
        <p:spPr>
          <a:xfrm xmlns:a="http://schemas.openxmlformats.org/drawingml/2006/main">
            <a:off x="6985861" y="1562100"/>
            <a:ext cx="3516178" cy="2095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C3F25E-0ED3-420C-B203-C80A6213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14750"/>
            <a:ext cx="502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출연진 빈도 기반 흥행 신호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A0BD5-5364-42AC-8F0B-6C89E5DF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5143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a9bad53a748bc"/>
          <a:stretch xmlns:a="http://schemas.openxmlformats.org/drawingml/2006/main"/>
        </p:blipFill>
        <p:spPr>
          <a:xfrm xmlns:a="http://schemas.openxmlformats.org/drawingml/2006/main">
            <a:off x="2248176" y="4476750"/>
            <a:ext cx="1866347" cy="11811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D713B8-9083-41B5-8FFF-D7B090AA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1500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제작비와 관객 수의 군집 구조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34746-CA11-40D3-97AC-F9180A24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81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8C18AD-A4E1-435F-A3A6-AB0D1674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148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포스터 저수준 특성은 일부 중요 변수에 포함되지만 단독 성능 개선은 제한적이다.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71CE0-AA93-4601-9D36-42EA2BCE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0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F44DD-E523-4035-B757-D5FF204D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4350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출연진, 제작비, 장르 같은 메타데이터 기반 신호가 해석 가능성이 높다.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21CA9B-331B-41B6-B2C2-AC010BFB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EB8884-9D8D-472C-8478-5636A984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369853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A4FEBD-D230-4646-BD0E-2D466F6C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추가 분석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E7929C-BE7A-43BE-9B6A-D88B0EE4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장르·개봉 시기·포스터는 보조 신호로 해석해야 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62DF6-60D9-4259-998C-AAA6875A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D5AE3D-905F-445D-B133-4AB9767D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3429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9771381ad409e"/>
          <a:stretch xmlns:a="http://schemas.openxmlformats.org/drawingml/2006/main"/>
        </p:blipFill>
        <p:spPr>
          <a:xfrm xmlns:a="http://schemas.openxmlformats.org/drawingml/2006/main">
            <a:off x="742950" y="1733222"/>
            <a:ext cx="3162300" cy="19628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95044C-E849-45F6-95D6-E24E0886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장르별 성공 랭크 분포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BDEC3-9C8D-451F-B201-66EE25A8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3429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1edf7921704791"/>
          <a:stretch xmlns:a="http://schemas.openxmlformats.org/drawingml/2006/main"/>
        </p:blipFill>
        <p:spPr>
          <a:xfrm xmlns:a="http://schemas.openxmlformats.org/drawingml/2006/main">
            <a:off x="4514850" y="1634598"/>
            <a:ext cx="3162300" cy="2160053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6A8D3F-7AF0-4497-89D4-72526DAD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24300"/>
            <a:ext cx="308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개봉 월과 성공 랭크 관계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24D38-C0DE-4A1F-ADF8-A1849813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28750"/>
            <a:ext cx="32766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d8f46fb194bc6"/>
          <a:stretch xmlns:a="http://schemas.openxmlformats.org/drawingml/2006/main"/>
        </p:blipFill>
        <p:spPr>
          <a:xfrm xmlns:a="http://schemas.openxmlformats.org/drawingml/2006/main">
            <a:off x="8286750" y="1811655"/>
            <a:ext cx="3009900" cy="180594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255B9-D995-4C2F-87D7-543C8F2C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2430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밝기·채도 등 포스터 저수준 특성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C9A4D-7704-46F2-ABC5-123EAD23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3276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3A4E3-0F55-4D17-B5F7-1A8DEF27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33950"/>
            <a:ext cx="289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분류 기준 모델은 RF가 안정적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91453D-3260-4872-AB55-B3E6E149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62500"/>
            <a:ext cx="3276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9525">
            <a:solidFill>
              <a:srgbClr val="CCFB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97F36F-ED9B-4977-AA8E-765A2EF1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933950"/>
            <a:ext cx="289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F766E"/>
                </a:solidFill>
                <a:latin typeface="Apple SD Gothic Neo"/>
                <a:ea typeface="Apple SD Gothic Neo"/>
                <a:cs typeface="Apple SD Gothic Neo"/>
              </a:rPr>
              <a:t>포스터는 해석 보조에는 유효하나 성능 개선은 제한적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A335BF-3FA6-4BBD-8314-5599BE82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62500"/>
            <a:ext cx="3276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FEE2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666E47-957F-42A9-9648-2429DA27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33950"/>
            <a:ext cx="289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불균형 데이터에서는 F1·Recall·ROC-AUC 동시 해석 필요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00BB72-EEAF-4674-84A7-3BFE4DE5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KOBIS/TMDB 데이터, 프로젝트 결과보고서(2026.06)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796933-1A06-4850-AE23-64226240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477512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2F4CA8-D8B0-4668-B607-C5263EC3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한계 및 개선 방향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0A8BF-ECBB-49DC-8202-19D647E8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다음 개선은 데이터 확장과 불균형 보정에 집중해야 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926EE-F6B9-4CA4-A167-A3976FEB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EC1D5-6906-4517-B669-B7320BC1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현재 한계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C742C-1461-4C99-9AAC-4BE69EA6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66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1E3A02-DA18-470D-869E-0A751C91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표본 수가 654편으로 제한적이고 일부 제목 매칭 오류 가능성이 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D3068-1F5A-410A-86BA-6CEB06B5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90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174FDA-B0DA-4BF3-9C29-A884204D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제작비 결측, 마케팅비, 예매량, SNS 반응 등 외부 변수가 빠져 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E47CD-E472-457A-AA9E-2C5D0152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14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FBAFF9-F1AB-4087-85FA-26FDEB37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관객 수 분포가 블록버스터에 치우쳐 회귀 예측의 설명력이 낮다.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9BA0A5-CF7F-4C06-8C0F-B8329568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504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D4ED8"/>
                </a:solidFill>
                <a:latin typeface="Apple SD Gothic Neo"/>
                <a:ea typeface="Apple SD Gothic Neo"/>
                <a:cs typeface="Apple SD Gothic Neo"/>
              </a:rPr>
              <a:t>개선 방향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520D28-9FB3-48F1-B057-5E64A8C4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66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0A2EA-F050-435D-82B2-6C124A1F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00250"/>
            <a:ext cx="4552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영화 코드 기반 매칭으로 KOBIS-TMDB 연결 품질을 높인다.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589CF6-00A7-4009-B4F9-AD94445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90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E048FF-F8E8-49B4-9D2E-08D542FB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4552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CLIP/CNN 임베딩으로 포스터 표현력을 확장한다.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58C72-F529-43AF-A41B-94530C53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14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B8CC5-8967-4EBF-9E2E-3F35DD81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48050"/>
            <a:ext cx="4552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교차검증, 클래스 불균형 보정, 임계값 조정으로 평가 안정성을 높인다.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903DF0-28BE-453C-984A-B0044CAC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8204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7AD123-F328-4952-AF3D-8F34209D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1032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334155"/>
                </a:solidFill>
                <a:latin typeface="Apple SD Gothic Neo"/>
                <a:ea typeface="Apple SD Gothic Neo"/>
                <a:cs typeface="Apple SD Gothic Neo"/>
              </a:rPr>
              <a:t>참고 자료: KOBIS 영화관입장권통합전산망, TMDB API, scikit-learn 공식 문서, Pillow 이미지 처리 라이브러리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E828A-9DDD-45E5-81C4-53BC4D02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출처: 프로젝트 결과보고서 및 outputs/metrics CSV, KOBIS/TMDB/scikit-learn/Pillow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FE4EB9-0FE7-4041-80F7-E33484AE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900723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2026-06-18T13:50:36.0290000Z</dcterms:created>
  <dcterms:modified xsi:type="dcterms:W3CDTF">2026-06-18T13:50:36.0290000Z</dcterms:modified>
</coreProperties>
</file>