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Random Forest</c:v>
                </c:pt>
                <c:pt idx="1">
                  <c:v>Logistic Regression</c:v>
                </c:pt>
                <c:pt idx="2">
                  <c:v>DNN MLP</c:v>
                </c:pt>
                <c:pt idx="3">
                  <c:v>Decision Tree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0.81699999999999995</c:v>
                </c:pt>
                <c:pt idx="1">
                  <c:v>0.68600000000000005</c:v>
                </c:pt>
                <c:pt idx="2">
                  <c:v>0.68300000000000005</c:v>
                </c:pt>
                <c:pt idx="3">
                  <c:v>0.63600000000000001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68-4DB7-9C34-2F9B1997B4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87480383"/>
        <c:axId val="1587464063"/>
      </c:barChart>
      <c:catAx>
        <c:axId val="1587480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87464063"/>
        <c:crosses val="autoZero"/>
        <c:auto val="1"/>
        <c:lblAlgn val="ctr"/>
        <c:lblOffset val="100"/>
        <c:noMultiLvlLbl val="0"/>
      </c:catAx>
      <c:valAx>
        <c:axId val="1587464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87480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5642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제목 텍스트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모서리가 둥근 직사각형"/>
          <p:cNvSpPr/>
          <p:nvPr/>
        </p:nvSpPr>
        <p:spPr>
          <a:xfrm>
            <a:off x="609600" y="533400"/>
            <a:ext cx="1771650" cy="2857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DATA MINING PROJECT"/>
          <p:cNvSpPr txBox="1"/>
          <p:nvPr/>
        </p:nvSpPr>
        <p:spPr>
          <a:xfrm>
            <a:off x="723900" y="590550"/>
            <a:ext cx="15430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DATA MINING PROJECT</a:t>
            </a:r>
          </a:p>
        </p:txBody>
      </p:sp>
      <p:sp>
        <p:nvSpPr>
          <p:cNvPr id="22" name="국내 영화 흥행 여부 예측…"/>
          <p:cNvSpPr txBox="1"/>
          <p:nvPr/>
        </p:nvSpPr>
        <p:spPr>
          <a:xfrm>
            <a:off x="609600" y="1219200"/>
            <a:ext cx="5905500" cy="1280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defRPr sz="40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국내 영화 흥행 여부 예측</a:t>
            </a:r>
          </a:p>
          <a:p>
            <a:pPr>
              <a:lnSpc>
                <a:spcPct val="110000"/>
              </a:lnSpc>
              <a:defRPr sz="40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및 성공 요인 분석</a:t>
            </a:r>
          </a:p>
        </p:txBody>
      </p:sp>
      <p:sp>
        <p:nvSpPr>
          <p:cNvPr id="23" name="영화 제목, 포스터, 메타데이터를 중심으로"/>
          <p:cNvSpPr txBox="1"/>
          <p:nvPr/>
        </p:nvSpPr>
        <p:spPr>
          <a:xfrm>
            <a:off x="647700" y="2914650"/>
            <a:ext cx="533400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영화 제목, 포스터, 메타데이터를 중심으로</a:t>
            </a:r>
          </a:p>
        </p:txBody>
      </p:sp>
      <p:sp>
        <p:nvSpPr>
          <p:cNvPr id="24" name="모서리가 둥근 직사각형"/>
          <p:cNvSpPr/>
          <p:nvPr/>
        </p:nvSpPr>
        <p:spPr>
          <a:xfrm>
            <a:off x="609600" y="3829050"/>
            <a:ext cx="15240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직사각형"/>
          <p:cNvSpPr/>
          <p:nvPr/>
        </p:nvSpPr>
        <p:spPr>
          <a:xfrm>
            <a:off x="609600" y="3829050"/>
            <a:ext cx="57150" cy="1238250"/>
          </a:xfrm>
          <a:prstGeom prst="rect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분석 대상"/>
          <p:cNvSpPr txBox="1"/>
          <p:nvPr/>
        </p:nvSpPr>
        <p:spPr>
          <a:xfrm>
            <a:off x="819150" y="4000500"/>
            <a:ext cx="11620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분석 대상</a:t>
            </a:r>
          </a:p>
        </p:txBody>
      </p:sp>
      <p:sp>
        <p:nvSpPr>
          <p:cNvPr id="27" name="654편"/>
          <p:cNvSpPr txBox="1"/>
          <p:nvPr/>
        </p:nvSpPr>
        <p:spPr>
          <a:xfrm>
            <a:off x="819150" y="4257675"/>
            <a:ext cx="116205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3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654편</a:t>
            </a:r>
          </a:p>
        </p:txBody>
      </p:sp>
      <p:sp>
        <p:nvSpPr>
          <p:cNvPr id="28" name="KOBIS + TMDB 매칭"/>
          <p:cNvSpPr txBox="1"/>
          <p:nvPr/>
        </p:nvSpPr>
        <p:spPr>
          <a:xfrm>
            <a:off x="819150" y="4819650"/>
            <a:ext cx="11620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KOBIS + TMDB 매칭</a:t>
            </a:r>
          </a:p>
        </p:txBody>
      </p:sp>
      <p:sp>
        <p:nvSpPr>
          <p:cNvPr id="29" name="모서리가 둥근 직사각형"/>
          <p:cNvSpPr/>
          <p:nvPr/>
        </p:nvSpPr>
        <p:spPr>
          <a:xfrm>
            <a:off x="2324100" y="3829050"/>
            <a:ext cx="180975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직사각형"/>
          <p:cNvSpPr/>
          <p:nvPr/>
        </p:nvSpPr>
        <p:spPr>
          <a:xfrm>
            <a:off x="2324100" y="3829050"/>
            <a:ext cx="57150" cy="123825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기간"/>
          <p:cNvSpPr txBox="1"/>
          <p:nvPr/>
        </p:nvSpPr>
        <p:spPr>
          <a:xfrm>
            <a:off x="2533650" y="4000500"/>
            <a:ext cx="14478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기간</a:t>
            </a:r>
          </a:p>
        </p:txBody>
      </p:sp>
      <p:sp>
        <p:nvSpPr>
          <p:cNvPr id="32" name="2003~2026"/>
          <p:cNvSpPr txBox="1"/>
          <p:nvPr/>
        </p:nvSpPr>
        <p:spPr>
          <a:xfrm>
            <a:off x="2533650" y="4257675"/>
            <a:ext cx="1447800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100">
                <a:solidFill>
                  <a:srgbClr val="0F766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2003~2026</a:t>
            </a:r>
          </a:p>
        </p:txBody>
      </p:sp>
      <p:sp>
        <p:nvSpPr>
          <p:cNvPr id="33" name="국내 개봉 영화"/>
          <p:cNvSpPr txBox="1"/>
          <p:nvPr/>
        </p:nvSpPr>
        <p:spPr>
          <a:xfrm>
            <a:off x="2533650" y="4819650"/>
            <a:ext cx="144780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국내 개봉 영화</a:t>
            </a:r>
          </a:p>
        </p:txBody>
      </p:sp>
      <p:sp>
        <p:nvSpPr>
          <p:cNvPr id="34" name="모서리가 둥근 직사각형"/>
          <p:cNvSpPr/>
          <p:nvPr/>
        </p:nvSpPr>
        <p:spPr>
          <a:xfrm>
            <a:off x="4324350" y="3829050"/>
            <a:ext cx="15240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5" name="직사각형"/>
          <p:cNvSpPr/>
          <p:nvPr/>
        </p:nvSpPr>
        <p:spPr>
          <a:xfrm>
            <a:off x="4324350" y="3829050"/>
            <a:ext cx="57150" cy="1238250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" name="기준"/>
          <p:cNvSpPr txBox="1"/>
          <p:nvPr/>
        </p:nvSpPr>
        <p:spPr>
          <a:xfrm>
            <a:off x="4533900" y="4000500"/>
            <a:ext cx="11620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기준</a:t>
            </a:r>
          </a:p>
        </p:txBody>
      </p:sp>
      <p:sp>
        <p:nvSpPr>
          <p:cNvPr id="37" name="300만+"/>
          <p:cNvSpPr txBox="1"/>
          <p:nvPr/>
        </p:nvSpPr>
        <p:spPr>
          <a:xfrm>
            <a:off x="4533900" y="4257675"/>
            <a:ext cx="1162050" cy="106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300">
                <a:solidFill>
                  <a:srgbClr val="D97706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300만+</a:t>
            </a:r>
          </a:p>
        </p:txBody>
      </p:sp>
      <p:sp>
        <p:nvSpPr>
          <p:cNvPr id="38" name="기본 흥행 기준"/>
          <p:cNvSpPr txBox="1"/>
          <p:nvPr/>
        </p:nvSpPr>
        <p:spPr>
          <a:xfrm>
            <a:off x="4533900" y="4819650"/>
            <a:ext cx="11620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기본 흥행 기준</a:t>
            </a:r>
          </a:p>
        </p:txBody>
      </p:sp>
      <p:sp>
        <p:nvSpPr>
          <p:cNvPr id="39" name="모서리가 둥근 직사각형"/>
          <p:cNvSpPr/>
          <p:nvPr/>
        </p:nvSpPr>
        <p:spPr>
          <a:xfrm>
            <a:off x="6572250" y="704850"/>
            <a:ext cx="4953000" cy="462915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40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2158760"/>
            <a:ext cx="4419600" cy="145463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분석 대상 영화 포스터 예시"/>
          <p:cNvSpPr txBox="1"/>
          <p:nvPr/>
        </p:nvSpPr>
        <p:spPr>
          <a:xfrm>
            <a:off x="6838950" y="4876800"/>
            <a:ext cx="44196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분석 대상 영화 포스터 예시</a:t>
            </a:r>
          </a:p>
        </p:txBody>
      </p:sp>
      <p:sp>
        <p:nvSpPr>
          <p:cNvPr id="42" name="출처: KOBIS/TMDB 데이터, 프로젝트 결과보고서(2026.06)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KOBIS/TMDB 데이터, 프로젝트 결과보고서(2026.06)</a:t>
            </a:r>
          </a:p>
        </p:txBody>
      </p:sp>
      <p:sp>
        <p:nvSpPr>
          <p:cNvPr id="43" name="01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01 / 16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발표 흐름"/>
          <p:cNvSpPr txBox="1"/>
          <p:nvPr/>
        </p:nvSpPr>
        <p:spPr>
          <a:xfrm>
            <a:off x="609600" y="361950"/>
            <a:ext cx="7239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발표 흐름</a:t>
            </a:r>
          </a:p>
        </p:txBody>
      </p:sp>
      <p:sp>
        <p:nvSpPr>
          <p:cNvPr id="46" name="발표는 데이터에서 결론까지 다섯 단계로 전개한다"/>
          <p:cNvSpPr txBox="1"/>
          <p:nvPr/>
        </p:nvSpPr>
        <p:spPr>
          <a:xfrm>
            <a:off x="609600" y="628650"/>
            <a:ext cx="97155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발표는 데이터에서 결론까지 다섯 단계로 전개한다</a:t>
            </a:r>
          </a:p>
        </p:txBody>
      </p:sp>
      <p:sp>
        <p:nvSpPr>
          <p:cNvPr id="47" name="선"/>
          <p:cNvSpPr/>
          <p:nvPr/>
        </p:nvSpPr>
        <p:spPr>
          <a:xfrm>
            <a:off x="609600" y="1219200"/>
            <a:ext cx="1066801" cy="0"/>
          </a:xfrm>
          <a:prstGeom prst="line">
            <a:avLst/>
          </a:prstGeom>
          <a:ln w="28575">
            <a:solidFill>
              <a:srgbClr val="1D4E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" name="모서리가 둥근 직사각형"/>
          <p:cNvSpPr/>
          <p:nvPr/>
        </p:nvSpPr>
        <p:spPr>
          <a:xfrm>
            <a:off x="876300" y="1600200"/>
            <a:ext cx="104394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49" name="원"/>
          <p:cNvSpPr/>
          <p:nvPr/>
        </p:nvSpPr>
        <p:spPr>
          <a:xfrm>
            <a:off x="1066800" y="1809750"/>
            <a:ext cx="361950" cy="361950"/>
          </a:xfrm>
          <a:prstGeom prst="ellipse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" name="01"/>
          <p:cNvSpPr txBox="1"/>
          <p:nvPr/>
        </p:nvSpPr>
        <p:spPr>
          <a:xfrm>
            <a:off x="1066800" y="1876425"/>
            <a:ext cx="36195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0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01</a:t>
            </a:r>
          </a:p>
        </p:txBody>
      </p:sp>
      <p:sp>
        <p:nvSpPr>
          <p:cNvPr id="51" name="문제 정의"/>
          <p:cNvSpPr txBox="1"/>
          <p:nvPr/>
        </p:nvSpPr>
        <p:spPr>
          <a:xfrm>
            <a:off x="1581150" y="1771650"/>
            <a:ext cx="954405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문제 정의</a:t>
            </a:r>
          </a:p>
        </p:txBody>
      </p:sp>
      <p:sp>
        <p:nvSpPr>
          <p:cNvPr id="52" name="흥행 예측을 어떤 라벨과 지표로 볼지 정리"/>
          <p:cNvSpPr txBox="1"/>
          <p:nvPr/>
        </p:nvSpPr>
        <p:spPr>
          <a:xfrm>
            <a:off x="1581150" y="2095500"/>
            <a:ext cx="95440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흥행 예측을 어떤 라벨과 지표로 볼지 정리</a:t>
            </a:r>
          </a:p>
        </p:txBody>
      </p:sp>
      <p:sp>
        <p:nvSpPr>
          <p:cNvPr id="53" name="모서리가 둥근 직사각형"/>
          <p:cNvSpPr/>
          <p:nvPr/>
        </p:nvSpPr>
        <p:spPr>
          <a:xfrm>
            <a:off x="876300" y="2438400"/>
            <a:ext cx="104394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4" name="원"/>
          <p:cNvSpPr/>
          <p:nvPr/>
        </p:nvSpPr>
        <p:spPr>
          <a:xfrm>
            <a:off x="1066800" y="2647950"/>
            <a:ext cx="361950" cy="361950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" name="02"/>
          <p:cNvSpPr txBox="1"/>
          <p:nvPr/>
        </p:nvSpPr>
        <p:spPr>
          <a:xfrm>
            <a:off x="1066800" y="2714625"/>
            <a:ext cx="36195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0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02</a:t>
            </a:r>
          </a:p>
        </p:txBody>
      </p:sp>
      <p:sp>
        <p:nvSpPr>
          <p:cNvPr id="56" name="데이터와 특성"/>
          <p:cNvSpPr txBox="1"/>
          <p:nvPr/>
        </p:nvSpPr>
        <p:spPr>
          <a:xfrm>
            <a:off x="1581150" y="2609850"/>
            <a:ext cx="954405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데이터와 특성</a:t>
            </a:r>
          </a:p>
        </p:txBody>
      </p:sp>
      <p:sp>
        <p:nvSpPr>
          <p:cNvPr id="57" name="KOBIS/TMDB 병합, 제목·포스터·메타데이터 설계"/>
          <p:cNvSpPr txBox="1"/>
          <p:nvPr/>
        </p:nvSpPr>
        <p:spPr>
          <a:xfrm>
            <a:off x="1581150" y="2933700"/>
            <a:ext cx="95440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KOBIS/TMDB 병합, 제목·포스터·메타데이터 설계</a:t>
            </a:r>
          </a:p>
        </p:txBody>
      </p:sp>
      <p:sp>
        <p:nvSpPr>
          <p:cNvPr id="58" name="모서리가 둥근 직사각형"/>
          <p:cNvSpPr/>
          <p:nvPr/>
        </p:nvSpPr>
        <p:spPr>
          <a:xfrm>
            <a:off x="876300" y="3276600"/>
            <a:ext cx="104394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9" name="원"/>
          <p:cNvSpPr/>
          <p:nvPr/>
        </p:nvSpPr>
        <p:spPr>
          <a:xfrm>
            <a:off x="1066800" y="3486150"/>
            <a:ext cx="361950" cy="361950"/>
          </a:xfrm>
          <a:prstGeom prst="ellipse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" name="03"/>
          <p:cNvSpPr txBox="1"/>
          <p:nvPr/>
        </p:nvSpPr>
        <p:spPr>
          <a:xfrm>
            <a:off x="1066800" y="3552825"/>
            <a:ext cx="36195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0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03</a:t>
            </a:r>
          </a:p>
        </p:txBody>
      </p:sp>
      <p:sp>
        <p:nvSpPr>
          <p:cNvPr id="61" name="모델 실험"/>
          <p:cNvSpPr txBox="1"/>
          <p:nvPr/>
        </p:nvSpPr>
        <p:spPr>
          <a:xfrm>
            <a:off x="1581150" y="3448050"/>
            <a:ext cx="954405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모델 실험</a:t>
            </a:r>
          </a:p>
        </p:txBody>
      </p:sp>
      <p:sp>
        <p:nvSpPr>
          <p:cNvPr id="62" name="분류·회귀·랭크 문제로 나누어 ablation study 수행"/>
          <p:cNvSpPr txBox="1"/>
          <p:nvPr/>
        </p:nvSpPr>
        <p:spPr>
          <a:xfrm>
            <a:off x="1581150" y="3771900"/>
            <a:ext cx="95440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분류·회귀·랭크 문제로 나누어 ablation study 수행</a:t>
            </a:r>
          </a:p>
        </p:txBody>
      </p:sp>
      <p:sp>
        <p:nvSpPr>
          <p:cNvPr id="63" name="모서리가 둥근 직사각형"/>
          <p:cNvSpPr/>
          <p:nvPr/>
        </p:nvSpPr>
        <p:spPr>
          <a:xfrm>
            <a:off x="876300" y="4114800"/>
            <a:ext cx="104394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64" name="원"/>
          <p:cNvSpPr/>
          <p:nvPr/>
        </p:nvSpPr>
        <p:spPr>
          <a:xfrm>
            <a:off x="1066800" y="4324350"/>
            <a:ext cx="361950" cy="361950"/>
          </a:xfrm>
          <a:prstGeom prst="ellipse">
            <a:avLst/>
          </a:prstGeom>
          <a:solidFill>
            <a:srgbClr val="6D28D9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5" name="04"/>
          <p:cNvSpPr txBox="1"/>
          <p:nvPr/>
        </p:nvSpPr>
        <p:spPr>
          <a:xfrm>
            <a:off x="1066800" y="4391025"/>
            <a:ext cx="36195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0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04</a:t>
            </a:r>
          </a:p>
        </p:txBody>
      </p:sp>
      <p:sp>
        <p:nvSpPr>
          <p:cNvPr id="66" name="결과 해석"/>
          <p:cNvSpPr txBox="1"/>
          <p:nvPr/>
        </p:nvSpPr>
        <p:spPr>
          <a:xfrm>
            <a:off x="1581150" y="4286250"/>
            <a:ext cx="954405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결과 해석</a:t>
            </a:r>
          </a:p>
        </p:txBody>
      </p:sp>
      <p:sp>
        <p:nvSpPr>
          <p:cNvPr id="67" name="성능 비교, 오분류 구조, 성공 요인 신호 해석"/>
          <p:cNvSpPr txBox="1"/>
          <p:nvPr/>
        </p:nvSpPr>
        <p:spPr>
          <a:xfrm>
            <a:off x="1581150" y="4610100"/>
            <a:ext cx="95440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성능 비교, 오분류 구조, 성공 요인 신호 해석</a:t>
            </a:r>
          </a:p>
        </p:txBody>
      </p:sp>
      <p:sp>
        <p:nvSpPr>
          <p:cNvPr id="68" name="모서리가 둥근 직사각형"/>
          <p:cNvSpPr/>
          <p:nvPr/>
        </p:nvSpPr>
        <p:spPr>
          <a:xfrm>
            <a:off x="876300" y="4953000"/>
            <a:ext cx="104394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69" name="원"/>
          <p:cNvSpPr/>
          <p:nvPr/>
        </p:nvSpPr>
        <p:spPr>
          <a:xfrm>
            <a:off x="1066800" y="5162550"/>
            <a:ext cx="361950" cy="361950"/>
          </a:xfrm>
          <a:prstGeom prst="ellipse">
            <a:avLst/>
          </a:prstGeom>
          <a:solidFill>
            <a:srgbClr val="DC262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0" name="05"/>
          <p:cNvSpPr txBox="1"/>
          <p:nvPr/>
        </p:nvSpPr>
        <p:spPr>
          <a:xfrm>
            <a:off x="1066800" y="5229225"/>
            <a:ext cx="36195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0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05</a:t>
            </a:r>
          </a:p>
        </p:txBody>
      </p:sp>
      <p:sp>
        <p:nvSpPr>
          <p:cNvPr id="71" name="한계와 개선"/>
          <p:cNvSpPr txBox="1"/>
          <p:nvPr/>
        </p:nvSpPr>
        <p:spPr>
          <a:xfrm>
            <a:off x="1581150" y="5124450"/>
            <a:ext cx="954405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한계와 개선</a:t>
            </a:r>
          </a:p>
        </p:txBody>
      </p:sp>
      <p:sp>
        <p:nvSpPr>
          <p:cNvPr id="72" name="데이터 확장, 불균형 보정, 임베딩 기반 개선 제안"/>
          <p:cNvSpPr txBox="1"/>
          <p:nvPr/>
        </p:nvSpPr>
        <p:spPr>
          <a:xfrm>
            <a:off x="1581150" y="5448300"/>
            <a:ext cx="95440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데이터 확장, 불균형 보정, 임베딩 기반 개선 제안</a:t>
            </a:r>
          </a:p>
        </p:txBody>
      </p:sp>
      <p:sp>
        <p:nvSpPr>
          <p:cNvPr id="73" name="출처: KOBIS/TMDB 데이터, 프로젝트 결과보고서(2026.06)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KOBIS/TMDB 데이터, 프로젝트 결과보고서(2026.06)</a:t>
            </a:r>
          </a:p>
        </p:txBody>
      </p:sp>
      <p:sp>
        <p:nvSpPr>
          <p:cNvPr id="74" name="02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02 / 16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프로젝트 질문"/>
          <p:cNvSpPr txBox="1"/>
          <p:nvPr/>
        </p:nvSpPr>
        <p:spPr>
          <a:xfrm>
            <a:off x="609600" y="361950"/>
            <a:ext cx="7239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프로젝트 질문</a:t>
            </a:r>
          </a:p>
        </p:txBody>
      </p:sp>
      <p:sp>
        <p:nvSpPr>
          <p:cNvPr id="77" name="핵심 질문은 개봉 전후 정보로 흥행 가능성을 설명할 수 있는가이다"/>
          <p:cNvSpPr txBox="1"/>
          <p:nvPr/>
        </p:nvSpPr>
        <p:spPr>
          <a:xfrm>
            <a:off x="609600" y="628650"/>
            <a:ext cx="97155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핵심 질문은 개봉 전후 정보로 흥행 가능성을 설명할 수 있는가이다</a:t>
            </a:r>
          </a:p>
        </p:txBody>
      </p:sp>
      <p:sp>
        <p:nvSpPr>
          <p:cNvPr id="78" name="선"/>
          <p:cNvSpPr/>
          <p:nvPr/>
        </p:nvSpPr>
        <p:spPr>
          <a:xfrm>
            <a:off x="609600" y="1219200"/>
            <a:ext cx="1066801" cy="0"/>
          </a:xfrm>
          <a:prstGeom prst="line">
            <a:avLst/>
          </a:prstGeom>
          <a:ln w="28575">
            <a:solidFill>
              <a:srgbClr val="1D4E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9" name="모서리가 둥근 직사각형"/>
          <p:cNvSpPr/>
          <p:nvPr/>
        </p:nvSpPr>
        <p:spPr>
          <a:xfrm>
            <a:off x="609600" y="1638300"/>
            <a:ext cx="4953000" cy="390525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80" name="예측 문제"/>
          <p:cNvSpPr txBox="1"/>
          <p:nvPr/>
        </p:nvSpPr>
        <p:spPr>
          <a:xfrm>
            <a:off x="914400" y="1943100"/>
            <a:ext cx="2095500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예측 문제</a:t>
            </a:r>
          </a:p>
        </p:txBody>
      </p:sp>
      <p:sp>
        <p:nvSpPr>
          <p:cNvPr id="81" name="원"/>
          <p:cNvSpPr/>
          <p:nvPr/>
        </p:nvSpPr>
        <p:spPr>
          <a:xfrm>
            <a:off x="990600" y="2495550"/>
            <a:ext cx="85726" cy="85726"/>
          </a:xfrm>
          <a:prstGeom prst="ellipse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2" name="영화 단위로 누적 관객 수를 기준화한다."/>
          <p:cNvSpPr txBox="1"/>
          <p:nvPr/>
        </p:nvSpPr>
        <p:spPr>
          <a:xfrm>
            <a:off x="1200150" y="2419350"/>
            <a:ext cx="388620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영화 단위로 누적 관객 수를 기준화한다.</a:t>
            </a:r>
          </a:p>
        </p:txBody>
      </p:sp>
      <p:sp>
        <p:nvSpPr>
          <p:cNvPr id="83" name="원"/>
          <p:cNvSpPr/>
          <p:nvPr/>
        </p:nvSpPr>
        <p:spPr>
          <a:xfrm>
            <a:off x="990600" y="3048000"/>
            <a:ext cx="85726" cy="85726"/>
          </a:xfrm>
          <a:prstGeom prst="ellipse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4" name="기본 분류 라벨은 300만 명 이상 여부로 둔다."/>
          <p:cNvSpPr txBox="1"/>
          <p:nvPr/>
        </p:nvSpPr>
        <p:spPr>
          <a:xfrm>
            <a:off x="1200150" y="2971800"/>
            <a:ext cx="388620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기본 분류 라벨은 300만 명 이상 여부로 둔다.</a:t>
            </a:r>
          </a:p>
        </p:txBody>
      </p:sp>
      <p:sp>
        <p:nvSpPr>
          <p:cNvPr id="85" name="원"/>
          <p:cNvSpPr/>
          <p:nvPr/>
        </p:nvSpPr>
        <p:spPr>
          <a:xfrm>
            <a:off x="990600" y="3600450"/>
            <a:ext cx="85726" cy="85726"/>
          </a:xfrm>
          <a:prstGeom prst="ellipse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6" name="회귀는 log 관객 수를 예측하고, 랭크는 성공도 등급을 예측한다."/>
          <p:cNvSpPr txBox="1"/>
          <p:nvPr/>
        </p:nvSpPr>
        <p:spPr>
          <a:xfrm>
            <a:off x="1200150" y="3524250"/>
            <a:ext cx="3886200" cy="42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회귀는 log 관객 수를 예측하고, 랭크는 성공도 등급을 예측한다.</a:t>
            </a:r>
          </a:p>
        </p:txBody>
      </p:sp>
      <p:sp>
        <p:nvSpPr>
          <p:cNvPr id="87" name="원"/>
          <p:cNvSpPr/>
          <p:nvPr/>
        </p:nvSpPr>
        <p:spPr>
          <a:xfrm>
            <a:off x="990600" y="4152900"/>
            <a:ext cx="85726" cy="85726"/>
          </a:xfrm>
          <a:prstGeom prst="ellipse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8" name="목표는 성능뿐 아니라 어떤 요인이 설명력을 가지는지 해석하는 것이다."/>
          <p:cNvSpPr txBox="1"/>
          <p:nvPr/>
        </p:nvSpPr>
        <p:spPr>
          <a:xfrm>
            <a:off x="1200150" y="4076700"/>
            <a:ext cx="3886200" cy="42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목표는 성능뿐 아니라 어떤 요인이 설명력을 가지는지 해석하는 것이다.</a:t>
            </a:r>
          </a:p>
        </p:txBody>
      </p:sp>
      <p:sp>
        <p:nvSpPr>
          <p:cNvPr id="89" name="모서리가 둥근 직사각형"/>
          <p:cNvSpPr/>
          <p:nvPr/>
        </p:nvSpPr>
        <p:spPr>
          <a:xfrm>
            <a:off x="6057900" y="1638300"/>
            <a:ext cx="5181600" cy="390525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90" name="분석 단위와 판단 기준"/>
          <p:cNvSpPr txBox="1"/>
          <p:nvPr/>
        </p:nvSpPr>
        <p:spPr>
          <a:xfrm>
            <a:off x="6400800" y="1943100"/>
            <a:ext cx="2857500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>
                <a:solidFill>
                  <a:srgbClr val="0F766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분석 단위와 판단 기준</a:t>
            </a:r>
          </a:p>
        </p:txBody>
      </p:sp>
      <p:sp>
        <p:nvSpPr>
          <p:cNvPr id="91" name="모서리가 둥근 직사각형"/>
          <p:cNvSpPr/>
          <p:nvPr/>
        </p:nvSpPr>
        <p:spPr>
          <a:xfrm>
            <a:off x="6419850" y="2438400"/>
            <a:ext cx="20955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92" name="직사각형"/>
          <p:cNvSpPr/>
          <p:nvPr/>
        </p:nvSpPr>
        <p:spPr>
          <a:xfrm>
            <a:off x="6419850" y="2438400"/>
            <a:ext cx="57150" cy="112395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93" name="기본 흥행 라벨"/>
          <p:cNvSpPr txBox="1"/>
          <p:nvPr/>
        </p:nvSpPr>
        <p:spPr>
          <a:xfrm>
            <a:off x="6629400" y="2609850"/>
            <a:ext cx="17335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기본 흥행 라벨</a:t>
            </a:r>
          </a:p>
        </p:txBody>
      </p:sp>
      <p:sp>
        <p:nvSpPr>
          <p:cNvPr id="94" name="300만+"/>
          <p:cNvSpPr txBox="1"/>
          <p:nvPr/>
        </p:nvSpPr>
        <p:spPr>
          <a:xfrm>
            <a:off x="6629400" y="2867025"/>
            <a:ext cx="173355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300">
                <a:solidFill>
                  <a:srgbClr val="0F766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300만+</a:t>
            </a:r>
          </a:p>
        </p:txBody>
      </p:sp>
      <p:sp>
        <p:nvSpPr>
          <p:cNvPr id="95" name="누적 관객 수 기준"/>
          <p:cNvSpPr txBox="1"/>
          <p:nvPr/>
        </p:nvSpPr>
        <p:spPr>
          <a:xfrm>
            <a:off x="6629400" y="3429000"/>
            <a:ext cx="17335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누적 관객 수 기준</a:t>
            </a:r>
          </a:p>
        </p:txBody>
      </p:sp>
      <p:sp>
        <p:nvSpPr>
          <p:cNvPr id="96" name="모서리가 둥근 직사각형"/>
          <p:cNvSpPr/>
          <p:nvPr/>
        </p:nvSpPr>
        <p:spPr>
          <a:xfrm>
            <a:off x="8782050" y="2438400"/>
            <a:ext cx="20955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97" name="직사각형"/>
          <p:cNvSpPr/>
          <p:nvPr/>
        </p:nvSpPr>
        <p:spPr>
          <a:xfrm>
            <a:off x="8782050" y="2438400"/>
            <a:ext cx="57150" cy="1123950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98" name="고흥행 참고"/>
          <p:cNvSpPr txBox="1"/>
          <p:nvPr/>
        </p:nvSpPr>
        <p:spPr>
          <a:xfrm>
            <a:off x="8991600" y="2609850"/>
            <a:ext cx="17335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고흥행 참고</a:t>
            </a:r>
          </a:p>
        </p:txBody>
      </p:sp>
      <p:sp>
        <p:nvSpPr>
          <p:cNvPr id="99" name="500만+"/>
          <p:cNvSpPr txBox="1"/>
          <p:nvPr/>
        </p:nvSpPr>
        <p:spPr>
          <a:xfrm>
            <a:off x="8991600" y="2867025"/>
            <a:ext cx="173355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300">
                <a:solidFill>
                  <a:srgbClr val="D97706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500만+</a:t>
            </a:r>
          </a:p>
        </p:txBody>
      </p:sp>
      <p:sp>
        <p:nvSpPr>
          <p:cNvPr id="100" name="배우/랭크 분석 참고"/>
          <p:cNvSpPr txBox="1"/>
          <p:nvPr/>
        </p:nvSpPr>
        <p:spPr>
          <a:xfrm>
            <a:off x="8991600" y="3429000"/>
            <a:ext cx="17335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배우/랭크 분석 참고</a:t>
            </a:r>
          </a:p>
        </p:txBody>
      </p:sp>
      <p:sp>
        <p:nvSpPr>
          <p:cNvPr id="101" name="모서리가 둥근 직사각형"/>
          <p:cNvSpPr/>
          <p:nvPr/>
        </p:nvSpPr>
        <p:spPr>
          <a:xfrm>
            <a:off x="6419850" y="3905250"/>
            <a:ext cx="4457700" cy="876300"/>
          </a:xfrm>
          <a:prstGeom prst="roundRect">
            <a:avLst>
              <a:gd name="adj" fmla="val 13043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2" name="흥행작 비중이 낮기 때문에 Accuracy보다 F1, Recall, ROC-AUC를 함께 봐야 한다."/>
          <p:cNvSpPr txBox="1"/>
          <p:nvPr/>
        </p:nvSpPr>
        <p:spPr>
          <a:xfrm>
            <a:off x="6610350" y="4143375"/>
            <a:ext cx="4076700" cy="400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1200">
                <a:solidFill>
                  <a:srgbClr val="DC2626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흥행작 비중이 낮기 때문에 Accuracy보다 F1, Recall, ROC-AUC를 함께 봐야 한다.</a:t>
            </a:r>
          </a:p>
        </p:txBody>
      </p:sp>
      <p:sp>
        <p:nvSpPr>
          <p:cNvPr id="103" name="출처: KOBIS/TMDB 데이터, 프로젝트 결과보고서(2026.06)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KOBIS/TMDB 데이터, 프로젝트 결과보고서(2026.06)</a:t>
            </a:r>
          </a:p>
        </p:txBody>
      </p:sp>
      <p:sp>
        <p:nvSpPr>
          <p:cNvPr id="104" name="03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03 / 16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데이터 구성"/>
          <p:cNvSpPr txBox="1"/>
          <p:nvPr/>
        </p:nvSpPr>
        <p:spPr>
          <a:xfrm>
            <a:off x="609600" y="361950"/>
            <a:ext cx="7239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데이터 구성</a:t>
            </a:r>
          </a:p>
        </p:txBody>
      </p:sp>
      <p:sp>
        <p:nvSpPr>
          <p:cNvPr id="107" name="데이터는 KOBIS 관객 수와 TMDB 메타데이터를 결합했다"/>
          <p:cNvSpPr txBox="1"/>
          <p:nvPr/>
        </p:nvSpPr>
        <p:spPr>
          <a:xfrm>
            <a:off x="609600" y="628650"/>
            <a:ext cx="97155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데이터는 KOBIS 관객 수와 TMDB 메타데이터를 결합했다</a:t>
            </a:r>
          </a:p>
        </p:txBody>
      </p:sp>
      <p:sp>
        <p:nvSpPr>
          <p:cNvPr id="108" name="선"/>
          <p:cNvSpPr/>
          <p:nvPr/>
        </p:nvSpPr>
        <p:spPr>
          <a:xfrm>
            <a:off x="609600" y="1219200"/>
            <a:ext cx="1066801" cy="0"/>
          </a:xfrm>
          <a:prstGeom prst="line">
            <a:avLst/>
          </a:prstGeom>
          <a:ln w="28575">
            <a:solidFill>
              <a:srgbClr val="1D4E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9" name="모서리가 둥근 직사각형"/>
          <p:cNvSpPr/>
          <p:nvPr/>
        </p:nvSpPr>
        <p:spPr>
          <a:xfrm>
            <a:off x="609600" y="1581150"/>
            <a:ext cx="17145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10" name="직사각형"/>
          <p:cNvSpPr/>
          <p:nvPr/>
        </p:nvSpPr>
        <p:spPr>
          <a:xfrm>
            <a:off x="609600" y="1581150"/>
            <a:ext cx="57150" cy="1238250"/>
          </a:xfrm>
          <a:prstGeom prst="rect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1" name="전체 영화 수"/>
          <p:cNvSpPr txBox="1"/>
          <p:nvPr/>
        </p:nvSpPr>
        <p:spPr>
          <a:xfrm>
            <a:off x="819150" y="1752600"/>
            <a:ext cx="13525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전체 영화 수</a:t>
            </a:r>
          </a:p>
        </p:txBody>
      </p:sp>
      <p:sp>
        <p:nvSpPr>
          <p:cNvPr id="112" name="654편"/>
          <p:cNvSpPr txBox="1"/>
          <p:nvPr/>
        </p:nvSpPr>
        <p:spPr>
          <a:xfrm>
            <a:off x="819150" y="2009775"/>
            <a:ext cx="135255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3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654편</a:t>
            </a:r>
          </a:p>
        </p:txBody>
      </p:sp>
      <p:sp>
        <p:nvSpPr>
          <p:cNvPr id="113" name="포스터 특성도 동일 수량"/>
          <p:cNvSpPr txBox="1"/>
          <p:nvPr/>
        </p:nvSpPr>
        <p:spPr>
          <a:xfrm>
            <a:off x="819150" y="2571750"/>
            <a:ext cx="13525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포스터 특성도 동일 수량</a:t>
            </a:r>
          </a:p>
        </p:txBody>
      </p:sp>
      <p:sp>
        <p:nvSpPr>
          <p:cNvPr id="114" name="모서리가 둥근 직사각형"/>
          <p:cNvSpPr/>
          <p:nvPr/>
        </p:nvSpPr>
        <p:spPr>
          <a:xfrm>
            <a:off x="2514600" y="1581150"/>
            <a:ext cx="17145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15" name="직사각형"/>
          <p:cNvSpPr/>
          <p:nvPr/>
        </p:nvSpPr>
        <p:spPr>
          <a:xfrm>
            <a:off x="2514600" y="1581150"/>
            <a:ext cx="57150" cy="123825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6" name="개봉 연도"/>
          <p:cNvSpPr txBox="1"/>
          <p:nvPr/>
        </p:nvSpPr>
        <p:spPr>
          <a:xfrm>
            <a:off x="2724150" y="1752600"/>
            <a:ext cx="13525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개봉 연도</a:t>
            </a:r>
          </a:p>
        </p:txBody>
      </p:sp>
      <p:sp>
        <p:nvSpPr>
          <p:cNvPr id="117" name="2003~2026"/>
          <p:cNvSpPr txBox="1"/>
          <p:nvPr/>
        </p:nvSpPr>
        <p:spPr>
          <a:xfrm>
            <a:off x="2724150" y="2009775"/>
            <a:ext cx="1352550" cy="666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100">
                <a:solidFill>
                  <a:srgbClr val="0F766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2003~2026</a:t>
            </a:r>
          </a:p>
        </p:txBody>
      </p:sp>
      <p:sp>
        <p:nvSpPr>
          <p:cNvPr id="118" name="국내 개봉 기준"/>
          <p:cNvSpPr txBox="1"/>
          <p:nvPr/>
        </p:nvSpPr>
        <p:spPr>
          <a:xfrm>
            <a:off x="2724150" y="2571750"/>
            <a:ext cx="13525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국내 개봉 기준</a:t>
            </a:r>
          </a:p>
        </p:txBody>
      </p:sp>
      <p:sp>
        <p:nvSpPr>
          <p:cNvPr id="119" name="모서리가 둥근 직사각형"/>
          <p:cNvSpPr/>
          <p:nvPr/>
        </p:nvSpPr>
        <p:spPr>
          <a:xfrm>
            <a:off x="4419600" y="1581150"/>
            <a:ext cx="17145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20" name="직사각형"/>
          <p:cNvSpPr/>
          <p:nvPr/>
        </p:nvSpPr>
        <p:spPr>
          <a:xfrm>
            <a:off x="4419600" y="1581150"/>
            <a:ext cx="57150" cy="1238250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1" name="평균 관객 수"/>
          <p:cNvSpPr txBox="1"/>
          <p:nvPr/>
        </p:nvSpPr>
        <p:spPr>
          <a:xfrm>
            <a:off x="4629150" y="1752600"/>
            <a:ext cx="13525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평균 관객 수</a:t>
            </a:r>
          </a:p>
        </p:txBody>
      </p:sp>
      <p:sp>
        <p:nvSpPr>
          <p:cNvPr id="122" name="210.9만"/>
          <p:cNvSpPr txBox="1"/>
          <p:nvPr/>
        </p:nvSpPr>
        <p:spPr>
          <a:xfrm>
            <a:off x="4629150" y="2009775"/>
            <a:ext cx="135255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D97706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210.9만</a:t>
            </a:r>
          </a:p>
        </p:txBody>
      </p:sp>
      <p:sp>
        <p:nvSpPr>
          <p:cNvPr id="123" name="중앙값 123.4만 명"/>
          <p:cNvSpPr txBox="1"/>
          <p:nvPr/>
        </p:nvSpPr>
        <p:spPr>
          <a:xfrm>
            <a:off x="4629150" y="2571750"/>
            <a:ext cx="13525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중앙값 123.4만 명</a:t>
            </a:r>
          </a:p>
        </p:txBody>
      </p:sp>
      <p:sp>
        <p:nvSpPr>
          <p:cNvPr id="124" name="모서리가 둥근 직사각형"/>
          <p:cNvSpPr/>
          <p:nvPr/>
        </p:nvSpPr>
        <p:spPr>
          <a:xfrm>
            <a:off x="6324600" y="1581150"/>
            <a:ext cx="17145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25" name="직사각형"/>
          <p:cNvSpPr/>
          <p:nvPr/>
        </p:nvSpPr>
        <p:spPr>
          <a:xfrm>
            <a:off x="6324600" y="1581150"/>
            <a:ext cx="57150" cy="1238250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6" name="300만 이상"/>
          <p:cNvSpPr txBox="1"/>
          <p:nvPr/>
        </p:nvSpPr>
        <p:spPr>
          <a:xfrm>
            <a:off x="6534150" y="1752600"/>
            <a:ext cx="13525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300만 이상</a:t>
            </a:r>
          </a:p>
        </p:txBody>
      </p:sp>
      <p:sp>
        <p:nvSpPr>
          <p:cNvPr id="127" name="134편"/>
          <p:cNvSpPr txBox="1"/>
          <p:nvPr/>
        </p:nvSpPr>
        <p:spPr>
          <a:xfrm>
            <a:off x="6534150" y="2009775"/>
            <a:ext cx="135255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300">
                <a:solidFill>
                  <a:srgbClr val="DC2626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134편</a:t>
            </a:r>
          </a:p>
        </p:txBody>
      </p:sp>
      <p:sp>
        <p:nvSpPr>
          <p:cNvPr id="128" name="기본 흥행작"/>
          <p:cNvSpPr txBox="1"/>
          <p:nvPr/>
        </p:nvSpPr>
        <p:spPr>
          <a:xfrm>
            <a:off x="6534150" y="2571750"/>
            <a:ext cx="13525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기본 흥행작</a:t>
            </a:r>
          </a:p>
        </p:txBody>
      </p:sp>
      <p:sp>
        <p:nvSpPr>
          <p:cNvPr id="129" name="모서리가 둥근 직사각형"/>
          <p:cNvSpPr/>
          <p:nvPr/>
        </p:nvSpPr>
        <p:spPr>
          <a:xfrm>
            <a:off x="609600" y="3429000"/>
            <a:ext cx="106680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30" name="데이터 결합 구조"/>
          <p:cNvSpPr txBox="1"/>
          <p:nvPr/>
        </p:nvSpPr>
        <p:spPr>
          <a:xfrm>
            <a:off x="914400" y="3714750"/>
            <a:ext cx="228600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데이터 결합 구조</a:t>
            </a:r>
          </a:p>
        </p:txBody>
      </p:sp>
      <p:sp>
        <p:nvSpPr>
          <p:cNvPr id="131" name="모서리가 둥근 직사각형"/>
          <p:cNvSpPr/>
          <p:nvPr/>
        </p:nvSpPr>
        <p:spPr>
          <a:xfrm>
            <a:off x="1123950" y="41719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DBEAFE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2" name="KOBIS"/>
          <p:cNvSpPr txBox="1"/>
          <p:nvPr/>
        </p:nvSpPr>
        <p:spPr>
          <a:xfrm>
            <a:off x="1295400" y="4305300"/>
            <a:ext cx="1466850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2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KOBIS</a:t>
            </a:r>
          </a:p>
        </p:txBody>
      </p:sp>
      <p:sp>
        <p:nvSpPr>
          <p:cNvPr id="133" name="박스오피스 관객 수…"/>
          <p:cNvSpPr txBox="1"/>
          <p:nvPr/>
        </p:nvSpPr>
        <p:spPr>
          <a:xfrm>
            <a:off x="1295400" y="4552950"/>
            <a:ext cx="1466850" cy="293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0000"/>
              </a:lnSpc>
              <a:defRPr sz="9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박스오피스 관객 수</a:t>
            </a:r>
          </a:p>
          <a:p>
            <a:pPr algn="ctr">
              <a:lnSpc>
                <a:spcPct val="110000"/>
              </a:lnSpc>
              <a:defRPr sz="9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개봉 연도·제목</a:t>
            </a:r>
          </a:p>
        </p:txBody>
      </p:sp>
      <p:sp>
        <p:nvSpPr>
          <p:cNvPr id="134" name="화살표"/>
          <p:cNvSpPr/>
          <p:nvPr/>
        </p:nvSpPr>
        <p:spPr>
          <a:xfrm>
            <a:off x="3076575" y="4400550"/>
            <a:ext cx="36195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5" name="모서리가 둥근 직사각형"/>
          <p:cNvSpPr/>
          <p:nvPr/>
        </p:nvSpPr>
        <p:spPr>
          <a:xfrm>
            <a:off x="3600450" y="41719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CCFBF1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6" name="제목 매핑"/>
          <p:cNvSpPr txBox="1"/>
          <p:nvPr/>
        </p:nvSpPr>
        <p:spPr>
          <a:xfrm>
            <a:off x="3771900" y="4305300"/>
            <a:ext cx="1466850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200">
                <a:solidFill>
                  <a:srgbClr val="0F766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제목 매핑</a:t>
            </a:r>
          </a:p>
        </p:txBody>
      </p:sp>
      <p:sp>
        <p:nvSpPr>
          <p:cNvPr id="137" name="KOBIS 제목과…"/>
          <p:cNvSpPr txBox="1"/>
          <p:nvPr/>
        </p:nvSpPr>
        <p:spPr>
          <a:xfrm>
            <a:off x="3771900" y="4552950"/>
            <a:ext cx="1466850" cy="293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0000"/>
              </a:lnSpc>
              <a:defRPr sz="9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KOBIS 제목과</a:t>
            </a:r>
          </a:p>
          <a:p>
            <a:pPr algn="ctr">
              <a:lnSpc>
                <a:spcPct val="110000"/>
              </a:lnSpc>
              <a:defRPr sz="9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TMDB 제목 병합</a:t>
            </a:r>
          </a:p>
        </p:txBody>
      </p:sp>
      <p:sp>
        <p:nvSpPr>
          <p:cNvPr id="138" name="화살표"/>
          <p:cNvSpPr/>
          <p:nvPr/>
        </p:nvSpPr>
        <p:spPr>
          <a:xfrm>
            <a:off x="5553075" y="4400550"/>
            <a:ext cx="36195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9" name="모서리가 둥근 직사각형"/>
          <p:cNvSpPr/>
          <p:nvPr/>
        </p:nvSpPr>
        <p:spPr>
          <a:xfrm>
            <a:off x="6076950" y="41719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FEF3C7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0" name="TMDB"/>
          <p:cNvSpPr txBox="1"/>
          <p:nvPr/>
        </p:nvSpPr>
        <p:spPr>
          <a:xfrm>
            <a:off x="6248400" y="4305300"/>
            <a:ext cx="1466850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200">
                <a:solidFill>
                  <a:srgbClr val="D97706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TMDB</a:t>
            </a:r>
          </a:p>
        </p:txBody>
      </p:sp>
      <p:sp>
        <p:nvSpPr>
          <p:cNvPr id="141" name="장르·런타임·제작비…"/>
          <p:cNvSpPr txBox="1"/>
          <p:nvPr/>
        </p:nvSpPr>
        <p:spPr>
          <a:xfrm>
            <a:off x="6248400" y="4552950"/>
            <a:ext cx="1466850" cy="293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0000"/>
              </a:lnSpc>
              <a:defRPr sz="9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장르·런타임·제작비</a:t>
            </a:r>
          </a:p>
          <a:p>
            <a:pPr algn="ctr">
              <a:lnSpc>
                <a:spcPct val="110000"/>
              </a:lnSpc>
              <a:defRPr sz="9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포스터·출연진</a:t>
            </a:r>
          </a:p>
        </p:txBody>
      </p:sp>
      <p:sp>
        <p:nvSpPr>
          <p:cNvPr id="142" name="화살표"/>
          <p:cNvSpPr/>
          <p:nvPr/>
        </p:nvSpPr>
        <p:spPr>
          <a:xfrm>
            <a:off x="8029575" y="4400550"/>
            <a:ext cx="36195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3" name="모서리가 둥근 직사각형"/>
          <p:cNvSpPr/>
          <p:nvPr/>
        </p:nvSpPr>
        <p:spPr>
          <a:xfrm>
            <a:off x="8553450" y="41719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EDE9FE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4" name="분석 테이블"/>
          <p:cNvSpPr txBox="1"/>
          <p:nvPr/>
        </p:nvSpPr>
        <p:spPr>
          <a:xfrm>
            <a:off x="8724900" y="4305300"/>
            <a:ext cx="1466850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200">
                <a:solidFill>
                  <a:srgbClr val="6D28D9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분석 테이블</a:t>
            </a:r>
          </a:p>
        </p:txBody>
      </p:sp>
      <p:sp>
        <p:nvSpPr>
          <p:cNvPr id="145" name="모델 학습용…"/>
          <p:cNvSpPr txBox="1"/>
          <p:nvPr/>
        </p:nvSpPr>
        <p:spPr>
          <a:xfrm>
            <a:off x="8724900" y="4552950"/>
            <a:ext cx="1466850" cy="293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0000"/>
              </a:lnSpc>
              <a:defRPr sz="9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모델 학습용</a:t>
            </a:r>
          </a:p>
          <a:p>
            <a:pPr algn="ctr">
              <a:lnSpc>
                <a:spcPct val="110000"/>
              </a:lnSpc>
              <a:defRPr sz="9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특성 행렬 구성</a:t>
            </a:r>
          </a:p>
        </p:txBody>
      </p:sp>
      <p:sp>
        <p:nvSpPr>
          <p:cNvPr id="146" name="출처: KOBIS/TMDB 데이터, 프로젝트 결과보고서(2026.06)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KOBIS/TMDB 데이터, 프로젝트 결과보고서(2026.06)</a:t>
            </a:r>
          </a:p>
        </p:txBody>
      </p:sp>
      <p:sp>
        <p:nvSpPr>
          <p:cNvPr id="147" name="04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04 / 16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데이터 분포"/>
          <p:cNvSpPr txBox="1"/>
          <p:nvPr/>
        </p:nvSpPr>
        <p:spPr>
          <a:xfrm>
            <a:off x="609600" y="361950"/>
            <a:ext cx="7239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데이터 분포</a:t>
            </a:r>
          </a:p>
        </p:txBody>
      </p:sp>
      <p:sp>
        <p:nvSpPr>
          <p:cNvPr id="150" name="관객 수 분포는 긴 꼬리를 가지며 흥행작 클래스가 작다"/>
          <p:cNvSpPr txBox="1"/>
          <p:nvPr/>
        </p:nvSpPr>
        <p:spPr>
          <a:xfrm>
            <a:off x="609600" y="628650"/>
            <a:ext cx="97155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관객 수 분포는 긴 꼬리를 가지며 흥행작 클래스가 작다</a:t>
            </a:r>
          </a:p>
        </p:txBody>
      </p:sp>
      <p:sp>
        <p:nvSpPr>
          <p:cNvPr id="151" name="선"/>
          <p:cNvSpPr/>
          <p:nvPr/>
        </p:nvSpPr>
        <p:spPr>
          <a:xfrm>
            <a:off x="609600" y="1219200"/>
            <a:ext cx="1066801" cy="0"/>
          </a:xfrm>
          <a:prstGeom prst="line">
            <a:avLst/>
          </a:prstGeom>
          <a:ln w="28575">
            <a:solidFill>
              <a:srgbClr val="1D4E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2" name="모서리가 둥근 직사각형"/>
          <p:cNvSpPr/>
          <p:nvPr/>
        </p:nvSpPr>
        <p:spPr>
          <a:xfrm>
            <a:off x="609600" y="1543050"/>
            <a:ext cx="5143500" cy="352425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153" name="image2.png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91260"/>
            <a:ext cx="4838700" cy="2703979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누적 관객 수 분포"/>
          <p:cNvSpPr txBox="1"/>
          <p:nvPr/>
        </p:nvSpPr>
        <p:spPr>
          <a:xfrm>
            <a:off x="781050" y="4800600"/>
            <a:ext cx="48006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누적 관객 수 분포</a:t>
            </a:r>
          </a:p>
        </p:txBody>
      </p:sp>
      <p:sp>
        <p:nvSpPr>
          <p:cNvPr id="155" name="모서리가 둥근 직사각형"/>
          <p:cNvSpPr/>
          <p:nvPr/>
        </p:nvSpPr>
        <p:spPr>
          <a:xfrm>
            <a:off x="6096000" y="1543050"/>
            <a:ext cx="5143500" cy="352425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156" name="image3.png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750" y="1695450"/>
            <a:ext cx="4826000" cy="2895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기준별 흥행작 비율"/>
          <p:cNvSpPr txBox="1"/>
          <p:nvPr/>
        </p:nvSpPr>
        <p:spPr>
          <a:xfrm>
            <a:off x="6267450" y="4800600"/>
            <a:ext cx="48006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기준별 흥행작 비율</a:t>
            </a:r>
          </a:p>
        </p:txBody>
      </p:sp>
      <p:sp>
        <p:nvSpPr>
          <p:cNvPr id="158" name="모서리가 둥근 직사각형"/>
          <p:cNvSpPr/>
          <p:nvPr/>
        </p:nvSpPr>
        <p:spPr>
          <a:xfrm>
            <a:off x="838200" y="5391150"/>
            <a:ext cx="3143250" cy="514350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9" name="300만 기준 양성 클래스: 134편"/>
          <p:cNvSpPr txBox="1"/>
          <p:nvPr/>
        </p:nvSpPr>
        <p:spPr>
          <a:xfrm>
            <a:off x="1028700" y="5553074"/>
            <a:ext cx="276225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1200">
                <a:solidFill>
                  <a:srgbClr val="DC2626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300만 기준 양성 클래스: 134편</a:t>
            </a:r>
          </a:p>
        </p:txBody>
      </p:sp>
      <p:sp>
        <p:nvSpPr>
          <p:cNvPr id="160" name="모서리가 둥근 직사각형"/>
          <p:cNvSpPr/>
          <p:nvPr/>
        </p:nvSpPr>
        <p:spPr>
          <a:xfrm>
            <a:off x="4514850" y="5391150"/>
            <a:ext cx="3143250" cy="514350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1" name="500만 기준은 72편으로 더 희소"/>
          <p:cNvSpPr txBox="1"/>
          <p:nvPr/>
        </p:nvSpPr>
        <p:spPr>
          <a:xfrm>
            <a:off x="4705350" y="5553074"/>
            <a:ext cx="276225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1200">
                <a:solidFill>
                  <a:srgbClr val="D97706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500만 기준은 72편으로 더 희소</a:t>
            </a:r>
          </a:p>
        </p:txBody>
      </p:sp>
      <p:sp>
        <p:nvSpPr>
          <p:cNvPr id="162" name="모서리가 둥근 직사각형"/>
          <p:cNvSpPr/>
          <p:nvPr/>
        </p:nvSpPr>
        <p:spPr>
          <a:xfrm>
            <a:off x="8191500" y="5391150"/>
            <a:ext cx="2819400" cy="51435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3" name="불균형 해석이 필수"/>
          <p:cNvSpPr txBox="1"/>
          <p:nvPr/>
        </p:nvSpPr>
        <p:spPr>
          <a:xfrm>
            <a:off x="8382000" y="5553074"/>
            <a:ext cx="24384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12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불균형 해석이 필수</a:t>
            </a:r>
          </a:p>
        </p:txBody>
      </p:sp>
      <p:sp>
        <p:nvSpPr>
          <p:cNvPr id="164" name="출처: KOBIS/TMDB 데이터, 프로젝트 결과보고서(2026.06)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KOBIS/TMDB 데이터, 프로젝트 결과보고서(2026.06)</a:t>
            </a:r>
          </a:p>
        </p:txBody>
      </p:sp>
      <p:sp>
        <p:nvSpPr>
          <p:cNvPr id="165" name="05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05 / 16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특성 설계"/>
          <p:cNvSpPr txBox="1"/>
          <p:nvPr/>
        </p:nvSpPr>
        <p:spPr>
          <a:xfrm>
            <a:off x="609600" y="361950"/>
            <a:ext cx="7239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특성 설계</a:t>
            </a:r>
          </a:p>
        </p:txBody>
      </p:sp>
      <p:sp>
        <p:nvSpPr>
          <p:cNvPr id="168" name="특성은 메타데이터, 제목, 포스터를 분리해 설계했다"/>
          <p:cNvSpPr txBox="1"/>
          <p:nvPr/>
        </p:nvSpPr>
        <p:spPr>
          <a:xfrm>
            <a:off x="609600" y="628650"/>
            <a:ext cx="97155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특성은 메타데이터, 제목, 포스터를 분리해 설계했다</a:t>
            </a:r>
          </a:p>
        </p:txBody>
      </p:sp>
      <p:sp>
        <p:nvSpPr>
          <p:cNvPr id="169" name="선"/>
          <p:cNvSpPr/>
          <p:nvPr/>
        </p:nvSpPr>
        <p:spPr>
          <a:xfrm>
            <a:off x="609600" y="1219200"/>
            <a:ext cx="1066801" cy="0"/>
          </a:xfrm>
          <a:prstGeom prst="line">
            <a:avLst/>
          </a:prstGeom>
          <a:ln w="28575">
            <a:solidFill>
              <a:srgbClr val="1D4E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0" name="모서리가 둥근 직사각형"/>
          <p:cNvSpPr/>
          <p:nvPr/>
        </p:nvSpPr>
        <p:spPr>
          <a:xfrm>
            <a:off x="609600" y="1562100"/>
            <a:ext cx="3333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71" name="원"/>
          <p:cNvSpPr/>
          <p:nvPr/>
        </p:nvSpPr>
        <p:spPr>
          <a:xfrm>
            <a:off x="800100" y="1771650"/>
            <a:ext cx="361950" cy="361950"/>
          </a:xfrm>
          <a:prstGeom prst="ellipse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2" name="1"/>
          <p:cNvSpPr txBox="1"/>
          <p:nvPr/>
        </p:nvSpPr>
        <p:spPr>
          <a:xfrm>
            <a:off x="800100" y="1838325"/>
            <a:ext cx="36195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0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1</a:t>
            </a:r>
          </a:p>
        </p:txBody>
      </p:sp>
      <p:sp>
        <p:nvSpPr>
          <p:cNvPr id="173" name="메타데이터"/>
          <p:cNvSpPr txBox="1"/>
          <p:nvPr/>
        </p:nvSpPr>
        <p:spPr>
          <a:xfrm>
            <a:off x="1314450" y="1733550"/>
            <a:ext cx="243840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메타데이터</a:t>
            </a:r>
          </a:p>
        </p:txBody>
      </p:sp>
      <p:sp>
        <p:nvSpPr>
          <p:cNvPr id="174" name="런타임, 제작비, 개봉 연도·월, 계절, 장르 원-핫, 감독·출연진·제작사 빈도"/>
          <p:cNvSpPr txBox="1"/>
          <p:nvPr/>
        </p:nvSpPr>
        <p:spPr>
          <a:xfrm>
            <a:off x="1314450" y="2057400"/>
            <a:ext cx="2438400" cy="346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런타임, 제작비, 개봉 연도·월, 계절, 장르 원-핫, 감독·출연진·제작사 빈도</a:t>
            </a:r>
          </a:p>
        </p:txBody>
      </p:sp>
      <p:sp>
        <p:nvSpPr>
          <p:cNvPr id="175" name="모서리가 둥근 직사각형"/>
          <p:cNvSpPr/>
          <p:nvPr/>
        </p:nvSpPr>
        <p:spPr>
          <a:xfrm>
            <a:off x="4419600" y="1562100"/>
            <a:ext cx="3333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76" name="원"/>
          <p:cNvSpPr/>
          <p:nvPr/>
        </p:nvSpPr>
        <p:spPr>
          <a:xfrm>
            <a:off x="4610100" y="1771650"/>
            <a:ext cx="361950" cy="361950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7" name="2"/>
          <p:cNvSpPr txBox="1"/>
          <p:nvPr/>
        </p:nvSpPr>
        <p:spPr>
          <a:xfrm>
            <a:off x="4610100" y="1838325"/>
            <a:ext cx="36195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0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2</a:t>
            </a:r>
          </a:p>
        </p:txBody>
      </p:sp>
      <p:sp>
        <p:nvSpPr>
          <p:cNvPr id="178" name="제목 특성"/>
          <p:cNvSpPr txBox="1"/>
          <p:nvPr/>
        </p:nvSpPr>
        <p:spPr>
          <a:xfrm>
            <a:off x="5124450" y="1733550"/>
            <a:ext cx="243840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제목 특성</a:t>
            </a:r>
          </a:p>
        </p:txBody>
      </p:sp>
      <p:sp>
        <p:nvSpPr>
          <p:cNvPr id="179" name="제목 길이, 단어 수, 숫자·영어·특수문자 포함 여부, 장르성 키워드"/>
          <p:cNvSpPr txBox="1"/>
          <p:nvPr/>
        </p:nvSpPr>
        <p:spPr>
          <a:xfrm>
            <a:off x="5124450" y="2057400"/>
            <a:ext cx="2438400" cy="346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제목 길이, 단어 수, 숫자·영어·특수문자 포함 여부, 장르성 키워드</a:t>
            </a:r>
          </a:p>
        </p:txBody>
      </p:sp>
      <p:sp>
        <p:nvSpPr>
          <p:cNvPr id="180" name="모서리가 둥근 직사각형"/>
          <p:cNvSpPr/>
          <p:nvPr/>
        </p:nvSpPr>
        <p:spPr>
          <a:xfrm>
            <a:off x="8229600" y="1562100"/>
            <a:ext cx="3333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81" name="원"/>
          <p:cNvSpPr/>
          <p:nvPr/>
        </p:nvSpPr>
        <p:spPr>
          <a:xfrm>
            <a:off x="8420100" y="1771650"/>
            <a:ext cx="361950" cy="361950"/>
          </a:xfrm>
          <a:prstGeom prst="ellipse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2" name="3"/>
          <p:cNvSpPr txBox="1"/>
          <p:nvPr/>
        </p:nvSpPr>
        <p:spPr>
          <a:xfrm>
            <a:off x="8420100" y="1838325"/>
            <a:ext cx="36195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0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3</a:t>
            </a:r>
          </a:p>
        </p:txBody>
      </p:sp>
      <p:sp>
        <p:nvSpPr>
          <p:cNvPr id="183" name="포스터 특성"/>
          <p:cNvSpPr txBox="1"/>
          <p:nvPr/>
        </p:nvSpPr>
        <p:spPr>
          <a:xfrm>
            <a:off x="8934450" y="1733550"/>
            <a:ext cx="243840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포스터 특성</a:t>
            </a:r>
          </a:p>
        </p:txBody>
      </p:sp>
      <p:sp>
        <p:nvSpPr>
          <p:cNvPr id="184" name="평균 밝기, 평균 채도, RGB 평균, 대비, 에지 밀도 등 저수준 시각 특성"/>
          <p:cNvSpPr txBox="1"/>
          <p:nvPr/>
        </p:nvSpPr>
        <p:spPr>
          <a:xfrm>
            <a:off x="8934450" y="2057400"/>
            <a:ext cx="2438400" cy="346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평균 밝기, 평균 채도, RGB 평균, 대비, 에지 밀도 등 저수준 시각 특성</a:t>
            </a:r>
          </a:p>
        </p:txBody>
      </p:sp>
      <p:sp>
        <p:nvSpPr>
          <p:cNvPr id="185" name="모서리가 둥근 직사각형"/>
          <p:cNvSpPr/>
          <p:nvPr/>
        </p:nvSpPr>
        <p:spPr>
          <a:xfrm>
            <a:off x="838200" y="3105150"/>
            <a:ext cx="10515600" cy="264795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186" name="image4.png" descr="image4.png"/>
          <p:cNvPicPr>
            <a:picLocks noChangeAspect="1"/>
          </p:cNvPicPr>
          <p:nvPr/>
        </p:nvPicPr>
        <p:blipFill>
          <a:blip r:embed="rId2"/>
          <a:srcRect b="43948"/>
          <a:stretch>
            <a:fillRect/>
          </a:stretch>
        </p:blipFill>
        <p:spPr>
          <a:xfrm>
            <a:off x="2251623" y="3257550"/>
            <a:ext cx="7669704" cy="2149488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수집, 매핑, 특성 추출, 모델 학습, 평가·해석 흐름"/>
          <p:cNvSpPr txBox="1"/>
          <p:nvPr/>
        </p:nvSpPr>
        <p:spPr>
          <a:xfrm>
            <a:off x="1009650" y="5486400"/>
            <a:ext cx="101727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수집, 매핑, 특성 추출, 모델 학습, 평가·해석 흐름</a:t>
            </a:r>
          </a:p>
        </p:txBody>
      </p:sp>
      <p:sp>
        <p:nvSpPr>
          <p:cNvPr id="188" name="출처: KOBIS/TMDB 데이터, 프로젝트 결과보고서(2026.06)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KOBIS/TMDB 데이터, 프로젝트 결과보고서(2026.06)</a:t>
            </a:r>
          </a:p>
        </p:txBody>
      </p:sp>
      <p:sp>
        <p:nvSpPr>
          <p:cNvPr id="189" name="06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06 / 16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모델 설계"/>
          <p:cNvSpPr txBox="1"/>
          <p:nvPr/>
        </p:nvSpPr>
        <p:spPr>
          <a:xfrm>
            <a:off x="609600" y="361950"/>
            <a:ext cx="7239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모델 설계</a:t>
            </a:r>
          </a:p>
        </p:txBody>
      </p:sp>
      <p:sp>
        <p:nvSpPr>
          <p:cNvPr id="192" name="실험은 문제 유형과 특성 조합을 나눠 비교했다"/>
          <p:cNvSpPr txBox="1"/>
          <p:nvPr/>
        </p:nvSpPr>
        <p:spPr>
          <a:xfrm>
            <a:off x="609600" y="628650"/>
            <a:ext cx="97155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실험은 문제 유형과 특성 조합을 나눠 비교했다</a:t>
            </a:r>
          </a:p>
        </p:txBody>
      </p:sp>
      <p:sp>
        <p:nvSpPr>
          <p:cNvPr id="193" name="선"/>
          <p:cNvSpPr/>
          <p:nvPr/>
        </p:nvSpPr>
        <p:spPr>
          <a:xfrm>
            <a:off x="609600" y="1219200"/>
            <a:ext cx="1066801" cy="0"/>
          </a:xfrm>
          <a:prstGeom prst="line">
            <a:avLst/>
          </a:prstGeom>
          <a:ln w="28575">
            <a:solidFill>
              <a:srgbClr val="1D4E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94" name="모서리가 둥근 직사각형"/>
          <p:cNvSpPr/>
          <p:nvPr/>
        </p:nvSpPr>
        <p:spPr>
          <a:xfrm>
            <a:off x="609600" y="1581150"/>
            <a:ext cx="5219700" cy="403860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95" name="문제 유형"/>
          <p:cNvSpPr txBox="1"/>
          <p:nvPr/>
        </p:nvSpPr>
        <p:spPr>
          <a:xfrm>
            <a:off x="914400" y="1847850"/>
            <a:ext cx="171450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문제 유형</a:t>
            </a:r>
          </a:p>
        </p:txBody>
      </p:sp>
      <p:sp>
        <p:nvSpPr>
          <p:cNvPr id="196" name="모서리가 둥근 직사각형"/>
          <p:cNvSpPr/>
          <p:nvPr/>
        </p:nvSpPr>
        <p:spPr>
          <a:xfrm>
            <a:off x="914400" y="2362200"/>
            <a:ext cx="46101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97" name="원"/>
          <p:cNvSpPr/>
          <p:nvPr/>
        </p:nvSpPr>
        <p:spPr>
          <a:xfrm>
            <a:off x="1104900" y="2571750"/>
            <a:ext cx="361950" cy="361950"/>
          </a:xfrm>
          <a:prstGeom prst="ellipse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98" name="1"/>
          <p:cNvSpPr txBox="1"/>
          <p:nvPr/>
        </p:nvSpPr>
        <p:spPr>
          <a:xfrm>
            <a:off x="1104900" y="2638425"/>
            <a:ext cx="36195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0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1</a:t>
            </a:r>
          </a:p>
        </p:txBody>
      </p:sp>
      <p:sp>
        <p:nvSpPr>
          <p:cNvPr id="199" name="분류"/>
          <p:cNvSpPr txBox="1"/>
          <p:nvPr/>
        </p:nvSpPr>
        <p:spPr>
          <a:xfrm>
            <a:off x="1619250" y="2533650"/>
            <a:ext cx="371475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분류</a:t>
            </a:r>
          </a:p>
        </p:txBody>
      </p:sp>
      <p:sp>
        <p:nvSpPr>
          <p:cNvPr id="200" name="300만 이상 흥행 여부…"/>
          <p:cNvSpPr txBox="1"/>
          <p:nvPr/>
        </p:nvSpPr>
        <p:spPr>
          <a:xfrm>
            <a:off x="1619250" y="2857500"/>
            <a:ext cx="3714750" cy="346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300만 이상 흥행 여부</a:t>
            </a:r>
          </a:p>
          <a:p>
            <a: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Logistic / Decision Tree / RF / DNN MLP</a:t>
            </a:r>
          </a:p>
        </p:txBody>
      </p:sp>
      <p:sp>
        <p:nvSpPr>
          <p:cNvPr id="201" name="모서리가 둥근 직사각형"/>
          <p:cNvSpPr/>
          <p:nvPr/>
        </p:nvSpPr>
        <p:spPr>
          <a:xfrm>
            <a:off x="914400" y="3333750"/>
            <a:ext cx="46101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2" name="원"/>
          <p:cNvSpPr/>
          <p:nvPr/>
        </p:nvSpPr>
        <p:spPr>
          <a:xfrm>
            <a:off x="1104900" y="3543300"/>
            <a:ext cx="361950" cy="361950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3" name="2"/>
          <p:cNvSpPr txBox="1"/>
          <p:nvPr/>
        </p:nvSpPr>
        <p:spPr>
          <a:xfrm>
            <a:off x="1104900" y="3609975"/>
            <a:ext cx="36195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0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2</a:t>
            </a:r>
          </a:p>
        </p:txBody>
      </p:sp>
      <p:sp>
        <p:nvSpPr>
          <p:cNvPr id="204" name="회귀"/>
          <p:cNvSpPr txBox="1"/>
          <p:nvPr/>
        </p:nvSpPr>
        <p:spPr>
          <a:xfrm>
            <a:off x="1619250" y="3505200"/>
            <a:ext cx="371475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회귀</a:t>
            </a:r>
          </a:p>
        </p:txBody>
      </p:sp>
      <p:sp>
        <p:nvSpPr>
          <p:cNvPr id="205" name="log 관객 수 예측…"/>
          <p:cNvSpPr txBox="1"/>
          <p:nvPr/>
        </p:nvSpPr>
        <p:spPr>
          <a:xfrm>
            <a:off x="1619250" y="3829050"/>
            <a:ext cx="3714750" cy="346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log 관객 수 예측</a:t>
            </a:r>
          </a:p>
          <a:p>
            <a: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Linear / Ridge / Lasso / RF Regressor</a:t>
            </a:r>
          </a:p>
        </p:txBody>
      </p:sp>
      <p:sp>
        <p:nvSpPr>
          <p:cNvPr id="206" name="모서리가 둥근 직사각형"/>
          <p:cNvSpPr/>
          <p:nvPr/>
        </p:nvSpPr>
        <p:spPr>
          <a:xfrm>
            <a:off x="914400" y="4305300"/>
            <a:ext cx="46101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7" name="원"/>
          <p:cNvSpPr/>
          <p:nvPr/>
        </p:nvSpPr>
        <p:spPr>
          <a:xfrm>
            <a:off x="1104900" y="4514850"/>
            <a:ext cx="361950" cy="361950"/>
          </a:xfrm>
          <a:prstGeom prst="ellipse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8" name="3"/>
          <p:cNvSpPr txBox="1"/>
          <p:nvPr/>
        </p:nvSpPr>
        <p:spPr>
          <a:xfrm>
            <a:off x="1104900" y="4581525"/>
            <a:ext cx="36195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0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3</a:t>
            </a:r>
          </a:p>
        </p:txBody>
      </p:sp>
      <p:sp>
        <p:nvSpPr>
          <p:cNvPr id="209" name="랭크"/>
          <p:cNvSpPr txBox="1"/>
          <p:nvPr/>
        </p:nvSpPr>
        <p:spPr>
          <a:xfrm>
            <a:off x="1619250" y="4476750"/>
            <a:ext cx="371475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랭크</a:t>
            </a:r>
          </a:p>
        </p:txBody>
      </p:sp>
      <p:sp>
        <p:nvSpPr>
          <p:cNvPr id="210" name="성공도 등급 분류…"/>
          <p:cNvSpPr txBox="1"/>
          <p:nvPr/>
        </p:nvSpPr>
        <p:spPr>
          <a:xfrm>
            <a:off x="1619250" y="4800600"/>
            <a:ext cx="3714750" cy="346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성공도 등급 분류</a:t>
            </a:r>
          </a:p>
          <a:p>
            <a: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D-C-B-A-S 직접 분류와 보조 전략</a:t>
            </a:r>
          </a:p>
        </p:txBody>
      </p:sp>
      <p:sp>
        <p:nvSpPr>
          <p:cNvPr id="211" name="모서리가 둥근 직사각형"/>
          <p:cNvSpPr/>
          <p:nvPr/>
        </p:nvSpPr>
        <p:spPr>
          <a:xfrm>
            <a:off x="6286500" y="1581150"/>
            <a:ext cx="5295900" cy="403860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2" name="입력 특성 조합과 지표"/>
          <p:cNvSpPr txBox="1"/>
          <p:nvPr/>
        </p:nvSpPr>
        <p:spPr>
          <a:xfrm>
            <a:off x="6591300" y="1847850"/>
            <a:ext cx="247650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입력 특성 조합과 지표</a:t>
            </a:r>
          </a:p>
        </p:txBody>
      </p:sp>
      <p:sp>
        <p:nvSpPr>
          <p:cNvPr id="213" name="모서리가 둥근 직사각형"/>
          <p:cNvSpPr/>
          <p:nvPr/>
        </p:nvSpPr>
        <p:spPr>
          <a:xfrm>
            <a:off x="6591300" y="2324100"/>
            <a:ext cx="1562100" cy="2857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4" name="metadata"/>
          <p:cNvSpPr txBox="1"/>
          <p:nvPr/>
        </p:nvSpPr>
        <p:spPr>
          <a:xfrm>
            <a:off x="6705600" y="2381250"/>
            <a:ext cx="13335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metadata</a:t>
            </a:r>
          </a:p>
        </p:txBody>
      </p:sp>
      <p:sp>
        <p:nvSpPr>
          <p:cNvPr id="215" name="메타데이터만 사용"/>
          <p:cNvSpPr txBox="1"/>
          <p:nvPr/>
        </p:nvSpPr>
        <p:spPr>
          <a:xfrm>
            <a:off x="8420100" y="2381250"/>
            <a:ext cx="247650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메타데이터만 사용</a:t>
            </a:r>
          </a:p>
        </p:txBody>
      </p:sp>
      <p:sp>
        <p:nvSpPr>
          <p:cNvPr id="216" name="모서리가 둥근 직사각형"/>
          <p:cNvSpPr/>
          <p:nvPr/>
        </p:nvSpPr>
        <p:spPr>
          <a:xfrm>
            <a:off x="6591300" y="2838450"/>
            <a:ext cx="1562100" cy="28575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solidFill>
              <a:srgbClr val="EEF2F7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7" name="metadata_title"/>
          <p:cNvSpPr txBox="1"/>
          <p:nvPr/>
        </p:nvSpPr>
        <p:spPr>
          <a:xfrm>
            <a:off x="6705600" y="2895600"/>
            <a:ext cx="13335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900">
                <a:solidFill>
                  <a:srgbClr val="334155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metadata_title</a:t>
            </a:r>
          </a:p>
        </p:txBody>
      </p:sp>
      <p:sp>
        <p:nvSpPr>
          <p:cNvPr id="218" name="메타데이터 + 제목 특성"/>
          <p:cNvSpPr txBox="1"/>
          <p:nvPr/>
        </p:nvSpPr>
        <p:spPr>
          <a:xfrm>
            <a:off x="8420100" y="2895600"/>
            <a:ext cx="247650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메타데이터 + 제목 특성</a:t>
            </a:r>
          </a:p>
        </p:txBody>
      </p:sp>
      <p:sp>
        <p:nvSpPr>
          <p:cNvPr id="219" name="모서리가 둥근 직사각형"/>
          <p:cNvSpPr/>
          <p:nvPr/>
        </p:nvSpPr>
        <p:spPr>
          <a:xfrm>
            <a:off x="6591300" y="3352800"/>
            <a:ext cx="1562100" cy="28575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solidFill>
              <a:srgbClr val="EEF2F7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0" name="metadata_poster"/>
          <p:cNvSpPr txBox="1"/>
          <p:nvPr/>
        </p:nvSpPr>
        <p:spPr>
          <a:xfrm>
            <a:off x="6705600" y="3409950"/>
            <a:ext cx="13335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900">
                <a:solidFill>
                  <a:srgbClr val="334155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metadata_poster</a:t>
            </a:r>
          </a:p>
        </p:txBody>
      </p:sp>
      <p:sp>
        <p:nvSpPr>
          <p:cNvPr id="221" name="메타데이터 + 포스터 특성"/>
          <p:cNvSpPr txBox="1"/>
          <p:nvPr/>
        </p:nvSpPr>
        <p:spPr>
          <a:xfrm>
            <a:off x="8420100" y="3409950"/>
            <a:ext cx="247650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메타데이터 + 포스터 특성</a:t>
            </a:r>
          </a:p>
        </p:txBody>
      </p:sp>
      <p:sp>
        <p:nvSpPr>
          <p:cNvPr id="222" name="모서리가 둥근 직사각형"/>
          <p:cNvSpPr/>
          <p:nvPr/>
        </p:nvSpPr>
        <p:spPr>
          <a:xfrm>
            <a:off x="6591300" y="3867150"/>
            <a:ext cx="1562100" cy="28575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solidFill>
              <a:srgbClr val="EEF2F7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3" name="all"/>
          <p:cNvSpPr txBox="1"/>
          <p:nvPr/>
        </p:nvSpPr>
        <p:spPr>
          <a:xfrm>
            <a:off x="6705600" y="3924300"/>
            <a:ext cx="13335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900">
                <a:solidFill>
                  <a:srgbClr val="334155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all</a:t>
            </a:r>
          </a:p>
        </p:txBody>
      </p:sp>
      <p:sp>
        <p:nvSpPr>
          <p:cNvPr id="224" name="전체 특성 사용"/>
          <p:cNvSpPr txBox="1"/>
          <p:nvPr/>
        </p:nvSpPr>
        <p:spPr>
          <a:xfrm>
            <a:off x="8420100" y="3924300"/>
            <a:ext cx="247650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전체 특성 사용</a:t>
            </a:r>
          </a:p>
        </p:txBody>
      </p:sp>
      <p:sp>
        <p:nvSpPr>
          <p:cNvPr id="225" name="선"/>
          <p:cNvSpPr/>
          <p:nvPr/>
        </p:nvSpPr>
        <p:spPr>
          <a:xfrm>
            <a:off x="6591300" y="4572000"/>
            <a:ext cx="4381501" cy="0"/>
          </a:xfrm>
          <a:prstGeom prst="line">
            <a:avLst/>
          </a:prstGeom>
          <a:ln>
            <a:solidFill>
              <a:srgbClr val="D8DEE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6" name="평가 지표"/>
          <p:cNvSpPr txBox="1"/>
          <p:nvPr/>
        </p:nvSpPr>
        <p:spPr>
          <a:xfrm>
            <a:off x="6591300" y="4781550"/>
            <a:ext cx="1047750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평가 지표</a:t>
            </a:r>
          </a:p>
        </p:txBody>
      </p:sp>
      <p:sp>
        <p:nvSpPr>
          <p:cNvPr id="227" name="Accuracy, F1, Recall, ROC-AUC, RMSE, R2를 함께 보고 불균형 효과를 해석했다."/>
          <p:cNvSpPr txBox="1"/>
          <p:nvPr/>
        </p:nvSpPr>
        <p:spPr>
          <a:xfrm>
            <a:off x="7734300" y="4781550"/>
            <a:ext cx="3143250" cy="346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Accuracy, F1, Recall, ROC-AUC, RMSE, R2를 함께 보고 불균형 효과를 해석했다.</a:t>
            </a:r>
          </a:p>
        </p:txBody>
      </p:sp>
      <p:sp>
        <p:nvSpPr>
          <p:cNvPr id="228" name="출처: KOBIS/TMDB 데이터, 프로젝트 결과보고서(2026.06)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KOBIS/TMDB 데이터, 프로젝트 결과보고서(2026.06)</a:t>
            </a:r>
          </a:p>
        </p:txBody>
      </p:sp>
      <p:sp>
        <p:nvSpPr>
          <p:cNvPr id="229" name="07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07 / 16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분류 결과"/>
          <p:cNvSpPr txBox="1"/>
          <p:nvPr/>
        </p:nvSpPr>
        <p:spPr>
          <a:xfrm>
            <a:off x="609600" y="361950"/>
            <a:ext cx="7239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rPr dirty="0" err="1"/>
              <a:t>분류</a:t>
            </a:r>
            <a:r>
              <a:rPr dirty="0"/>
              <a:t> </a:t>
            </a:r>
            <a:r>
              <a:rPr dirty="0" err="1"/>
              <a:t>결과</a:t>
            </a:r>
            <a:endParaRPr dirty="0"/>
          </a:p>
        </p:txBody>
      </p:sp>
      <p:sp>
        <p:nvSpPr>
          <p:cNvPr id="232" name="분류에서는 Random Forest가 가장 안정적인 기준 모델이었다"/>
          <p:cNvSpPr txBox="1"/>
          <p:nvPr/>
        </p:nvSpPr>
        <p:spPr>
          <a:xfrm>
            <a:off x="609600" y="628650"/>
            <a:ext cx="9715500" cy="398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rPr lang="ko-KR" altLang="ko-KR" dirty="0"/>
              <a:t>분류 모델 비교 결과 </a:t>
            </a:r>
            <a:r>
              <a:rPr lang="ko-KR" altLang="ko-KR" dirty="0" err="1"/>
              <a:t>Random</a:t>
            </a:r>
            <a:r>
              <a:rPr lang="ko-KR" altLang="ko-KR" dirty="0"/>
              <a:t> </a:t>
            </a:r>
            <a:r>
              <a:rPr lang="ko-KR" altLang="ko-KR" dirty="0" err="1"/>
              <a:t>Forest가</a:t>
            </a:r>
            <a:r>
              <a:rPr lang="ko-KR" altLang="ko-KR" dirty="0"/>
              <a:t> 가장 안정적인 성능을 보였다</a:t>
            </a:r>
            <a:endParaRPr dirty="0"/>
          </a:p>
        </p:txBody>
      </p:sp>
      <p:sp>
        <p:nvSpPr>
          <p:cNvPr id="233" name="선"/>
          <p:cNvSpPr/>
          <p:nvPr/>
        </p:nvSpPr>
        <p:spPr>
          <a:xfrm>
            <a:off x="609600" y="1219200"/>
            <a:ext cx="1066801" cy="0"/>
          </a:xfrm>
          <a:prstGeom prst="line">
            <a:avLst/>
          </a:prstGeom>
          <a:ln w="28575">
            <a:solidFill>
              <a:srgbClr val="1D4E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34" name="모서리가 둥근 직사각형"/>
          <p:cNvSpPr/>
          <p:nvPr/>
        </p:nvSpPr>
        <p:spPr>
          <a:xfrm>
            <a:off x="609600" y="1504950"/>
            <a:ext cx="17145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35" name="직사각형"/>
          <p:cNvSpPr/>
          <p:nvPr/>
        </p:nvSpPr>
        <p:spPr>
          <a:xfrm>
            <a:off x="609600" y="1504950"/>
            <a:ext cx="57150" cy="1257300"/>
          </a:xfrm>
          <a:prstGeom prst="rect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36" name="최고 ROC-AUC"/>
          <p:cNvSpPr txBox="1"/>
          <p:nvPr/>
        </p:nvSpPr>
        <p:spPr>
          <a:xfrm>
            <a:off x="819150" y="1676400"/>
            <a:ext cx="13525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최고 ROC-AUC</a:t>
            </a:r>
          </a:p>
        </p:txBody>
      </p:sp>
      <p:sp>
        <p:nvSpPr>
          <p:cNvPr id="237" name="0.819"/>
          <p:cNvSpPr txBox="1"/>
          <p:nvPr/>
        </p:nvSpPr>
        <p:spPr>
          <a:xfrm>
            <a:off x="819150" y="1933575"/>
            <a:ext cx="135255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3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0.819</a:t>
            </a:r>
          </a:p>
        </p:txBody>
      </p:sp>
      <p:sp>
        <p:nvSpPr>
          <p:cNvPr id="238" name="메타+제목 / RF"/>
          <p:cNvSpPr txBox="1"/>
          <p:nvPr/>
        </p:nvSpPr>
        <p:spPr>
          <a:xfrm>
            <a:off x="819150" y="2495550"/>
            <a:ext cx="13525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메타+제목 / RF</a:t>
            </a:r>
          </a:p>
        </p:txBody>
      </p:sp>
      <p:sp>
        <p:nvSpPr>
          <p:cNvPr id="239" name="모서리가 둥근 직사각형"/>
          <p:cNvSpPr/>
          <p:nvPr/>
        </p:nvSpPr>
        <p:spPr>
          <a:xfrm>
            <a:off x="2514600" y="1504950"/>
            <a:ext cx="17145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0" name="직사각형"/>
          <p:cNvSpPr/>
          <p:nvPr/>
        </p:nvSpPr>
        <p:spPr>
          <a:xfrm>
            <a:off x="2514600" y="1504950"/>
            <a:ext cx="57150" cy="12573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1" name="Accuracy"/>
          <p:cNvSpPr txBox="1"/>
          <p:nvPr/>
        </p:nvSpPr>
        <p:spPr>
          <a:xfrm>
            <a:off x="2724150" y="1676400"/>
            <a:ext cx="13525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Accuracy</a:t>
            </a:r>
          </a:p>
        </p:txBody>
      </p:sp>
      <p:sp>
        <p:nvSpPr>
          <p:cNvPr id="242" name="0.824"/>
          <p:cNvSpPr txBox="1"/>
          <p:nvPr/>
        </p:nvSpPr>
        <p:spPr>
          <a:xfrm>
            <a:off x="2724150" y="1933575"/>
            <a:ext cx="135255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300">
                <a:solidFill>
                  <a:srgbClr val="0F766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0.824</a:t>
            </a:r>
          </a:p>
        </p:txBody>
      </p:sp>
      <p:sp>
        <p:nvSpPr>
          <p:cNvPr id="243" name="메타+제목 / RF"/>
          <p:cNvSpPr txBox="1"/>
          <p:nvPr/>
        </p:nvSpPr>
        <p:spPr>
          <a:xfrm>
            <a:off x="2724150" y="2495550"/>
            <a:ext cx="13525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메타+제목 / RF</a:t>
            </a:r>
          </a:p>
        </p:txBody>
      </p:sp>
      <p:sp>
        <p:nvSpPr>
          <p:cNvPr id="244" name="모서리가 둥근 직사각형"/>
          <p:cNvSpPr/>
          <p:nvPr/>
        </p:nvSpPr>
        <p:spPr>
          <a:xfrm>
            <a:off x="4419600" y="1504950"/>
            <a:ext cx="17145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5" name="직사각형"/>
          <p:cNvSpPr/>
          <p:nvPr/>
        </p:nvSpPr>
        <p:spPr>
          <a:xfrm>
            <a:off x="4419600" y="1504950"/>
            <a:ext cx="57150" cy="1257300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6" name="F1"/>
          <p:cNvSpPr txBox="1"/>
          <p:nvPr/>
        </p:nvSpPr>
        <p:spPr>
          <a:xfrm>
            <a:off x="4629150" y="1676400"/>
            <a:ext cx="13525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F1</a:t>
            </a:r>
          </a:p>
        </p:txBody>
      </p:sp>
      <p:sp>
        <p:nvSpPr>
          <p:cNvPr id="247" name="0.511"/>
          <p:cNvSpPr txBox="1"/>
          <p:nvPr/>
        </p:nvSpPr>
        <p:spPr>
          <a:xfrm>
            <a:off x="4629150" y="1933575"/>
            <a:ext cx="135255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300">
                <a:solidFill>
                  <a:srgbClr val="D97706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rPr dirty="0"/>
              <a:t>0.511</a:t>
            </a:r>
          </a:p>
        </p:txBody>
      </p:sp>
      <p:sp>
        <p:nvSpPr>
          <p:cNvPr id="248" name="메타+제목 / RF"/>
          <p:cNvSpPr txBox="1"/>
          <p:nvPr/>
        </p:nvSpPr>
        <p:spPr>
          <a:xfrm>
            <a:off x="4629150" y="2495550"/>
            <a:ext cx="13525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메타+제목 / RF</a:t>
            </a:r>
          </a:p>
        </p:txBody>
      </p:sp>
      <p:sp>
        <p:nvSpPr>
          <p:cNvPr id="249" name="모서리가 둥근 직사각형"/>
          <p:cNvSpPr/>
          <p:nvPr/>
        </p:nvSpPr>
        <p:spPr>
          <a:xfrm>
            <a:off x="6324600" y="1504950"/>
            <a:ext cx="17145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50" name="직사각형"/>
          <p:cNvSpPr/>
          <p:nvPr/>
        </p:nvSpPr>
        <p:spPr>
          <a:xfrm>
            <a:off x="6324600" y="1504950"/>
            <a:ext cx="57150" cy="1257300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1" name="최고 F1"/>
          <p:cNvSpPr txBox="1"/>
          <p:nvPr/>
        </p:nvSpPr>
        <p:spPr>
          <a:xfrm>
            <a:off x="6534150" y="1676400"/>
            <a:ext cx="13525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최고 F1</a:t>
            </a:r>
          </a:p>
        </p:txBody>
      </p:sp>
      <p:sp>
        <p:nvSpPr>
          <p:cNvPr id="252" name="0.522"/>
          <p:cNvSpPr txBox="1"/>
          <p:nvPr/>
        </p:nvSpPr>
        <p:spPr>
          <a:xfrm>
            <a:off x="6534150" y="1933575"/>
            <a:ext cx="135255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300">
                <a:solidFill>
                  <a:srgbClr val="DC2626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0.522</a:t>
            </a:r>
          </a:p>
        </p:txBody>
      </p:sp>
      <p:sp>
        <p:nvSpPr>
          <p:cNvPr id="253" name="메타 / RF"/>
          <p:cNvSpPr txBox="1"/>
          <p:nvPr/>
        </p:nvSpPr>
        <p:spPr>
          <a:xfrm>
            <a:off x="6534150" y="2495550"/>
            <a:ext cx="135255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메타 / RF</a:t>
            </a:r>
          </a:p>
        </p:txBody>
      </p:sp>
      <p:sp>
        <p:nvSpPr>
          <p:cNvPr id="254" name="모서리가 둥근 직사각형"/>
          <p:cNvSpPr/>
          <p:nvPr/>
        </p:nvSpPr>
        <p:spPr>
          <a:xfrm>
            <a:off x="314632" y="3238500"/>
            <a:ext cx="6676718" cy="2609850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255" name="image5.png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34" y="3384550"/>
            <a:ext cx="2901833" cy="1741100"/>
          </a:xfrm>
          <a:prstGeom prst="rect">
            <a:avLst/>
          </a:prstGeom>
          <a:ln w="12700">
            <a:miter lim="400000"/>
          </a:ln>
        </p:spPr>
      </p:pic>
      <p:sp>
        <p:nvSpPr>
          <p:cNvPr id="256" name="Random Forest 입력 특성 조합별 ROC-AUC"/>
          <p:cNvSpPr txBox="1"/>
          <p:nvPr/>
        </p:nvSpPr>
        <p:spPr>
          <a:xfrm>
            <a:off x="609600" y="5110163"/>
            <a:ext cx="2345608" cy="12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rPr dirty="0"/>
              <a:t>Random Forest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특성</a:t>
            </a:r>
            <a:r>
              <a:rPr dirty="0"/>
              <a:t> </a:t>
            </a:r>
            <a:r>
              <a:rPr dirty="0" err="1"/>
              <a:t>조합별</a:t>
            </a:r>
            <a:r>
              <a:rPr dirty="0"/>
              <a:t> ROC-AUC</a:t>
            </a:r>
          </a:p>
        </p:txBody>
      </p:sp>
      <p:sp>
        <p:nvSpPr>
          <p:cNvPr id="257" name="모서리가 둥근 직사각형"/>
          <p:cNvSpPr/>
          <p:nvPr/>
        </p:nvSpPr>
        <p:spPr>
          <a:xfrm>
            <a:off x="7275871" y="3238500"/>
            <a:ext cx="4601497" cy="2609850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258" name="핵심 해석"/>
          <p:cNvSpPr txBox="1"/>
          <p:nvPr/>
        </p:nvSpPr>
        <p:spPr>
          <a:xfrm>
            <a:off x="7429500" y="3543300"/>
            <a:ext cx="152400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핵심 해석</a:t>
            </a:r>
          </a:p>
        </p:txBody>
      </p:sp>
      <p:sp>
        <p:nvSpPr>
          <p:cNvPr id="259" name="원"/>
          <p:cNvSpPr/>
          <p:nvPr/>
        </p:nvSpPr>
        <p:spPr>
          <a:xfrm>
            <a:off x="7524750" y="4114800"/>
            <a:ext cx="85726" cy="85726"/>
          </a:xfrm>
          <a:prstGeom prst="ellipse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0" name="제목 특성은 ROC-AUC를 소폭 높였지만 F1 개선은 제한적이다."/>
          <p:cNvSpPr txBox="1"/>
          <p:nvPr/>
        </p:nvSpPr>
        <p:spPr>
          <a:xfrm>
            <a:off x="7734300" y="3901662"/>
            <a:ext cx="3219450" cy="597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rPr lang="ko-KR" altLang="ko-KR" dirty="0"/>
              <a:t>4개 모델을 비교한 결과</a:t>
            </a:r>
            <a:br>
              <a:rPr lang="ko-KR" altLang="ko-KR" dirty="0"/>
            </a:br>
            <a:r>
              <a:rPr lang="ko-KR" altLang="ko-KR" dirty="0" err="1"/>
              <a:t>Random</a:t>
            </a:r>
            <a:r>
              <a:rPr lang="ko-KR" altLang="ko-KR" dirty="0"/>
              <a:t> </a:t>
            </a:r>
            <a:r>
              <a:rPr lang="ko-KR" altLang="ko-KR" dirty="0" err="1"/>
              <a:t>Forest가</a:t>
            </a:r>
            <a:r>
              <a:rPr lang="ko-KR" altLang="ko-KR" dirty="0"/>
              <a:t> ROC-AUC 0.817로</a:t>
            </a:r>
            <a:br>
              <a:rPr lang="ko-KR" altLang="ko-KR" dirty="0"/>
            </a:br>
            <a:r>
              <a:rPr lang="ko-KR" altLang="ko-KR" dirty="0"/>
              <a:t>가장 높은 성능을 기록하였다.</a:t>
            </a:r>
            <a:endParaRPr dirty="0"/>
          </a:p>
        </p:txBody>
      </p:sp>
      <p:sp>
        <p:nvSpPr>
          <p:cNvPr id="261" name="원"/>
          <p:cNvSpPr/>
          <p:nvPr/>
        </p:nvSpPr>
        <p:spPr>
          <a:xfrm>
            <a:off x="7524750" y="4591050"/>
            <a:ext cx="85726" cy="85726"/>
          </a:xfrm>
          <a:prstGeom prst="ellipse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2" name="메타데이터만으로도 RF 기준 F1 0.522를 기록했다."/>
          <p:cNvSpPr txBox="1"/>
          <p:nvPr/>
        </p:nvSpPr>
        <p:spPr>
          <a:xfrm>
            <a:off x="7734300" y="4514850"/>
            <a:ext cx="4266892" cy="1003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rPr lang="ko-KR" altLang="ko-KR" dirty="0" err="1"/>
              <a:t>Logistic</a:t>
            </a:r>
            <a:r>
              <a:rPr lang="ko-KR" altLang="ko-KR" dirty="0"/>
              <a:t> </a:t>
            </a:r>
            <a:r>
              <a:rPr lang="ko-KR" altLang="ko-KR" dirty="0" err="1"/>
              <a:t>Regression과</a:t>
            </a:r>
            <a:r>
              <a:rPr lang="ko-KR" altLang="ko-KR" dirty="0"/>
              <a:t> </a:t>
            </a:r>
            <a:r>
              <a:rPr lang="ko-KR" altLang="ko-KR" dirty="0" err="1"/>
              <a:t>DNN은</a:t>
            </a:r>
            <a:br>
              <a:rPr lang="ko-KR" altLang="ko-KR" dirty="0"/>
            </a:br>
            <a:r>
              <a:rPr lang="ko-KR" altLang="ko-KR" dirty="0"/>
              <a:t>0.68 수준의 성능을 보였으며,</a:t>
            </a:r>
            <a:br>
              <a:rPr lang="ko-KR" altLang="ko-KR" dirty="0"/>
            </a:br>
            <a:r>
              <a:rPr lang="ko-KR" altLang="ko-KR" dirty="0" err="1"/>
              <a:t>Decision</a:t>
            </a:r>
            <a:r>
              <a:rPr lang="ko-KR" altLang="ko-KR" dirty="0"/>
              <a:t> </a:t>
            </a:r>
            <a:r>
              <a:rPr lang="ko-KR" altLang="ko-KR" dirty="0" err="1"/>
              <a:t>Tree는</a:t>
            </a:r>
            <a:r>
              <a:rPr lang="ko-KR" altLang="ko-KR" dirty="0"/>
              <a:t> 0.636으로 가장 낮았다</a:t>
            </a:r>
            <a:endParaRPr lang="en-US" altLang="ko-KR" dirty="0"/>
          </a:p>
          <a:p>
            <a:r>
              <a:rPr lang="ko-KR" altLang="ko-KR" dirty="0"/>
              <a:t>따라서 본 프로젝트의 기준 분류 모델로 </a:t>
            </a:r>
            <a:r>
              <a:rPr lang="ko-KR" altLang="ko-KR" dirty="0" err="1"/>
              <a:t>Random</a:t>
            </a:r>
            <a:r>
              <a:rPr lang="ko-KR" altLang="ko-KR" dirty="0"/>
              <a:t> </a:t>
            </a:r>
            <a:r>
              <a:rPr lang="ko-KR" altLang="ko-KR" dirty="0" err="1"/>
              <a:t>Forest를</a:t>
            </a:r>
            <a:r>
              <a:rPr lang="ko-KR" altLang="ko-KR" dirty="0"/>
              <a:t> 선정하였다.</a:t>
            </a:r>
            <a:endParaRPr dirty="0"/>
          </a:p>
        </p:txBody>
      </p:sp>
      <p:sp>
        <p:nvSpPr>
          <p:cNvPr id="263" name="원"/>
          <p:cNvSpPr/>
          <p:nvPr/>
        </p:nvSpPr>
        <p:spPr>
          <a:xfrm>
            <a:off x="7524750" y="5067300"/>
            <a:ext cx="85726" cy="85726"/>
          </a:xfrm>
          <a:prstGeom prst="ellipse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4" name="흥행작 비중이 낮아 Accuracy만으로 모델을 선택하면 위험하다."/>
          <p:cNvSpPr txBox="1"/>
          <p:nvPr/>
        </p:nvSpPr>
        <p:spPr>
          <a:xfrm>
            <a:off x="7734300" y="4991100"/>
            <a:ext cx="3219450" cy="19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endParaRPr dirty="0"/>
          </a:p>
        </p:txBody>
      </p:sp>
      <p:sp>
        <p:nvSpPr>
          <p:cNvPr id="265" name="출처: KOBIS/TMDB 데이터, 프로젝트 결과보고서(2026.06)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KOBIS/TMDB 데이터, 프로젝트 결과보고서(2026.06)</a:t>
            </a:r>
          </a:p>
        </p:txBody>
      </p:sp>
      <p:sp>
        <p:nvSpPr>
          <p:cNvPr id="266" name="08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08 / 16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1C8C3D-3B7B-AE49-E925-DC2963A9D9D9}"/>
              </a:ext>
            </a:extLst>
          </p:cNvPr>
          <p:cNvSpPr txBox="1"/>
          <p:nvPr/>
        </p:nvSpPr>
        <p:spPr>
          <a:xfrm>
            <a:off x="819150" y="6219051"/>
            <a:ext cx="9300623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동일한 메타데이터 특성으로 학습한 결과 </a:t>
            </a:r>
            <a:r>
              <a:rPr lang="en-US" altLang="ko-KR" dirty="0">
                <a:solidFill>
                  <a:schemeClr val="tx1"/>
                </a:solidFill>
              </a:rPr>
              <a:t>Random Forest</a:t>
            </a:r>
            <a:r>
              <a:rPr lang="ko-KR" altLang="en-US" dirty="0">
                <a:solidFill>
                  <a:schemeClr val="tx1"/>
                </a:solidFill>
              </a:rPr>
              <a:t>가 가장 높은 </a:t>
            </a:r>
            <a:r>
              <a:rPr lang="en-US" altLang="ko-KR" dirty="0">
                <a:solidFill>
                  <a:schemeClr val="tx1"/>
                </a:solidFill>
              </a:rPr>
              <a:t>ROC-AUC</a:t>
            </a:r>
            <a:r>
              <a:rPr lang="ko-KR" altLang="en-US" dirty="0">
                <a:solidFill>
                  <a:schemeClr val="tx1"/>
                </a:solidFill>
              </a:rPr>
              <a:t>를 기록하였다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B98CF5B1-916F-0DAC-3CB2-D090F2631A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7551161"/>
              </p:ext>
            </p:extLst>
          </p:nvPr>
        </p:nvGraphicFramePr>
        <p:xfrm>
          <a:off x="3307327" y="2780519"/>
          <a:ext cx="3684023" cy="3448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분류 해석"/>
          <p:cNvSpPr txBox="1"/>
          <p:nvPr/>
        </p:nvSpPr>
        <p:spPr>
          <a:xfrm>
            <a:off x="609600" y="361950"/>
            <a:ext cx="7239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분류 해석</a:t>
            </a:r>
          </a:p>
        </p:txBody>
      </p:sp>
      <p:sp>
        <p:nvSpPr>
          <p:cNvPr id="269" name="분류 성능은 Accuracy보다 흥행작 탐지 관점에서 봐야 한다"/>
          <p:cNvSpPr txBox="1"/>
          <p:nvPr/>
        </p:nvSpPr>
        <p:spPr>
          <a:xfrm>
            <a:off x="609600" y="628650"/>
            <a:ext cx="97155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분류 성능은 Accuracy보다 흥행작 탐지 관점에서 봐야 한다</a:t>
            </a:r>
          </a:p>
        </p:txBody>
      </p:sp>
      <p:sp>
        <p:nvSpPr>
          <p:cNvPr id="270" name="선"/>
          <p:cNvSpPr/>
          <p:nvPr/>
        </p:nvSpPr>
        <p:spPr>
          <a:xfrm>
            <a:off x="609600" y="1219200"/>
            <a:ext cx="1066801" cy="0"/>
          </a:xfrm>
          <a:prstGeom prst="line">
            <a:avLst/>
          </a:prstGeom>
          <a:ln w="28575">
            <a:solidFill>
              <a:srgbClr val="1D4E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1" name="모서리가 둥근 직사각형"/>
          <p:cNvSpPr/>
          <p:nvPr/>
        </p:nvSpPr>
        <p:spPr>
          <a:xfrm>
            <a:off x="609600" y="1581150"/>
            <a:ext cx="5048250" cy="382905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72" name="왜 Accuracy만 보면 안 되는가"/>
          <p:cNvSpPr txBox="1"/>
          <p:nvPr/>
        </p:nvSpPr>
        <p:spPr>
          <a:xfrm>
            <a:off x="914400" y="1924050"/>
            <a:ext cx="333375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7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왜 Accuracy만 보면 안 되는가</a:t>
            </a:r>
          </a:p>
        </p:txBody>
      </p:sp>
      <p:sp>
        <p:nvSpPr>
          <p:cNvPr id="273" name="원"/>
          <p:cNvSpPr/>
          <p:nvPr/>
        </p:nvSpPr>
        <p:spPr>
          <a:xfrm>
            <a:off x="990600" y="2609850"/>
            <a:ext cx="85726" cy="85726"/>
          </a:xfrm>
          <a:prstGeom prst="ellipse">
            <a:avLst/>
          </a:prstGeom>
          <a:solidFill>
            <a:srgbClr val="DC262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4" name="300만 이상 영화는 654편 중 134편으로 소수 클래스다."/>
          <p:cNvSpPr txBox="1"/>
          <p:nvPr/>
        </p:nvSpPr>
        <p:spPr>
          <a:xfrm>
            <a:off x="1200150" y="2533650"/>
            <a:ext cx="388620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300만 이상 영화는 654편 중 134편으로 소수 클래스다.</a:t>
            </a:r>
          </a:p>
        </p:txBody>
      </p:sp>
      <p:sp>
        <p:nvSpPr>
          <p:cNvPr id="275" name="원"/>
          <p:cNvSpPr/>
          <p:nvPr/>
        </p:nvSpPr>
        <p:spPr>
          <a:xfrm>
            <a:off x="990600" y="3162300"/>
            <a:ext cx="85726" cy="85726"/>
          </a:xfrm>
          <a:prstGeom prst="ellipse">
            <a:avLst/>
          </a:prstGeom>
          <a:solidFill>
            <a:srgbClr val="DC262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6" name="대부분을 비흥행으로 예측해도 Accuracy는 높게 보일 수 있다."/>
          <p:cNvSpPr txBox="1"/>
          <p:nvPr/>
        </p:nvSpPr>
        <p:spPr>
          <a:xfrm>
            <a:off x="1200150" y="3086100"/>
            <a:ext cx="3886200" cy="42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대부분을 비흥행으로 예측해도 Accuracy는 높게 보일 수 있다.</a:t>
            </a:r>
          </a:p>
        </p:txBody>
      </p:sp>
      <p:sp>
        <p:nvSpPr>
          <p:cNvPr id="277" name="원"/>
          <p:cNvSpPr/>
          <p:nvPr/>
        </p:nvSpPr>
        <p:spPr>
          <a:xfrm>
            <a:off x="990600" y="3714750"/>
            <a:ext cx="85726" cy="85726"/>
          </a:xfrm>
          <a:prstGeom prst="ellipse">
            <a:avLst/>
          </a:prstGeom>
          <a:solidFill>
            <a:srgbClr val="DC262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8" name="발표에서는 ROC-AUC로 순위화 능력, F1/Recall로 흥행작 탐지력을 함께 본다."/>
          <p:cNvSpPr txBox="1"/>
          <p:nvPr/>
        </p:nvSpPr>
        <p:spPr>
          <a:xfrm>
            <a:off x="1200150" y="3638550"/>
            <a:ext cx="3886200" cy="42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발표에서는 ROC-AUC로 순위화 능력, F1/Recall로 흥행작 탐지력을 함께 본다.</a:t>
            </a:r>
          </a:p>
        </p:txBody>
      </p:sp>
      <p:sp>
        <p:nvSpPr>
          <p:cNvPr id="279" name="원"/>
          <p:cNvSpPr/>
          <p:nvPr/>
        </p:nvSpPr>
        <p:spPr>
          <a:xfrm>
            <a:off x="990600" y="4267200"/>
            <a:ext cx="85726" cy="85726"/>
          </a:xfrm>
          <a:prstGeom prst="ellipse">
            <a:avLst/>
          </a:prstGeom>
          <a:solidFill>
            <a:srgbClr val="DC262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0" name="실무적으로는 임계값 조정과 클래스 가중치 실험이 후속 과제다."/>
          <p:cNvSpPr txBox="1"/>
          <p:nvPr/>
        </p:nvSpPr>
        <p:spPr>
          <a:xfrm>
            <a:off x="1200150" y="4191000"/>
            <a:ext cx="3886200" cy="42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실무적으로는 임계값 조정과 클래스 가중치 실험이 후속 과제다.</a:t>
            </a:r>
          </a:p>
        </p:txBody>
      </p:sp>
      <p:sp>
        <p:nvSpPr>
          <p:cNvPr id="281" name="모서리가 둥근 직사각형"/>
          <p:cNvSpPr/>
          <p:nvPr/>
        </p:nvSpPr>
        <p:spPr>
          <a:xfrm>
            <a:off x="6134100" y="1581150"/>
            <a:ext cx="5143500" cy="382905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82" name="지표별 의미"/>
          <p:cNvSpPr txBox="1"/>
          <p:nvPr/>
        </p:nvSpPr>
        <p:spPr>
          <a:xfrm>
            <a:off x="6438900" y="1924050"/>
            <a:ext cx="22860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7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지표별 의미</a:t>
            </a:r>
          </a:p>
        </p:txBody>
      </p:sp>
      <p:sp>
        <p:nvSpPr>
          <p:cNvPr id="283" name="Accuracy"/>
          <p:cNvSpPr txBox="1"/>
          <p:nvPr/>
        </p:nvSpPr>
        <p:spPr>
          <a:xfrm>
            <a:off x="6515100" y="2476500"/>
            <a:ext cx="1047750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Accuracy</a:t>
            </a:r>
          </a:p>
        </p:txBody>
      </p:sp>
      <p:sp>
        <p:nvSpPr>
          <p:cNvPr id="284" name="전체 예측 중 맞춘 비율"/>
          <p:cNvSpPr txBox="1"/>
          <p:nvPr/>
        </p:nvSpPr>
        <p:spPr>
          <a:xfrm>
            <a:off x="7715250" y="2476500"/>
            <a:ext cx="247650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전체 예측 중 맞춘 비율</a:t>
            </a:r>
          </a:p>
        </p:txBody>
      </p:sp>
      <p:sp>
        <p:nvSpPr>
          <p:cNvPr id="285" name="불균형 데이터에서 과대평가 가능"/>
          <p:cNvSpPr txBox="1"/>
          <p:nvPr/>
        </p:nvSpPr>
        <p:spPr>
          <a:xfrm>
            <a:off x="7715250" y="2705100"/>
            <a:ext cx="3048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불균형 데이터에서 과대평가 가능</a:t>
            </a:r>
          </a:p>
        </p:txBody>
      </p:sp>
      <p:sp>
        <p:nvSpPr>
          <p:cNvPr id="286" name="F1"/>
          <p:cNvSpPr txBox="1"/>
          <p:nvPr/>
        </p:nvSpPr>
        <p:spPr>
          <a:xfrm>
            <a:off x="6515100" y="3143250"/>
            <a:ext cx="1047750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0F766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F1</a:t>
            </a:r>
          </a:p>
        </p:txBody>
      </p:sp>
      <p:sp>
        <p:nvSpPr>
          <p:cNvPr id="287" name="Precision과 Recall의 균형"/>
          <p:cNvSpPr txBox="1"/>
          <p:nvPr/>
        </p:nvSpPr>
        <p:spPr>
          <a:xfrm>
            <a:off x="7715250" y="3143250"/>
            <a:ext cx="247650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Precision과 Recall의 균형</a:t>
            </a:r>
          </a:p>
        </p:txBody>
      </p:sp>
      <p:sp>
        <p:nvSpPr>
          <p:cNvPr id="288" name="흥행작 탐지 성능 판단에 유용"/>
          <p:cNvSpPr txBox="1"/>
          <p:nvPr/>
        </p:nvSpPr>
        <p:spPr>
          <a:xfrm>
            <a:off x="7715250" y="3371850"/>
            <a:ext cx="3048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흥행작 탐지 성능 판단에 유용</a:t>
            </a:r>
          </a:p>
        </p:txBody>
      </p:sp>
      <p:sp>
        <p:nvSpPr>
          <p:cNvPr id="289" name="Recall"/>
          <p:cNvSpPr txBox="1"/>
          <p:nvPr/>
        </p:nvSpPr>
        <p:spPr>
          <a:xfrm>
            <a:off x="6515100" y="3810000"/>
            <a:ext cx="1047750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D97706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Recall</a:t>
            </a:r>
          </a:p>
        </p:txBody>
      </p:sp>
      <p:sp>
        <p:nvSpPr>
          <p:cNvPr id="290" name="실제 흥행작을 놓치지 않는 정도"/>
          <p:cNvSpPr txBox="1"/>
          <p:nvPr/>
        </p:nvSpPr>
        <p:spPr>
          <a:xfrm>
            <a:off x="7715250" y="3810000"/>
            <a:ext cx="247650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실제 흥행작을 놓치지 않는 정도</a:t>
            </a:r>
          </a:p>
        </p:txBody>
      </p:sp>
      <p:sp>
        <p:nvSpPr>
          <p:cNvPr id="291" name="마케팅 의사결정 관점에서 중요"/>
          <p:cNvSpPr txBox="1"/>
          <p:nvPr/>
        </p:nvSpPr>
        <p:spPr>
          <a:xfrm>
            <a:off x="7715250" y="4038600"/>
            <a:ext cx="3048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마케팅 의사결정 관점에서 중요</a:t>
            </a:r>
          </a:p>
        </p:txBody>
      </p:sp>
      <p:sp>
        <p:nvSpPr>
          <p:cNvPr id="292" name="ROC-AUC"/>
          <p:cNvSpPr txBox="1"/>
          <p:nvPr/>
        </p:nvSpPr>
        <p:spPr>
          <a:xfrm>
            <a:off x="6515100" y="4476750"/>
            <a:ext cx="1047750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6D28D9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ROC-AUC</a:t>
            </a:r>
          </a:p>
        </p:txBody>
      </p:sp>
      <p:sp>
        <p:nvSpPr>
          <p:cNvPr id="293" name="임계값과 무관한 순위화 성능"/>
          <p:cNvSpPr txBox="1"/>
          <p:nvPr/>
        </p:nvSpPr>
        <p:spPr>
          <a:xfrm>
            <a:off x="7715250" y="4476750"/>
            <a:ext cx="247650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임계값과 무관한 순위화 성능</a:t>
            </a:r>
          </a:p>
        </p:txBody>
      </p:sp>
      <p:sp>
        <p:nvSpPr>
          <p:cNvPr id="294" name="제목 특성의 소폭 기여 확인"/>
          <p:cNvSpPr txBox="1"/>
          <p:nvPr/>
        </p:nvSpPr>
        <p:spPr>
          <a:xfrm>
            <a:off x="7715250" y="4705350"/>
            <a:ext cx="3048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제목 특성의 소폭 기여 확인</a:t>
            </a:r>
          </a:p>
        </p:txBody>
      </p:sp>
      <p:sp>
        <p:nvSpPr>
          <p:cNvPr id="295" name="출처: KOBIS/TMDB 데이터, 프로젝트 결과보고서(2026.06)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KOBIS/TMDB 데이터, 프로젝트 결과보고서(2026.06)</a:t>
            </a:r>
          </a:p>
        </p:txBody>
      </p:sp>
      <p:sp>
        <p:nvSpPr>
          <p:cNvPr id="296" name="09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09 / 16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회귀 결과"/>
          <p:cNvSpPr txBox="1"/>
          <p:nvPr/>
        </p:nvSpPr>
        <p:spPr>
          <a:xfrm>
            <a:off x="609600" y="361950"/>
            <a:ext cx="7239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회귀 결과</a:t>
            </a:r>
          </a:p>
        </p:txBody>
      </p:sp>
      <p:sp>
        <p:nvSpPr>
          <p:cNvPr id="299" name="관객 수 회귀는 블록버스터 쏠림 때문에 설명력이 제한적이었다"/>
          <p:cNvSpPr txBox="1"/>
          <p:nvPr/>
        </p:nvSpPr>
        <p:spPr>
          <a:xfrm>
            <a:off x="609600" y="628650"/>
            <a:ext cx="97155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관객 수 회귀는 블록버스터 쏠림 때문에 설명력이 제한적이었다</a:t>
            </a:r>
          </a:p>
        </p:txBody>
      </p:sp>
      <p:sp>
        <p:nvSpPr>
          <p:cNvPr id="300" name="선"/>
          <p:cNvSpPr/>
          <p:nvPr/>
        </p:nvSpPr>
        <p:spPr>
          <a:xfrm>
            <a:off x="609600" y="1219200"/>
            <a:ext cx="1066801" cy="0"/>
          </a:xfrm>
          <a:prstGeom prst="line">
            <a:avLst/>
          </a:prstGeom>
          <a:ln w="28575">
            <a:solidFill>
              <a:srgbClr val="1D4E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1" name="모서리가 둥근 직사각형"/>
          <p:cNvSpPr/>
          <p:nvPr/>
        </p:nvSpPr>
        <p:spPr>
          <a:xfrm>
            <a:off x="609600" y="1504950"/>
            <a:ext cx="1809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2" name="직사각형"/>
          <p:cNvSpPr/>
          <p:nvPr/>
        </p:nvSpPr>
        <p:spPr>
          <a:xfrm>
            <a:off x="609600" y="1504950"/>
            <a:ext cx="57150" cy="1257300"/>
          </a:xfrm>
          <a:prstGeom prst="rect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3" name="최고 R2"/>
          <p:cNvSpPr txBox="1"/>
          <p:nvPr/>
        </p:nvSpPr>
        <p:spPr>
          <a:xfrm>
            <a:off x="819150" y="1676400"/>
            <a:ext cx="14478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최고 R2</a:t>
            </a:r>
          </a:p>
        </p:txBody>
      </p:sp>
      <p:sp>
        <p:nvSpPr>
          <p:cNvPr id="304" name="0.190"/>
          <p:cNvSpPr txBox="1"/>
          <p:nvPr/>
        </p:nvSpPr>
        <p:spPr>
          <a:xfrm>
            <a:off x="819150" y="1933575"/>
            <a:ext cx="14478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3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0.190</a:t>
            </a:r>
          </a:p>
        </p:txBody>
      </p:sp>
      <p:sp>
        <p:nvSpPr>
          <p:cNvPr id="305" name="메타 / RF Regr."/>
          <p:cNvSpPr txBox="1"/>
          <p:nvPr/>
        </p:nvSpPr>
        <p:spPr>
          <a:xfrm>
            <a:off x="819150" y="2495550"/>
            <a:ext cx="144780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메타 / RF Regr.</a:t>
            </a:r>
          </a:p>
        </p:txBody>
      </p:sp>
      <p:sp>
        <p:nvSpPr>
          <p:cNvPr id="306" name="모서리가 둥근 직사각형"/>
          <p:cNvSpPr/>
          <p:nvPr/>
        </p:nvSpPr>
        <p:spPr>
          <a:xfrm>
            <a:off x="2609850" y="1504950"/>
            <a:ext cx="20002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7" name="직사각형"/>
          <p:cNvSpPr/>
          <p:nvPr/>
        </p:nvSpPr>
        <p:spPr>
          <a:xfrm>
            <a:off x="2609850" y="1504950"/>
            <a:ext cx="57150" cy="1257300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8" name="RMSE"/>
          <p:cNvSpPr txBox="1"/>
          <p:nvPr/>
        </p:nvSpPr>
        <p:spPr>
          <a:xfrm>
            <a:off x="2819400" y="1676400"/>
            <a:ext cx="16383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RMSE</a:t>
            </a:r>
          </a:p>
        </p:txBody>
      </p:sp>
      <p:sp>
        <p:nvSpPr>
          <p:cNvPr id="309" name="228.0만"/>
          <p:cNvSpPr txBox="1"/>
          <p:nvPr/>
        </p:nvSpPr>
        <p:spPr>
          <a:xfrm>
            <a:off x="2819400" y="1933575"/>
            <a:ext cx="16383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DC2626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228.0만</a:t>
            </a:r>
          </a:p>
        </p:txBody>
      </p:sp>
      <p:sp>
        <p:nvSpPr>
          <p:cNvPr id="310" name="메타 / RF Regr."/>
          <p:cNvSpPr txBox="1"/>
          <p:nvPr/>
        </p:nvSpPr>
        <p:spPr>
          <a:xfrm>
            <a:off x="2819400" y="2495550"/>
            <a:ext cx="163830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메타 / RF Regr.</a:t>
            </a:r>
          </a:p>
        </p:txBody>
      </p:sp>
      <p:sp>
        <p:nvSpPr>
          <p:cNvPr id="311" name="모서리가 둥근 직사각형"/>
          <p:cNvSpPr/>
          <p:nvPr/>
        </p:nvSpPr>
        <p:spPr>
          <a:xfrm>
            <a:off x="4800600" y="1504950"/>
            <a:ext cx="1809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12" name="직사각형"/>
          <p:cNvSpPr/>
          <p:nvPr/>
        </p:nvSpPr>
        <p:spPr>
          <a:xfrm>
            <a:off x="4800600" y="1504950"/>
            <a:ext cx="57150" cy="12573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3" name="MAE"/>
          <p:cNvSpPr txBox="1"/>
          <p:nvPr/>
        </p:nvSpPr>
        <p:spPr>
          <a:xfrm>
            <a:off x="5010150" y="1676400"/>
            <a:ext cx="14478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MAE</a:t>
            </a:r>
          </a:p>
        </p:txBody>
      </p:sp>
      <p:sp>
        <p:nvSpPr>
          <p:cNvPr id="314" name="129.8만"/>
          <p:cNvSpPr txBox="1"/>
          <p:nvPr/>
        </p:nvSpPr>
        <p:spPr>
          <a:xfrm>
            <a:off x="5010150" y="1933575"/>
            <a:ext cx="14478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0F766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129.8만</a:t>
            </a:r>
          </a:p>
        </p:txBody>
      </p:sp>
      <p:sp>
        <p:nvSpPr>
          <p:cNvPr id="315" name="메타 / RF Regr."/>
          <p:cNvSpPr txBox="1"/>
          <p:nvPr/>
        </p:nvSpPr>
        <p:spPr>
          <a:xfrm>
            <a:off x="5010150" y="2495550"/>
            <a:ext cx="144780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메타 / RF Regr.</a:t>
            </a:r>
          </a:p>
        </p:txBody>
      </p:sp>
      <p:sp>
        <p:nvSpPr>
          <p:cNvPr id="316" name="모서리가 둥근 직사각형"/>
          <p:cNvSpPr/>
          <p:nvPr/>
        </p:nvSpPr>
        <p:spPr>
          <a:xfrm>
            <a:off x="6896100" y="1504950"/>
            <a:ext cx="4476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17" name="R2 비교"/>
          <p:cNvSpPr txBox="1"/>
          <p:nvPr/>
        </p:nvSpPr>
        <p:spPr>
          <a:xfrm>
            <a:off x="7181850" y="1714500"/>
            <a:ext cx="1143000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R2 비교</a:t>
            </a:r>
          </a:p>
        </p:txBody>
      </p:sp>
      <p:sp>
        <p:nvSpPr>
          <p:cNvPr id="318" name="metadata"/>
          <p:cNvSpPr txBox="1"/>
          <p:nvPr/>
        </p:nvSpPr>
        <p:spPr>
          <a:xfrm>
            <a:off x="7181850" y="2019300"/>
            <a:ext cx="123825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800">
                <a:solidFill>
                  <a:srgbClr val="334155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metadata</a:t>
            </a:r>
          </a:p>
        </p:txBody>
      </p:sp>
      <p:sp>
        <p:nvSpPr>
          <p:cNvPr id="319" name="모서리가 둥근 직사각형"/>
          <p:cNvSpPr/>
          <p:nvPr/>
        </p:nvSpPr>
        <p:spPr>
          <a:xfrm>
            <a:off x="8515350" y="2038350"/>
            <a:ext cx="19431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0" name="모서리가 둥근 직사각형"/>
          <p:cNvSpPr/>
          <p:nvPr/>
        </p:nvSpPr>
        <p:spPr>
          <a:xfrm>
            <a:off x="8515350" y="2038350"/>
            <a:ext cx="1678133" cy="952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1" name="0.190"/>
          <p:cNvSpPr txBox="1"/>
          <p:nvPr/>
        </p:nvSpPr>
        <p:spPr>
          <a:xfrm>
            <a:off x="10572750" y="2000250"/>
            <a:ext cx="4953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0.190</a:t>
            </a:r>
          </a:p>
        </p:txBody>
      </p:sp>
      <p:sp>
        <p:nvSpPr>
          <p:cNvPr id="322" name="metadata_title"/>
          <p:cNvSpPr txBox="1"/>
          <p:nvPr/>
        </p:nvSpPr>
        <p:spPr>
          <a:xfrm>
            <a:off x="7181850" y="2228850"/>
            <a:ext cx="123825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800">
                <a:solidFill>
                  <a:srgbClr val="334155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metadata_title</a:t>
            </a:r>
          </a:p>
        </p:txBody>
      </p:sp>
      <p:sp>
        <p:nvSpPr>
          <p:cNvPr id="323" name="모서리가 둥근 직사각형"/>
          <p:cNvSpPr/>
          <p:nvPr/>
        </p:nvSpPr>
        <p:spPr>
          <a:xfrm>
            <a:off x="8515350" y="2247900"/>
            <a:ext cx="19431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4" name="모서리가 둥근 직사각형"/>
          <p:cNvSpPr/>
          <p:nvPr/>
        </p:nvSpPr>
        <p:spPr>
          <a:xfrm>
            <a:off x="8515350" y="2247900"/>
            <a:ext cx="1660468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5" name="0.188"/>
          <p:cNvSpPr txBox="1"/>
          <p:nvPr/>
        </p:nvSpPr>
        <p:spPr>
          <a:xfrm>
            <a:off x="10572750" y="2209800"/>
            <a:ext cx="4953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0.188</a:t>
            </a:r>
          </a:p>
        </p:txBody>
      </p:sp>
      <p:sp>
        <p:nvSpPr>
          <p:cNvPr id="326" name="metadata_poster"/>
          <p:cNvSpPr txBox="1"/>
          <p:nvPr/>
        </p:nvSpPr>
        <p:spPr>
          <a:xfrm>
            <a:off x="7181850" y="2438400"/>
            <a:ext cx="123825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800">
                <a:solidFill>
                  <a:srgbClr val="334155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metadata_poster</a:t>
            </a:r>
          </a:p>
        </p:txBody>
      </p:sp>
      <p:sp>
        <p:nvSpPr>
          <p:cNvPr id="327" name="모서리가 둥근 직사각형"/>
          <p:cNvSpPr/>
          <p:nvPr/>
        </p:nvSpPr>
        <p:spPr>
          <a:xfrm>
            <a:off x="8515350" y="2457450"/>
            <a:ext cx="19431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8" name="모서리가 둥근 직사각형"/>
          <p:cNvSpPr/>
          <p:nvPr/>
        </p:nvSpPr>
        <p:spPr>
          <a:xfrm>
            <a:off x="8515350" y="2457450"/>
            <a:ext cx="1501486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9" name="0.170"/>
          <p:cNvSpPr txBox="1"/>
          <p:nvPr/>
        </p:nvSpPr>
        <p:spPr>
          <a:xfrm>
            <a:off x="10572750" y="2419350"/>
            <a:ext cx="4953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0.170</a:t>
            </a:r>
          </a:p>
        </p:txBody>
      </p:sp>
      <p:sp>
        <p:nvSpPr>
          <p:cNvPr id="330" name="all"/>
          <p:cNvSpPr txBox="1"/>
          <p:nvPr/>
        </p:nvSpPr>
        <p:spPr>
          <a:xfrm>
            <a:off x="7181850" y="2647950"/>
            <a:ext cx="123825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800">
                <a:solidFill>
                  <a:srgbClr val="334155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all</a:t>
            </a:r>
          </a:p>
        </p:txBody>
      </p:sp>
      <p:sp>
        <p:nvSpPr>
          <p:cNvPr id="331" name="모서리가 둥근 직사각형"/>
          <p:cNvSpPr/>
          <p:nvPr/>
        </p:nvSpPr>
        <p:spPr>
          <a:xfrm>
            <a:off x="8515350" y="2667000"/>
            <a:ext cx="19431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32" name="모서리가 둥근 직사각형"/>
          <p:cNvSpPr/>
          <p:nvPr/>
        </p:nvSpPr>
        <p:spPr>
          <a:xfrm>
            <a:off x="8515350" y="2667000"/>
            <a:ext cx="1448493" cy="95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33" name="0.164"/>
          <p:cNvSpPr txBox="1"/>
          <p:nvPr/>
        </p:nvSpPr>
        <p:spPr>
          <a:xfrm>
            <a:off x="10572750" y="2628900"/>
            <a:ext cx="4953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0.164</a:t>
            </a:r>
          </a:p>
        </p:txBody>
      </p:sp>
      <p:sp>
        <p:nvSpPr>
          <p:cNvPr id="334" name="모서리가 둥근 직사각형"/>
          <p:cNvSpPr/>
          <p:nvPr/>
        </p:nvSpPr>
        <p:spPr>
          <a:xfrm>
            <a:off x="609600" y="3162300"/>
            <a:ext cx="5143500" cy="26860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335" name="image6.png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3314700"/>
            <a:ext cx="3429000" cy="2057400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R2 기준 회귀 모델 비교"/>
          <p:cNvSpPr txBox="1"/>
          <p:nvPr/>
        </p:nvSpPr>
        <p:spPr>
          <a:xfrm>
            <a:off x="781050" y="5581650"/>
            <a:ext cx="48006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R2 기준 회귀 모델 비교</a:t>
            </a:r>
          </a:p>
        </p:txBody>
      </p:sp>
      <p:sp>
        <p:nvSpPr>
          <p:cNvPr id="337" name="모서리가 둥근 직사각형"/>
          <p:cNvSpPr/>
          <p:nvPr/>
        </p:nvSpPr>
        <p:spPr>
          <a:xfrm>
            <a:off x="6096000" y="3162300"/>
            <a:ext cx="5143500" cy="26860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338" name="image7.png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833" y="3238500"/>
            <a:ext cx="4245834" cy="2533651"/>
          </a:xfrm>
          <a:prstGeom prst="rect">
            <a:avLst/>
          </a:prstGeom>
          <a:ln w="12700">
            <a:miter lim="400000"/>
          </a:ln>
        </p:spPr>
      </p:pic>
      <p:sp>
        <p:nvSpPr>
          <p:cNvPr id="339" name="상위 관객 수 구간의 예측 난도"/>
          <p:cNvSpPr txBox="1"/>
          <p:nvPr/>
        </p:nvSpPr>
        <p:spPr>
          <a:xfrm>
            <a:off x="6267450" y="5581650"/>
            <a:ext cx="48006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상위 관객 수 구간의 예측 난도</a:t>
            </a:r>
          </a:p>
        </p:txBody>
      </p:sp>
      <p:sp>
        <p:nvSpPr>
          <p:cNvPr id="340" name="출처: KOBIS/TMDB 데이터, 프로젝트 결과보고서(2026.06)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KOBIS/TMDB 데이터, 프로젝트 결과보고서(2026.06)</a:t>
            </a:r>
          </a:p>
        </p:txBody>
      </p:sp>
      <p:sp>
        <p:nvSpPr>
          <p:cNvPr id="341" name="10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10 / 16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랭크 예측"/>
          <p:cNvSpPr txBox="1"/>
          <p:nvPr/>
        </p:nvSpPr>
        <p:spPr>
          <a:xfrm>
            <a:off x="609600" y="361950"/>
            <a:ext cx="7239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랭크 예측</a:t>
            </a:r>
          </a:p>
        </p:txBody>
      </p:sp>
      <p:sp>
        <p:nvSpPr>
          <p:cNvPr id="344" name="성공도 랭크는 등급 경계가 겹쳐 macro F1이 낮았다"/>
          <p:cNvSpPr txBox="1"/>
          <p:nvPr/>
        </p:nvSpPr>
        <p:spPr>
          <a:xfrm>
            <a:off x="609600" y="628650"/>
            <a:ext cx="97155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성공도 랭크는 등급 경계가 겹쳐 macro F1이 낮았다</a:t>
            </a:r>
          </a:p>
        </p:txBody>
      </p:sp>
      <p:sp>
        <p:nvSpPr>
          <p:cNvPr id="345" name="선"/>
          <p:cNvSpPr/>
          <p:nvPr/>
        </p:nvSpPr>
        <p:spPr>
          <a:xfrm>
            <a:off x="609600" y="1219200"/>
            <a:ext cx="1066801" cy="0"/>
          </a:xfrm>
          <a:prstGeom prst="line">
            <a:avLst/>
          </a:prstGeom>
          <a:ln w="28575">
            <a:solidFill>
              <a:srgbClr val="1D4E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46" name="모서리가 둥근 직사각형"/>
          <p:cNvSpPr/>
          <p:nvPr/>
        </p:nvSpPr>
        <p:spPr>
          <a:xfrm>
            <a:off x="609600" y="1524000"/>
            <a:ext cx="3028950" cy="40957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47" name="최고 macro F1"/>
          <p:cNvSpPr txBox="1"/>
          <p:nvPr/>
        </p:nvSpPr>
        <p:spPr>
          <a:xfrm>
            <a:off x="914400" y="1905000"/>
            <a:ext cx="1524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최고 macro F1</a:t>
            </a:r>
          </a:p>
        </p:txBody>
      </p:sp>
      <p:sp>
        <p:nvSpPr>
          <p:cNvPr id="348" name="0.308"/>
          <p:cNvSpPr txBox="1"/>
          <p:nvPr/>
        </p:nvSpPr>
        <p:spPr>
          <a:xfrm>
            <a:off x="914400" y="2114550"/>
            <a:ext cx="1619250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2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0.308</a:t>
            </a:r>
          </a:p>
        </p:txBody>
      </p:sp>
      <p:sp>
        <p:nvSpPr>
          <p:cNvPr id="349" name="메타 / RF"/>
          <p:cNvSpPr txBox="1"/>
          <p:nvPr/>
        </p:nvSpPr>
        <p:spPr>
          <a:xfrm>
            <a:off x="914400" y="2495550"/>
            <a:ext cx="18097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메타 / RF</a:t>
            </a:r>
          </a:p>
        </p:txBody>
      </p:sp>
      <p:sp>
        <p:nvSpPr>
          <p:cNvPr id="350" name="Accuracy"/>
          <p:cNvSpPr txBox="1"/>
          <p:nvPr/>
        </p:nvSpPr>
        <p:spPr>
          <a:xfrm>
            <a:off x="914400" y="2914650"/>
            <a:ext cx="1524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Accuracy</a:t>
            </a:r>
          </a:p>
        </p:txBody>
      </p:sp>
      <p:sp>
        <p:nvSpPr>
          <p:cNvPr id="351" name="0.496"/>
          <p:cNvSpPr txBox="1"/>
          <p:nvPr/>
        </p:nvSpPr>
        <p:spPr>
          <a:xfrm>
            <a:off x="914400" y="3124200"/>
            <a:ext cx="1619250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200">
                <a:solidFill>
                  <a:srgbClr val="0F766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0.496</a:t>
            </a:r>
          </a:p>
        </p:txBody>
      </p:sp>
      <p:sp>
        <p:nvSpPr>
          <p:cNvPr id="352" name="메타 / RF"/>
          <p:cNvSpPr txBox="1"/>
          <p:nvPr/>
        </p:nvSpPr>
        <p:spPr>
          <a:xfrm>
            <a:off x="914400" y="3505200"/>
            <a:ext cx="18097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메타 / RF</a:t>
            </a:r>
          </a:p>
        </p:txBody>
      </p:sp>
      <p:sp>
        <p:nvSpPr>
          <p:cNvPr id="353" name="랭크는 단순 흥행 여부보다 클래스 경계가 촘촘해 인접 등급 오분류가 더 많이 발생한다."/>
          <p:cNvSpPr txBox="1"/>
          <p:nvPr/>
        </p:nvSpPr>
        <p:spPr>
          <a:xfrm>
            <a:off x="914400" y="4038600"/>
            <a:ext cx="2209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랭크는 단순 흥행 여부보다 클래스 경계가 촘촘해 인접 등급 오분류가 더 많이 발생한다.</a:t>
            </a:r>
          </a:p>
        </p:txBody>
      </p:sp>
      <p:sp>
        <p:nvSpPr>
          <p:cNvPr id="354" name="모서리가 둥근 직사각형"/>
          <p:cNvSpPr/>
          <p:nvPr/>
        </p:nvSpPr>
        <p:spPr>
          <a:xfrm>
            <a:off x="3981450" y="1524000"/>
            <a:ext cx="3143250" cy="40957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355" name="image8.png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850" y="2620050"/>
            <a:ext cx="2838450" cy="1579799"/>
          </a:xfrm>
          <a:prstGeom prst="rect">
            <a:avLst/>
          </a:prstGeom>
          <a:ln w="12700">
            <a:miter lim="400000"/>
          </a:ln>
        </p:spPr>
      </p:pic>
      <p:sp>
        <p:nvSpPr>
          <p:cNvPr id="356" name="랭크별 표본 분포"/>
          <p:cNvSpPr txBox="1"/>
          <p:nvPr/>
        </p:nvSpPr>
        <p:spPr>
          <a:xfrm>
            <a:off x="4152900" y="5353050"/>
            <a:ext cx="280035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랭크별 표본 분포</a:t>
            </a:r>
          </a:p>
        </p:txBody>
      </p:sp>
      <p:sp>
        <p:nvSpPr>
          <p:cNvPr id="357" name="모서리가 둥근 직사각형"/>
          <p:cNvSpPr/>
          <p:nvPr/>
        </p:nvSpPr>
        <p:spPr>
          <a:xfrm>
            <a:off x="7467600" y="1524000"/>
            <a:ext cx="3905250" cy="409575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358" name="image9.png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1823361"/>
            <a:ext cx="3600450" cy="3173179"/>
          </a:xfrm>
          <a:prstGeom prst="rect">
            <a:avLst/>
          </a:prstGeom>
          <a:ln w="12700">
            <a:miter lim="400000"/>
          </a:ln>
        </p:spPr>
      </p:pic>
      <p:sp>
        <p:nvSpPr>
          <p:cNvPr id="359" name="랭크별 예측 혼동 구조"/>
          <p:cNvSpPr txBox="1"/>
          <p:nvPr/>
        </p:nvSpPr>
        <p:spPr>
          <a:xfrm>
            <a:off x="7639050" y="5353050"/>
            <a:ext cx="356235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랭크별 예측 혼동 구조</a:t>
            </a:r>
          </a:p>
        </p:txBody>
      </p:sp>
      <p:sp>
        <p:nvSpPr>
          <p:cNvPr id="360" name="출처: KOBIS/TMDB 데이터, 프로젝트 결과보고서(2026.06)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KOBIS/TMDB 데이터, 프로젝트 결과보고서(2026.06)</a:t>
            </a:r>
          </a:p>
        </p:txBody>
      </p:sp>
      <p:sp>
        <p:nvSpPr>
          <p:cNvPr id="361" name="11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11 / 16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오분류 구조"/>
          <p:cNvSpPr txBox="1"/>
          <p:nvPr/>
        </p:nvSpPr>
        <p:spPr>
          <a:xfrm>
            <a:off x="609600" y="361950"/>
            <a:ext cx="7239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오분류 구조</a:t>
            </a:r>
          </a:p>
        </p:txBody>
      </p:sp>
      <p:sp>
        <p:nvSpPr>
          <p:cNvPr id="364" name="오분류는 중간 랭크와 고관객 영화에서 해석 여지가 크다"/>
          <p:cNvSpPr txBox="1"/>
          <p:nvPr/>
        </p:nvSpPr>
        <p:spPr>
          <a:xfrm>
            <a:off x="609600" y="628650"/>
            <a:ext cx="97155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오분류는 중간 랭크와 고관객 영화에서 해석 여지가 크다</a:t>
            </a:r>
          </a:p>
        </p:txBody>
      </p:sp>
      <p:sp>
        <p:nvSpPr>
          <p:cNvPr id="365" name="선"/>
          <p:cNvSpPr/>
          <p:nvPr/>
        </p:nvSpPr>
        <p:spPr>
          <a:xfrm>
            <a:off x="609600" y="1219200"/>
            <a:ext cx="1066801" cy="0"/>
          </a:xfrm>
          <a:prstGeom prst="line">
            <a:avLst/>
          </a:prstGeom>
          <a:ln w="28575">
            <a:solidFill>
              <a:srgbClr val="1D4E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6" name="모서리가 둥근 직사각형"/>
          <p:cNvSpPr/>
          <p:nvPr/>
        </p:nvSpPr>
        <p:spPr>
          <a:xfrm>
            <a:off x="609600" y="1504950"/>
            <a:ext cx="5143500" cy="394335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367" name="image10.png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04" y="1657350"/>
            <a:ext cx="4283490" cy="3314700"/>
          </a:xfrm>
          <a:prstGeom prst="rect">
            <a:avLst/>
          </a:prstGeom>
          <a:ln w="12700">
            <a:miter lim="400000"/>
          </a:ln>
        </p:spPr>
      </p:pic>
      <p:sp>
        <p:nvSpPr>
          <p:cNvPr id="368" name="랭크 오분류 영화별 관객 수"/>
          <p:cNvSpPr txBox="1"/>
          <p:nvPr/>
        </p:nvSpPr>
        <p:spPr>
          <a:xfrm>
            <a:off x="781050" y="5181600"/>
            <a:ext cx="48006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랭크 오분류 영화별 관객 수</a:t>
            </a:r>
          </a:p>
        </p:txBody>
      </p:sp>
      <p:sp>
        <p:nvSpPr>
          <p:cNvPr id="369" name="모서리가 둥근 직사각형"/>
          <p:cNvSpPr/>
          <p:nvPr/>
        </p:nvSpPr>
        <p:spPr>
          <a:xfrm>
            <a:off x="6096000" y="1504950"/>
            <a:ext cx="5143500" cy="394335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370" name="image11.png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812" y="1657350"/>
            <a:ext cx="4755876" cy="3314700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특성 공간에서 본 영화 분포"/>
          <p:cNvSpPr txBox="1"/>
          <p:nvPr/>
        </p:nvSpPr>
        <p:spPr>
          <a:xfrm>
            <a:off x="6267450" y="5181600"/>
            <a:ext cx="48006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특성 공간에서 본 영화 분포</a:t>
            </a:r>
          </a:p>
        </p:txBody>
      </p:sp>
      <p:sp>
        <p:nvSpPr>
          <p:cNvPr id="372" name="모서리가 둥근 직사각형"/>
          <p:cNvSpPr/>
          <p:nvPr/>
        </p:nvSpPr>
        <p:spPr>
          <a:xfrm>
            <a:off x="914400" y="5753100"/>
            <a:ext cx="4476750" cy="438150"/>
          </a:xfrm>
          <a:prstGeom prst="roundRect">
            <a:avLst>
              <a:gd name="adj" fmla="val 26087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3" name="랭크 문제는 '정확히 맞힘'보다 오차 방향과 인접 등급 여부를 함께 봐야 한다."/>
          <p:cNvSpPr txBox="1"/>
          <p:nvPr/>
        </p:nvSpPr>
        <p:spPr>
          <a:xfrm>
            <a:off x="1104900" y="5772150"/>
            <a:ext cx="4095750" cy="400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1200">
                <a:solidFill>
                  <a:srgbClr val="6D28D9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랭크 문제는 '정확히 맞힘'보다 오차 방향과 인접 등급 여부를 함께 봐야 한다.</a:t>
            </a:r>
          </a:p>
        </p:txBody>
      </p:sp>
      <p:sp>
        <p:nvSpPr>
          <p:cNvPr id="374" name="모서리가 둥근 직사각형"/>
          <p:cNvSpPr/>
          <p:nvPr/>
        </p:nvSpPr>
        <p:spPr>
          <a:xfrm>
            <a:off x="6496050" y="5753100"/>
            <a:ext cx="4343400" cy="438150"/>
          </a:xfrm>
          <a:prstGeom prst="roundRect">
            <a:avLst>
              <a:gd name="adj" fmla="val 26087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5" name="특성 공간에서 비슷한 영화가 다른 흥행 결과를 갖는 사례가 존재한다."/>
          <p:cNvSpPr txBox="1"/>
          <p:nvPr/>
        </p:nvSpPr>
        <p:spPr>
          <a:xfrm>
            <a:off x="6686550" y="5772150"/>
            <a:ext cx="3962400" cy="400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12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특성 공간에서 비슷한 영화가 다른 흥행 결과를 갖는 사례가 존재한다.</a:t>
            </a:r>
          </a:p>
        </p:txBody>
      </p:sp>
      <p:sp>
        <p:nvSpPr>
          <p:cNvPr id="376" name="출처: KOBIS/TMDB 데이터, 프로젝트 결과보고서(2026.06)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KOBIS/TMDB 데이터, 프로젝트 결과보고서(2026.06)</a:t>
            </a:r>
          </a:p>
        </p:txBody>
      </p:sp>
      <p:sp>
        <p:nvSpPr>
          <p:cNvPr id="377" name="12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12 / 16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성공 요인 1"/>
          <p:cNvSpPr txBox="1"/>
          <p:nvPr/>
        </p:nvSpPr>
        <p:spPr>
          <a:xfrm>
            <a:off x="609600" y="361950"/>
            <a:ext cx="7239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성공 요인 1</a:t>
            </a:r>
          </a:p>
        </p:txBody>
      </p:sp>
      <p:sp>
        <p:nvSpPr>
          <p:cNvPr id="380" name="성공 요인 신호는 메타데이터 변수에서 더 선명했다"/>
          <p:cNvSpPr txBox="1"/>
          <p:nvPr/>
        </p:nvSpPr>
        <p:spPr>
          <a:xfrm>
            <a:off x="609600" y="628650"/>
            <a:ext cx="97155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성공 요인 신호는 메타데이터 변수에서 더 선명했다</a:t>
            </a:r>
          </a:p>
        </p:txBody>
      </p:sp>
      <p:sp>
        <p:nvSpPr>
          <p:cNvPr id="381" name="선"/>
          <p:cNvSpPr/>
          <p:nvPr/>
        </p:nvSpPr>
        <p:spPr>
          <a:xfrm>
            <a:off x="609600" y="1219200"/>
            <a:ext cx="1066801" cy="0"/>
          </a:xfrm>
          <a:prstGeom prst="line">
            <a:avLst/>
          </a:prstGeom>
          <a:ln w="28575">
            <a:solidFill>
              <a:srgbClr val="1D4E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82" name="모서리가 둥근 직사각형"/>
          <p:cNvSpPr/>
          <p:nvPr/>
        </p:nvSpPr>
        <p:spPr>
          <a:xfrm>
            <a:off x="609600" y="1504950"/>
            <a:ext cx="5143500" cy="394335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383" name="image12.png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82445"/>
            <a:ext cx="4838700" cy="3064511"/>
          </a:xfrm>
          <a:prstGeom prst="rect">
            <a:avLst/>
          </a:prstGeom>
          <a:ln w="12700">
            <a:miter lim="400000"/>
          </a:ln>
        </p:spPr>
      </p:pic>
      <p:sp>
        <p:nvSpPr>
          <p:cNvPr id="384" name="Random Forest 기준 주요 변수 중요도"/>
          <p:cNvSpPr txBox="1"/>
          <p:nvPr/>
        </p:nvSpPr>
        <p:spPr>
          <a:xfrm>
            <a:off x="781050" y="5181600"/>
            <a:ext cx="48006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Random Forest 기준 주요 변수 중요도</a:t>
            </a:r>
          </a:p>
        </p:txBody>
      </p:sp>
      <p:sp>
        <p:nvSpPr>
          <p:cNvPr id="385" name="모서리가 둥근 직사각형"/>
          <p:cNvSpPr/>
          <p:nvPr/>
        </p:nvSpPr>
        <p:spPr>
          <a:xfrm>
            <a:off x="6096000" y="1504950"/>
            <a:ext cx="5143500" cy="394335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86" name="주요 해석"/>
          <p:cNvSpPr txBox="1"/>
          <p:nvPr/>
        </p:nvSpPr>
        <p:spPr>
          <a:xfrm>
            <a:off x="6438900" y="1847850"/>
            <a:ext cx="15240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7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주요 해석</a:t>
            </a:r>
          </a:p>
        </p:txBody>
      </p:sp>
      <p:sp>
        <p:nvSpPr>
          <p:cNvPr id="387" name="원"/>
          <p:cNvSpPr/>
          <p:nvPr/>
        </p:nvSpPr>
        <p:spPr>
          <a:xfrm>
            <a:off x="6534150" y="2476500"/>
            <a:ext cx="85726" cy="85726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88" name="배우·감독·제작사 빈도와 장르 변수는 해석 가능한 신호를 제공한다."/>
          <p:cNvSpPr txBox="1"/>
          <p:nvPr/>
        </p:nvSpPr>
        <p:spPr>
          <a:xfrm>
            <a:off x="6743700" y="2400300"/>
            <a:ext cx="3790950" cy="42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배우·감독·제작사 빈도와 장르 변수는 해석 가능한 신호를 제공한다.</a:t>
            </a:r>
          </a:p>
        </p:txBody>
      </p:sp>
      <p:sp>
        <p:nvSpPr>
          <p:cNvPr id="389" name="원"/>
          <p:cNvSpPr/>
          <p:nvPr/>
        </p:nvSpPr>
        <p:spPr>
          <a:xfrm>
            <a:off x="6534150" y="3105150"/>
            <a:ext cx="85726" cy="85726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0" name="제목 특성은 순위화 성능 개선에 일부 기여하지만 모델 전체를 바꾸지는 못했다."/>
          <p:cNvSpPr txBox="1"/>
          <p:nvPr/>
        </p:nvSpPr>
        <p:spPr>
          <a:xfrm>
            <a:off x="6743700" y="3028950"/>
            <a:ext cx="3790950" cy="42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제목 특성은 순위화 성능 개선에 일부 기여하지만 모델 전체를 바꾸지는 못했다.</a:t>
            </a:r>
          </a:p>
        </p:txBody>
      </p:sp>
      <p:sp>
        <p:nvSpPr>
          <p:cNvPr id="391" name="원"/>
          <p:cNvSpPr/>
          <p:nvPr/>
        </p:nvSpPr>
        <p:spPr>
          <a:xfrm>
            <a:off x="6534150" y="3733800"/>
            <a:ext cx="85726" cy="85726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2" name="장르와 개봉 시점은 단독 요인이라기보다 다른 메타데이터와 함께 해석해야 한다."/>
          <p:cNvSpPr txBox="1"/>
          <p:nvPr/>
        </p:nvSpPr>
        <p:spPr>
          <a:xfrm>
            <a:off x="6743700" y="3657600"/>
            <a:ext cx="3790950" cy="42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장르와 개봉 시점은 단독 요인이라기보다 다른 메타데이터와 함께 해석해야 한다.</a:t>
            </a:r>
          </a:p>
        </p:txBody>
      </p:sp>
      <p:sp>
        <p:nvSpPr>
          <p:cNvPr id="393" name="모서리가 둥근 직사각형"/>
          <p:cNvSpPr/>
          <p:nvPr/>
        </p:nvSpPr>
        <p:spPr>
          <a:xfrm>
            <a:off x="6438900" y="4629150"/>
            <a:ext cx="4000500" cy="476250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4" name="장르와 개봉 시점은 다음 장에서 별도 패턴으로 확인한다."/>
          <p:cNvSpPr txBox="1"/>
          <p:nvPr/>
        </p:nvSpPr>
        <p:spPr>
          <a:xfrm>
            <a:off x="6629400" y="4772024"/>
            <a:ext cx="36195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12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장르와 개봉 시점은 다음 장에서 별도 패턴으로 확인한다.</a:t>
            </a:r>
          </a:p>
        </p:txBody>
      </p:sp>
      <p:sp>
        <p:nvSpPr>
          <p:cNvPr id="395" name="출처: KOBIS/TMDB 데이터, 프로젝트 결과보고서(2026.06)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KOBIS/TMDB 데이터, 프로젝트 결과보고서(2026.06)</a:t>
            </a:r>
          </a:p>
        </p:txBody>
      </p:sp>
      <p:sp>
        <p:nvSpPr>
          <p:cNvPr id="396" name="13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13 / 16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성공 요인 2"/>
          <p:cNvSpPr txBox="1"/>
          <p:nvPr/>
        </p:nvSpPr>
        <p:spPr>
          <a:xfrm>
            <a:off x="609600" y="361950"/>
            <a:ext cx="7239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성공 요인 2</a:t>
            </a:r>
          </a:p>
        </p:txBody>
      </p:sp>
      <p:sp>
        <p:nvSpPr>
          <p:cNvPr id="399" name="장르와 개봉 시기는 성공 랭크 분포의 보조 패턴이다"/>
          <p:cNvSpPr txBox="1"/>
          <p:nvPr/>
        </p:nvSpPr>
        <p:spPr>
          <a:xfrm>
            <a:off x="609600" y="628650"/>
            <a:ext cx="97155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장르와 개봉 시기는 성공 랭크 분포의 보조 패턴이다</a:t>
            </a:r>
          </a:p>
        </p:txBody>
      </p:sp>
      <p:sp>
        <p:nvSpPr>
          <p:cNvPr id="400" name="선"/>
          <p:cNvSpPr/>
          <p:nvPr/>
        </p:nvSpPr>
        <p:spPr>
          <a:xfrm>
            <a:off x="609600" y="1219200"/>
            <a:ext cx="1066801" cy="0"/>
          </a:xfrm>
          <a:prstGeom prst="line">
            <a:avLst/>
          </a:prstGeom>
          <a:ln w="28575">
            <a:solidFill>
              <a:srgbClr val="1D4E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모서리가 둥근 직사각형"/>
          <p:cNvSpPr/>
          <p:nvPr/>
        </p:nvSpPr>
        <p:spPr>
          <a:xfrm>
            <a:off x="609600" y="1504950"/>
            <a:ext cx="5143500" cy="373380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402" name="image13.png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08258"/>
            <a:ext cx="4838700" cy="3003332"/>
          </a:xfrm>
          <a:prstGeom prst="rect">
            <a:avLst/>
          </a:prstGeom>
          <a:ln w="12700">
            <a:miter lim="400000"/>
          </a:ln>
        </p:spPr>
      </p:pic>
      <p:sp>
        <p:nvSpPr>
          <p:cNvPr id="403" name="장르별 성공도 랭크 분포"/>
          <p:cNvSpPr txBox="1"/>
          <p:nvPr/>
        </p:nvSpPr>
        <p:spPr>
          <a:xfrm>
            <a:off x="781050" y="4972050"/>
            <a:ext cx="48006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장르별 성공도 랭크 분포</a:t>
            </a:r>
          </a:p>
        </p:txBody>
      </p:sp>
      <p:sp>
        <p:nvSpPr>
          <p:cNvPr id="404" name="모서리가 둥근 직사각형"/>
          <p:cNvSpPr/>
          <p:nvPr/>
        </p:nvSpPr>
        <p:spPr>
          <a:xfrm>
            <a:off x="6096000" y="1504950"/>
            <a:ext cx="5143500" cy="373380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405" name="image14.png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793" y="1657350"/>
            <a:ext cx="4545914" cy="3105150"/>
          </a:xfrm>
          <a:prstGeom prst="rect">
            <a:avLst/>
          </a:prstGeom>
          <a:ln w="12700">
            <a:miter lim="400000"/>
          </a:ln>
        </p:spPr>
      </p:pic>
      <p:sp>
        <p:nvSpPr>
          <p:cNvPr id="406" name="개봉 월별 성공도 랭크 분포"/>
          <p:cNvSpPr txBox="1"/>
          <p:nvPr/>
        </p:nvSpPr>
        <p:spPr>
          <a:xfrm>
            <a:off x="6267450" y="4972050"/>
            <a:ext cx="48006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개봉 월별 성공도 랭크 분포</a:t>
            </a:r>
          </a:p>
        </p:txBody>
      </p:sp>
      <p:sp>
        <p:nvSpPr>
          <p:cNvPr id="407" name="모서리가 둥근 직사각형"/>
          <p:cNvSpPr/>
          <p:nvPr/>
        </p:nvSpPr>
        <p:spPr>
          <a:xfrm>
            <a:off x="914400" y="5581650"/>
            <a:ext cx="4476750" cy="438150"/>
          </a:xfrm>
          <a:prstGeom prst="roundRect">
            <a:avLst>
              <a:gd name="adj" fmla="val 26087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8" name="장르는 흥행 경향을 설명하는 보조 축이지만 표본 수 차이를 함께 봐야 한다."/>
          <p:cNvSpPr txBox="1"/>
          <p:nvPr/>
        </p:nvSpPr>
        <p:spPr>
          <a:xfrm>
            <a:off x="1104900" y="5600700"/>
            <a:ext cx="4095750" cy="400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1200">
                <a:solidFill>
                  <a:srgbClr val="0F766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장르는 흥행 경향을 설명하는 보조 축이지만 표본 수 차이를 함께 봐야 한다.</a:t>
            </a:r>
          </a:p>
        </p:txBody>
      </p:sp>
      <p:sp>
        <p:nvSpPr>
          <p:cNvPr id="409" name="모서리가 둥근 직사각형"/>
          <p:cNvSpPr/>
          <p:nvPr/>
        </p:nvSpPr>
        <p:spPr>
          <a:xfrm>
            <a:off x="6705600" y="5581650"/>
            <a:ext cx="4000500" cy="438150"/>
          </a:xfrm>
          <a:prstGeom prst="roundRect">
            <a:avLst>
              <a:gd name="adj" fmla="val 26087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0" name="개봉월은 시즌 효과 가능성을 보여주지만 단독 인과로 해석하기 어렵다."/>
          <p:cNvSpPr txBox="1"/>
          <p:nvPr/>
        </p:nvSpPr>
        <p:spPr>
          <a:xfrm>
            <a:off x="6896100" y="5600700"/>
            <a:ext cx="3619500" cy="400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1200">
                <a:solidFill>
                  <a:srgbClr val="D97706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개봉월은 시즌 효과 가능성을 보여주지만 단독 인과로 해석하기 어렵다.</a:t>
            </a:r>
          </a:p>
        </p:txBody>
      </p:sp>
      <p:sp>
        <p:nvSpPr>
          <p:cNvPr id="411" name="출처: KOBIS/TMDB 데이터, 프로젝트 결과보고서(2026.06)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KOBIS/TMDB 데이터, 프로젝트 결과보고서(2026.06)</a:t>
            </a:r>
          </a:p>
        </p:txBody>
      </p:sp>
      <p:sp>
        <p:nvSpPr>
          <p:cNvPr id="412" name="14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14 / 16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성공 요인 3"/>
          <p:cNvSpPr txBox="1"/>
          <p:nvPr/>
        </p:nvSpPr>
        <p:spPr>
          <a:xfrm>
            <a:off x="609600" y="361950"/>
            <a:ext cx="7239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성공 요인 3</a:t>
            </a:r>
          </a:p>
        </p:txBody>
      </p:sp>
      <p:sp>
        <p:nvSpPr>
          <p:cNvPr id="415" name="포스터·배우·제작비는 보조 신호로 활용 가능하다"/>
          <p:cNvSpPr txBox="1"/>
          <p:nvPr/>
        </p:nvSpPr>
        <p:spPr>
          <a:xfrm>
            <a:off x="609600" y="628650"/>
            <a:ext cx="97155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포스터·배우·제작비는 보조 신호로 활용 가능하다</a:t>
            </a:r>
          </a:p>
        </p:txBody>
      </p:sp>
      <p:sp>
        <p:nvSpPr>
          <p:cNvPr id="416" name="선"/>
          <p:cNvSpPr/>
          <p:nvPr/>
        </p:nvSpPr>
        <p:spPr>
          <a:xfrm>
            <a:off x="609600" y="1219200"/>
            <a:ext cx="1066801" cy="0"/>
          </a:xfrm>
          <a:prstGeom prst="line">
            <a:avLst/>
          </a:prstGeom>
          <a:ln w="28575">
            <a:solidFill>
              <a:srgbClr val="1D4E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7" name="모서리가 둥근 직사각형"/>
          <p:cNvSpPr/>
          <p:nvPr/>
        </p:nvSpPr>
        <p:spPr>
          <a:xfrm>
            <a:off x="609600" y="1504950"/>
            <a:ext cx="33337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418" name="image15.png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09" y="1657350"/>
            <a:ext cx="2438732" cy="175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9" name="포스터 밝기·채도와 흥행 기준"/>
          <p:cNvSpPr txBox="1"/>
          <p:nvPr/>
        </p:nvSpPr>
        <p:spPr>
          <a:xfrm>
            <a:off x="781050" y="3619500"/>
            <a:ext cx="299085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포스터 밝기·채도와 흥행 기준</a:t>
            </a:r>
          </a:p>
        </p:txBody>
      </p:sp>
      <p:sp>
        <p:nvSpPr>
          <p:cNvPr id="420" name="모서리가 둥근 직사각형"/>
          <p:cNvSpPr/>
          <p:nvPr/>
        </p:nvSpPr>
        <p:spPr>
          <a:xfrm>
            <a:off x="4419600" y="1504950"/>
            <a:ext cx="33337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421" name="image16.png" descr="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072" y="1657350"/>
            <a:ext cx="2940804" cy="175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22" name="출연진 빈도 기반 500만 돌파 신호"/>
          <p:cNvSpPr txBox="1"/>
          <p:nvPr/>
        </p:nvSpPr>
        <p:spPr>
          <a:xfrm>
            <a:off x="4591050" y="3619500"/>
            <a:ext cx="299085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출연진 빈도 기반 500만 돌파 신호</a:t>
            </a:r>
          </a:p>
        </p:txBody>
      </p:sp>
      <p:sp>
        <p:nvSpPr>
          <p:cNvPr id="423" name="모서리가 둥근 직사각형"/>
          <p:cNvSpPr/>
          <p:nvPr/>
        </p:nvSpPr>
        <p:spPr>
          <a:xfrm>
            <a:off x="8229600" y="1504950"/>
            <a:ext cx="33337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424" name="image17.png" descr="image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1765" y="1657350"/>
            <a:ext cx="2769420" cy="175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25" name="제작비와 관객 수의 군집 구조"/>
          <p:cNvSpPr txBox="1"/>
          <p:nvPr/>
        </p:nvSpPr>
        <p:spPr>
          <a:xfrm>
            <a:off x="8401050" y="3619500"/>
            <a:ext cx="299085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8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제작비와 관객 수의 군집 구조</a:t>
            </a:r>
          </a:p>
        </p:txBody>
      </p:sp>
      <p:sp>
        <p:nvSpPr>
          <p:cNvPr id="426" name="모서리가 둥근 직사각형"/>
          <p:cNvSpPr/>
          <p:nvPr/>
        </p:nvSpPr>
        <p:spPr>
          <a:xfrm>
            <a:off x="609600" y="4305300"/>
            <a:ext cx="109537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종합 해석"/>
          <p:cNvSpPr txBox="1"/>
          <p:nvPr/>
        </p:nvSpPr>
        <p:spPr>
          <a:xfrm>
            <a:off x="914400" y="4629150"/>
            <a:ext cx="13335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7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종합 해석</a:t>
            </a:r>
          </a:p>
        </p:txBody>
      </p:sp>
      <p:sp>
        <p:nvSpPr>
          <p:cNvPr id="428" name="원"/>
          <p:cNvSpPr/>
          <p:nvPr/>
        </p:nvSpPr>
        <p:spPr>
          <a:xfrm>
            <a:off x="2476500" y="4591050"/>
            <a:ext cx="85726" cy="85726"/>
          </a:xfrm>
          <a:prstGeom prst="ellipse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포스터 저수준 특성은 일부 변수 중요도에 포함되지만 단독 성능 개선은 제한적이다."/>
          <p:cNvSpPr txBox="1"/>
          <p:nvPr/>
        </p:nvSpPr>
        <p:spPr>
          <a:xfrm>
            <a:off x="2686050" y="4514850"/>
            <a:ext cx="7886700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포스터 저수준 특성은 일부 변수 중요도에 포함되지만 단독 성능 개선은 제한적이다.</a:t>
            </a:r>
          </a:p>
        </p:txBody>
      </p:sp>
      <p:sp>
        <p:nvSpPr>
          <p:cNvPr id="430" name="원"/>
          <p:cNvSpPr/>
          <p:nvPr/>
        </p:nvSpPr>
        <p:spPr>
          <a:xfrm>
            <a:off x="2476500" y="4914900"/>
            <a:ext cx="85726" cy="85726"/>
          </a:xfrm>
          <a:prstGeom prst="ellipse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배우 관련 신호는 해석 가능성이 있지만 표본 수와 출연 빈도 편향을 함께 고려해야 한다."/>
          <p:cNvSpPr txBox="1"/>
          <p:nvPr/>
        </p:nvSpPr>
        <p:spPr>
          <a:xfrm>
            <a:off x="2686050" y="4838700"/>
            <a:ext cx="7886700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배우 관련 신호는 해석 가능성이 있지만 표본 수와 출연 빈도 편향을 함께 고려해야 한다.</a:t>
            </a:r>
          </a:p>
        </p:txBody>
      </p:sp>
      <p:sp>
        <p:nvSpPr>
          <p:cNvPr id="432" name="원"/>
          <p:cNvSpPr/>
          <p:nvPr/>
        </p:nvSpPr>
        <p:spPr>
          <a:xfrm>
            <a:off x="2476500" y="5238750"/>
            <a:ext cx="85726" cy="85726"/>
          </a:xfrm>
          <a:prstGeom prst="ellipse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3" name="제작비는 흥행 규모와 관련성이 있지만 결측과 극단값 영향이 커 보정이 필요하다."/>
          <p:cNvSpPr txBox="1"/>
          <p:nvPr/>
        </p:nvSpPr>
        <p:spPr>
          <a:xfrm>
            <a:off x="2686050" y="5162550"/>
            <a:ext cx="7886700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제작비는 흥행 규모와 관련성이 있지만 결측과 극단값 영향이 커 보정이 필요하다.</a:t>
            </a:r>
          </a:p>
        </p:txBody>
      </p:sp>
      <p:sp>
        <p:nvSpPr>
          <p:cNvPr id="434" name="출처: KOBIS/TMDB 데이터, 프로젝트 결과보고서(2026.06)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KOBIS/TMDB 데이터, 프로젝트 결과보고서(2026.06)</a:t>
            </a:r>
          </a:p>
        </p:txBody>
      </p:sp>
      <p:sp>
        <p:nvSpPr>
          <p:cNvPr id="435" name="15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15 / 16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결론 및 개선 방향"/>
          <p:cNvSpPr txBox="1"/>
          <p:nvPr/>
        </p:nvSpPr>
        <p:spPr>
          <a:xfrm>
            <a:off x="609600" y="361950"/>
            <a:ext cx="723900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결론 및 개선 방향</a:t>
            </a:r>
          </a:p>
        </p:txBody>
      </p:sp>
      <p:sp>
        <p:nvSpPr>
          <p:cNvPr id="438" name="결론은 RF 기준선은 유효하지만 데이터 확장이 성능 개선의 핵심이다"/>
          <p:cNvSpPr txBox="1"/>
          <p:nvPr/>
        </p:nvSpPr>
        <p:spPr>
          <a:xfrm>
            <a:off x="609600" y="628650"/>
            <a:ext cx="97155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2500">
                <a:solidFill>
                  <a:srgbClr val="111827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결론은 RF 기준선은 유효하지만 데이터 확장이 성능 개선의 핵심이다</a:t>
            </a:r>
          </a:p>
        </p:txBody>
      </p:sp>
      <p:sp>
        <p:nvSpPr>
          <p:cNvPr id="439" name="선"/>
          <p:cNvSpPr/>
          <p:nvPr/>
        </p:nvSpPr>
        <p:spPr>
          <a:xfrm>
            <a:off x="609600" y="1219200"/>
            <a:ext cx="1066801" cy="0"/>
          </a:xfrm>
          <a:prstGeom prst="line">
            <a:avLst/>
          </a:prstGeom>
          <a:ln w="28575">
            <a:solidFill>
              <a:srgbClr val="1D4E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0" name="모서리가 둥근 직사각형"/>
          <p:cNvSpPr/>
          <p:nvPr/>
        </p:nvSpPr>
        <p:spPr>
          <a:xfrm>
            <a:off x="609600" y="1524000"/>
            <a:ext cx="5143500" cy="337185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441" name="핵심 결론"/>
          <p:cNvSpPr txBox="1"/>
          <p:nvPr/>
        </p:nvSpPr>
        <p:spPr>
          <a:xfrm>
            <a:off x="914400" y="1885950"/>
            <a:ext cx="1714500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>
                <a:solidFill>
                  <a:srgbClr val="1D4ED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핵심 결론</a:t>
            </a:r>
          </a:p>
        </p:txBody>
      </p:sp>
      <p:sp>
        <p:nvSpPr>
          <p:cNvPr id="442" name="원"/>
          <p:cNvSpPr/>
          <p:nvPr/>
        </p:nvSpPr>
        <p:spPr>
          <a:xfrm>
            <a:off x="1009650" y="2533650"/>
            <a:ext cx="85726" cy="85726"/>
          </a:xfrm>
          <a:prstGeom prst="ellipse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3" name="Random Forest는 분류 문제에서 가장 안정적인 기준 모델이었다."/>
          <p:cNvSpPr txBox="1"/>
          <p:nvPr/>
        </p:nvSpPr>
        <p:spPr>
          <a:xfrm>
            <a:off x="1219200" y="2457450"/>
            <a:ext cx="3790950" cy="42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Random Forest는 분류 문제에서 가장 안정적인 기준 모델이었다.</a:t>
            </a:r>
          </a:p>
        </p:txBody>
      </p:sp>
      <p:sp>
        <p:nvSpPr>
          <p:cNvPr id="444" name="원"/>
          <p:cNvSpPr/>
          <p:nvPr/>
        </p:nvSpPr>
        <p:spPr>
          <a:xfrm>
            <a:off x="1009650" y="3181350"/>
            <a:ext cx="85726" cy="85726"/>
          </a:xfrm>
          <a:prstGeom prst="ellipse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제목과 포스터는 보조 신호로 의미가 있으나 대폭적인 성능 향상은 제한적이었다."/>
          <p:cNvSpPr txBox="1"/>
          <p:nvPr/>
        </p:nvSpPr>
        <p:spPr>
          <a:xfrm>
            <a:off x="1219200" y="3105150"/>
            <a:ext cx="3790950" cy="42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제목과 포스터는 보조 신호로 의미가 있으나 대폭적인 성능 향상은 제한적이었다.</a:t>
            </a:r>
          </a:p>
        </p:txBody>
      </p:sp>
      <p:sp>
        <p:nvSpPr>
          <p:cNvPr id="446" name="원"/>
          <p:cNvSpPr/>
          <p:nvPr/>
        </p:nvSpPr>
        <p:spPr>
          <a:xfrm>
            <a:off x="1009650" y="3829050"/>
            <a:ext cx="85726" cy="85726"/>
          </a:xfrm>
          <a:prstGeom prst="ellipse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관객 수 회귀와 랭크 예측은 데이터 분포와 클래스 경계 문제의 영향을 크게 받았다."/>
          <p:cNvSpPr txBox="1"/>
          <p:nvPr/>
        </p:nvSpPr>
        <p:spPr>
          <a:xfrm>
            <a:off x="1219200" y="3752850"/>
            <a:ext cx="3790950" cy="42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관객 수 회귀와 랭크 예측은 데이터 분포와 클래스 경계 문제의 영향을 크게 받았다.</a:t>
            </a:r>
          </a:p>
        </p:txBody>
      </p:sp>
      <p:sp>
        <p:nvSpPr>
          <p:cNvPr id="448" name="모서리가 둥근 직사각형"/>
          <p:cNvSpPr/>
          <p:nvPr/>
        </p:nvSpPr>
        <p:spPr>
          <a:xfrm>
            <a:off x="6438900" y="1524000"/>
            <a:ext cx="5143500" cy="337185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개선 방향"/>
          <p:cNvSpPr txBox="1"/>
          <p:nvPr/>
        </p:nvSpPr>
        <p:spPr>
          <a:xfrm>
            <a:off x="6743700" y="1885950"/>
            <a:ext cx="1714500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>
                <a:solidFill>
                  <a:srgbClr val="DC2626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개선 방향</a:t>
            </a:r>
          </a:p>
        </p:txBody>
      </p:sp>
      <p:sp>
        <p:nvSpPr>
          <p:cNvPr id="450" name="원"/>
          <p:cNvSpPr/>
          <p:nvPr/>
        </p:nvSpPr>
        <p:spPr>
          <a:xfrm>
            <a:off x="6838950" y="2533650"/>
            <a:ext cx="85726" cy="85726"/>
          </a:xfrm>
          <a:prstGeom prst="ellipse">
            <a:avLst/>
          </a:prstGeom>
          <a:solidFill>
            <a:srgbClr val="DC262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영화 코드 기반 매칭으로 KOBIS-TMDB 연결 품질을 높인다."/>
          <p:cNvSpPr txBox="1"/>
          <p:nvPr/>
        </p:nvSpPr>
        <p:spPr>
          <a:xfrm>
            <a:off x="7048500" y="2457450"/>
            <a:ext cx="3790950" cy="42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영화 코드 기반 매칭으로 KOBIS-TMDB 연결 품질을 높인다.</a:t>
            </a:r>
          </a:p>
        </p:txBody>
      </p:sp>
      <p:sp>
        <p:nvSpPr>
          <p:cNvPr id="452" name="원"/>
          <p:cNvSpPr/>
          <p:nvPr/>
        </p:nvSpPr>
        <p:spPr>
          <a:xfrm>
            <a:off x="6838950" y="3181350"/>
            <a:ext cx="85726" cy="85726"/>
          </a:xfrm>
          <a:prstGeom prst="ellipse">
            <a:avLst/>
          </a:prstGeom>
          <a:solidFill>
            <a:srgbClr val="DC262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3" name="CLIP/CNN 임베딩으로 포스터 표현력을 확장한다."/>
          <p:cNvSpPr txBox="1"/>
          <p:nvPr/>
        </p:nvSpPr>
        <p:spPr>
          <a:xfrm>
            <a:off x="7048500" y="3105150"/>
            <a:ext cx="379095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CLIP/CNN 임베딩으로 포스터 표현력을 확장한다.</a:t>
            </a:r>
          </a:p>
        </p:txBody>
      </p:sp>
      <p:sp>
        <p:nvSpPr>
          <p:cNvPr id="454" name="원"/>
          <p:cNvSpPr/>
          <p:nvPr/>
        </p:nvSpPr>
        <p:spPr>
          <a:xfrm>
            <a:off x="6838950" y="3829050"/>
            <a:ext cx="85726" cy="85726"/>
          </a:xfrm>
          <a:prstGeom prst="ellipse">
            <a:avLst/>
          </a:prstGeom>
          <a:solidFill>
            <a:srgbClr val="DC2626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5" name="교차검증, 클래스 불균형 보정, 임계값 조정으로 평가 안정성을 높인다."/>
          <p:cNvSpPr txBox="1"/>
          <p:nvPr/>
        </p:nvSpPr>
        <p:spPr>
          <a:xfrm>
            <a:off x="7048500" y="3752850"/>
            <a:ext cx="3790950" cy="42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111827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교차검증, 클래스 불균형 보정, 임계값 조정으로 평가 안정성을 높인다.</a:t>
            </a:r>
          </a:p>
        </p:txBody>
      </p:sp>
      <p:sp>
        <p:nvSpPr>
          <p:cNvPr id="456" name="모서리가 둥근 직사각형"/>
          <p:cNvSpPr/>
          <p:nvPr/>
        </p:nvSpPr>
        <p:spPr>
          <a:xfrm>
            <a:off x="609600" y="5238750"/>
            <a:ext cx="109728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>
            <a:solidFill>
              <a:srgbClr val="D8DEE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457" name="참고 자료: KOBIS 영화관입장권통합전산망, TMDB API, scikit-learn 공식 문서, Pillow 이미지 처리 라이브러리"/>
          <p:cNvSpPr txBox="1"/>
          <p:nvPr/>
        </p:nvSpPr>
        <p:spPr>
          <a:xfrm>
            <a:off x="914400" y="5467350"/>
            <a:ext cx="1036320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1100">
                <a:solidFill>
                  <a:srgbClr val="334155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참고 자료: KOBIS 영화관입장권통합전산망, TMDB API, scikit-learn 공식 문서, Pillow 이미지 처리 라이브러리</a:t>
            </a:r>
          </a:p>
        </p:txBody>
      </p:sp>
      <p:sp>
        <p:nvSpPr>
          <p:cNvPr id="458" name="출처: 프로젝트 결과보고서 및 outputs/metrics CSV, KOBIS/TMDB/scikit-learn/Pillow"/>
          <p:cNvSpPr txBox="1"/>
          <p:nvPr/>
        </p:nvSpPr>
        <p:spPr>
          <a:xfrm>
            <a:off x="609600" y="6572250"/>
            <a:ext cx="80010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64748B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출처: 프로젝트 결과보고서 및 outputs/metrics CSV, KOBIS/TMDB/scikit-learn/Pillow</a:t>
            </a:r>
          </a:p>
        </p:txBody>
      </p:sp>
      <p:sp>
        <p:nvSpPr>
          <p:cNvPr id="459" name="16 / 16"/>
          <p:cNvSpPr txBox="1"/>
          <p:nvPr/>
        </p:nvSpPr>
        <p:spPr>
          <a:xfrm>
            <a:off x="10839450" y="6515100"/>
            <a:ext cx="742950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0000"/>
              </a:lnSpc>
              <a:defRPr sz="900">
                <a:solidFill>
                  <a:srgbClr val="64748B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16 / 16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1388</Words>
  <Application>Microsoft Office PowerPoint</Application>
  <PresentationFormat>와이드스크린</PresentationFormat>
  <Paragraphs>264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Helvetica Neue</vt:lpstr>
      <vt:lpstr>Calibri</vt:lpstr>
      <vt:lpstr>Calibri Light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설주현</dc:creator>
  <cp:lastModifiedBy>주현 설</cp:lastModifiedBy>
  <cp:revision>2</cp:revision>
  <dcterms:modified xsi:type="dcterms:W3CDTF">2026-06-19T05:18:31Z</dcterms:modified>
</cp:coreProperties>
</file>