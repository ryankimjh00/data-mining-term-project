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e9ccafb6c34195" /><Relationship Type="http://schemas.openxmlformats.org/officeDocument/2006/relationships/extended-properties" Target="/docProps/app.xml" Id="R46b54ef901754b12" /><Relationship Type="http://schemas.openxmlformats.org/officeDocument/2006/relationships/officeDocument" Target="/ppt/presentation.xml" Id="R537a16bf903e4e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fa44bd577b471a"/>
  </p:sldMasterIdLst>
  <p:notesMasterIdLst>
    <p:notesMasterId xmlns:r="http://schemas.openxmlformats.org/officeDocument/2006/relationships" r:id="R3b1e785e2c474343"/>
  </p:notesMasterIdLst>
  <p:sldIdLst>
    <p:sldId xmlns:r="http://schemas.openxmlformats.org/officeDocument/2006/relationships" id="256" r:id="R173cf726f78a44cf"/>
    <p:sldId xmlns:r="http://schemas.openxmlformats.org/officeDocument/2006/relationships" id="257" r:id="R9d2f2e67ab6448db"/>
    <p:sldId xmlns:r="http://schemas.openxmlformats.org/officeDocument/2006/relationships" id="258" r:id="Rd7f613a673fe4e99"/>
    <p:sldId xmlns:r="http://schemas.openxmlformats.org/officeDocument/2006/relationships" id="259" r:id="Rdd9b99f0e48d44b1"/>
    <p:sldId xmlns:r="http://schemas.openxmlformats.org/officeDocument/2006/relationships" id="260" r:id="R1b81a8d362d94c88"/>
    <p:sldId xmlns:r="http://schemas.openxmlformats.org/officeDocument/2006/relationships" id="261" r:id="Rf45555b5410144b9"/>
    <p:sldId xmlns:r="http://schemas.openxmlformats.org/officeDocument/2006/relationships" id="262" r:id="Rec13aaf299cf45a2"/>
    <p:sldId xmlns:r="http://schemas.openxmlformats.org/officeDocument/2006/relationships" id="263" r:id="R9ba2baab7f1b4f0e"/>
    <p:sldId xmlns:r="http://schemas.openxmlformats.org/officeDocument/2006/relationships" id="264" r:id="Ra321bd38bd59469c"/>
    <p:sldId xmlns:r="http://schemas.openxmlformats.org/officeDocument/2006/relationships" id="265" r:id="R52080ac5d8e44db1"/>
    <p:sldId xmlns:r="http://schemas.openxmlformats.org/officeDocument/2006/relationships" id="266" r:id="Rfc76ae98e18d4887"/>
    <p:sldId xmlns:r="http://schemas.openxmlformats.org/officeDocument/2006/relationships" id="267" r:id="R725a31dc3d9849ee"/>
    <p:sldId xmlns:r="http://schemas.openxmlformats.org/officeDocument/2006/relationships" id="268" r:id="Rbb6b97b28d0c4754"/>
    <p:sldId xmlns:r="http://schemas.openxmlformats.org/officeDocument/2006/relationships" id="269" r:id="R9d3eaccc95ca458e"/>
    <p:sldId xmlns:r="http://schemas.openxmlformats.org/officeDocument/2006/relationships" id="270" r:id="R209d02268b6142a8"/>
    <p:sldId xmlns:r="http://schemas.openxmlformats.org/officeDocument/2006/relationships" id="271" r:id="R4bf87c55d3c642b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7bdd228bca4a9d" /><Relationship Type="http://schemas.openxmlformats.org/officeDocument/2006/relationships/slideMaster" Target="/ppt/slideMasters/slideMaster1.xml" Id="R49fa44bd577b471a" /><Relationship Type="http://schemas.openxmlformats.org/officeDocument/2006/relationships/notesMaster" Target="/ppt/notesMasters/notesMaster1.xml" Id="R3b1e785e2c474343" /><Relationship Type="http://schemas.openxmlformats.org/officeDocument/2006/relationships/presProps" Target="/ppt/presProps.xml" Id="Rb683021081464e8b" /><Relationship Type="http://schemas.openxmlformats.org/officeDocument/2006/relationships/tableStyles" Target="/ppt/tableStyles.xml" Id="R1388072ea5eb4649" /><Relationship Type="http://schemas.openxmlformats.org/officeDocument/2006/relationships/slide" Target="/ppt/slides/slide1.xml" Id="R173cf726f78a44cf" /><Relationship Type="http://schemas.openxmlformats.org/officeDocument/2006/relationships/slide" Target="/ppt/slides/slide2.xml" Id="R9d2f2e67ab6448db" /><Relationship Type="http://schemas.openxmlformats.org/officeDocument/2006/relationships/slide" Target="/ppt/slides/slide3.xml" Id="Rd7f613a673fe4e99" /><Relationship Type="http://schemas.openxmlformats.org/officeDocument/2006/relationships/slide" Target="/ppt/slides/slide4.xml" Id="Rdd9b99f0e48d44b1" /><Relationship Type="http://schemas.openxmlformats.org/officeDocument/2006/relationships/slide" Target="/ppt/slides/slide5.xml" Id="R1b81a8d362d94c88" /><Relationship Type="http://schemas.openxmlformats.org/officeDocument/2006/relationships/slide" Target="/ppt/slides/slide6.xml" Id="Rf45555b5410144b9" /><Relationship Type="http://schemas.openxmlformats.org/officeDocument/2006/relationships/slide" Target="/ppt/slides/slide7.xml" Id="Rec13aaf299cf45a2" /><Relationship Type="http://schemas.openxmlformats.org/officeDocument/2006/relationships/slide" Target="/ppt/slides/slide8.xml" Id="R9ba2baab7f1b4f0e" /><Relationship Type="http://schemas.openxmlformats.org/officeDocument/2006/relationships/slide" Target="/ppt/slides/slide9.xml" Id="Ra321bd38bd59469c" /><Relationship Type="http://schemas.openxmlformats.org/officeDocument/2006/relationships/slide" Target="/ppt/slides/slide10.xml" Id="R52080ac5d8e44db1" /><Relationship Type="http://schemas.openxmlformats.org/officeDocument/2006/relationships/slide" Target="/ppt/slides/slide11.xml" Id="Rfc76ae98e18d4887" /><Relationship Type="http://schemas.openxmlformats.org/officeDocument/2006/relationships/slide" Target="/ppt/slides/slide12.xml" Id="R725a31dc3d9849ee" /><Relationship Type="http://schemas.openxmlformats.org/officeDocument/2006/relationships/slide" Target="/ppt/slides/slide13.xml" Id="Rbb6b97b28d0c4754" /><Relationship Type="http://schemas.openxmlformats.org/officeDocument/2006/relationships/slide" Target="/ppt/slides/slide14.xml" Id="R9d3eaccc95ca458e" /><Relationship Type="http://schemas.openxmlformats.org/officeDocument/2006/relationships/slide" Target="/ppt/slides/slide15.xml" Id="R209d02268b6142a8" /><Relationship Type="http://schemas.openxmlformats.org/officeDocument/2006/relationships/slide" Target="/ppt/slides/slide16.xml" Id="R4bf87c55d3c642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79652995db43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047550e61e4be6" /><Relationship Type="http://schemas.openxmlformats.org/officeDocument/2006/relationships/notesMaster" Target="/ppt/notesMasters/notesMaster1.xml" Id="R4e17919bc6e643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772cfe153c41eb" /><Relationship Type="http://schemas.openxmlformats.org/officeDocument/2006/relationships/notesMaster" Target="/ppt/notesMasters/notesMaster1.xml" Id="R4412ed25cde64b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297e43db4a4585" /><Relationship Type="http://schemas.openxmlformats.org/officeDocument/2006/relationships/notesMaster" Target="/ppt/notesMasters/notesMaster1.xml" Id="R80d5ccc6c33f43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39b8bdb6754650" /><Relationship Type="http://schemas.openxmlformats.org/officeDocument/2006/relationships/notesMaster" Target="/ppt/notesMasters/notesMaster1.xml" Id="R441ce22606fe47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1635f22030425f" /><Relationship Type="http://schemas.openxmlformats.org/officeDocument/2006/relationships/notesMaster" Target="/ppt/notesMasters/notesMaster1.xml" Id="Rc52797aba4ba46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d19574081446b5" /><Relationship Type="http://schemas.openxmlformats.org/officeDocument/2006/relationships/notesMaster" Target="/ppt/notesMasters/notesMaster1.xml" Id="R2492d11824044e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98a14b184448e8" /><Relationship Type="http://schemas.openxmlformats.org/officeDocument/2006/relationships/notesMaster" Target="/ppt/notesMasters/notesMaster1.xml" Id="R6b5b97314ca043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22e871ebf2495b" /><Relationship Type="http://schemas.openxmlformats.org/officeDocument/2006/relationships/notesMaster" Target="/ppt/notesMasters/notesMaster1.xml" Id="R1141bd7c68c9403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6438e471493465c" /><Relationship Type="http://schemas.openxmlformats.org/officeDocument/2006/relationships/notesMaster" Target="/ppt/notesMasters/notesMaster1.xml" Id="R9c1bea36ecc54ad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3c0e88f2624060" /><Relationship Type="http://schemas.openxmlformats.org/officeDocument/2006/relationships/notesMaster" Target="/ppt/notesMasters/notesMaster1.xml" Id="R0e7b4c776f7d418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67d9e48afb4b40" /><Relationship Type="http://schemas.openxmlformats.org/officeDocument/2006/relationships/notesMaster" Target="/ppt/notesMasters/notesMaster1.xml" Id="R8e5aeeee809d443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6c12eec942f4915" /><Relationship Type="http://schemas.openxmlformats.org/officeDocument/2006/relationships/notesMaster" Target="/ppt/notesMasters/notesMaster1.xml" Id="Rc9ff75b42243483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fe3ccc6136a4d74" /><Relationship Type="http://schemas.openxmlformats.org/officeDocument/2006/relationships/notesMaster" Target="/ppt/notesMasters/notesMaster1.xml" Id="R043f54db579142b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a22791df82d4544" /><Relationship Type="http://schemas.openxmlformats.org/officeDocument/2006/relationships/notesMaster" Target="/ppt/notesMasters/notesMaster1.xml" Id="R7b29d2128c6740d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e841cfe42464fb5" /><Relationship Type="http://schemas.openxmlformats.org/officeDocument/2006/relationships/notesMaster" Target="/ppt/notesMasters/notesMaster1.xml" Id="R26275b094770483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fb2df2b71db43ec" /><Relationship Type="http://schemas.openxmlformats.org/officeDocument/2006/relationships/notesMaster" Target="/ppt/notesMasters/notesMaster1.xml" Id="R88ee688d58604f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ba5153c8ee477a" /></Relationships>
</file>

<file path=ppt/slideLayouts/slideLayout1.xml><?xml version="1.0" encoding="utf-8"?>
<p:sldLayout xmlns:p="http://schemas.openxmlformats.org/presentationml/2006/main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슬라이드 번호">
            <a:extLst xmlns:a="http://schemas.openxmlformats.org/drawingml/2006/main">
              <a:ext uri="{FF2B5EF4-FFF2-40B4-BE49-F238E27FC236}">
                <a16:creationId xmlns:a16="http://schemas.microsoft.com/office/drawing/2014/main" id="{161FFE74-E52D-47CA-BB70-75C289755F7E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b2bebac4f34187" /><Relationship Type="http://schemas.openxmlformats.org/officeDocument/2006/relationships/slideLayout" Target="/ppt/slideLayouts/slideLayout1.xml" Id="Rcc6698382b3f4b4b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텍스트">
            <a:extLst xmlns:a="http://schemas.openxmlformats.org/drawingml/2006/main">
              <a:ext uri="{FF2B5EF4-FFF2-40B4-BE49-F238E27FC236}">
                <a16:creationId xmlns:a16="http://schemas.microsoft.com/office/drawing/2014/main" id="{E86EB3D0-7E7A-40C6-863D-EEE8588C2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1844675"/>
            <a:ext cx="10363200" cy="20415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r>
              <a:t>제목 텍스트</a:t>
            </a:r>
          </a:p>
        </p:txBody>
      </p:sp>
      <p:sp>
        <p:nvSpPr>
          <p:cNvPr id="3" name="본문 첫 번째 줄…">
            <a:extLst xmlns:a="http://schemas.openxmlformats.org/drawingml/2006/main">
              <a:ext uri="{FF2B5EF4-FFF2-40B4-BE49-F238E27FC236}">
                <a16:creationId xmlns:a16="http://schemas.microsoft.com/office/drawing/2014/main" id="{5BAD6D67-F28D-4B6A-AAFC-7EFC9DB923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828800" y="3886200"/>
            <a:ext cx="8534400" cy="2971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r>
              <a:t>본문 첫 번째 줄</a:t>
            </a:r>
          </a:p>
          <a:p xmlns:a="http://schemas.openxmlformats.org/drawingml/2006/main">
            <a:pPr>
              <a:buNone/>
            </a:pPr>
            <a:r>
              <a:t>본문 두 번째 줄</a:t>
            </a:r>
          </a:p>
          <a:p xmlns:a="http://schemas.openxmlformats.org/drawingml/2006/main">
            <a:pPr>
              <a:buNone/>
            </a:pPr>
            <a:r>
              <a:t>본문 세 번째 줄</a:t>
            </a:r>
          </a:p>
          <a:p xmlns:a="http://schemas.openxmlformats.org/drawingml/2006/main">
            <a:pPr>
              <a:buNone/>
            </a:pPr>
            <a:r>
              <a:t>본문 네 번째 줄</a:t>
            </a:r>
          </a:p>
          <a:p xmlns:a="http://schemas.openxmlformats.org/drawingml/2006/main">
            <a:pPr>
              <a:buNone/>
            </a:pPr>
            <a:r>
              <a:t>본문 다섯 번째 줄</a:t>
            </a:r>
          </a:p>
        </p:txBody>
      </p:sp>
      <p:sp>
        <p:nvSpPr>
          <p:cNvPr id="4" name="슬라이드 번호">
            <a:extLst xmlns:a="http://schemas.openxmlformats.org/drawingml/2006/main">
              <a:ext uri="{FF2B5EF4-FFF2-40B4-BE49-F238E27FC236}">
                <a16:creationId xmlns:a16="http://schemas.microsoft.com/office/drawing/2014/main" id="{55E87F3A-412D-480E-BD9A-57FABDA5AEE0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5892800" y="6172200"/>
            <a:ext cx="2844800" cy="3683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1200"/>
            </a:lvl1pPr>
          </a:lstStyle>
          <a:p xmlns:a="http://schemas.openxmlformats.org/drawingml/2006/main">
            <a:fld id="{86CB4B4D-7CA3-9044-876B-883B54F8677D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6698382b3f4b4b"/>
  </p:sldLayoutIdLst>
  <p:txStyles>
    <p:titleStyle>
      <a:lvl1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1pPr>
      <a:lvl2pPr xmlns:a="http://schemas.openxmlformats.org/drawingml/2006/main" marL="723900" indent="-2667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2pPr>
      <a:lvl3pPr xmlns:a="http://schemas.openxmlformats.org/drawingml/2006/main" marL="1234439" indent="-320039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3pPr>
      <a:lvl4pPr xmlns:a="http://schemas.openxmlformats.org/drawingml/2006/main" marL="17272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4pPr>
      <a:lvl5pPr xmlns:a="http://schemas.openxmlformats.org/drawingml/2006/main" marL="21844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5pPr>
      <a:lvl6pPr xmlns:a="http://schemas.openxmlformats.org/drawingml/2006/main" marL="26416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6pPr>
      <a:lvl7pPr xmlns:a="http://schemas.openxmlformats.org/drawingml/2006/main" marL="30988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7pPr>
      <a:lvl8pPr xmlns:a="http://schemas.openxmlformats.org/drawingml/2006/main" marL="35560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8pPr>
      <a:lvl9pPr xmlns:a="http://schemas.openxmlformats.org/drawingml/2006/main" marL="40132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9pPr>
    </p:bodyStyle>
    <p:otherStyle>
      <a:lvl1pPr xmlns:a="http://schemas.openxmlformats.org/drawingml/2006/main" marL="0" indent="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indent="4572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indent="9144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indent="13716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indent="18288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indent="22860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indent="27432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indent="32004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indent="36576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595b3961345b8" /><Relationship Type="http://schemas.openxmlformats.org/officeDocument/2006/relationships/image" Target="/ppt/media/image.png" Id="R4f754683d1134f3a" /><Relationship Type="http://schemas.openxmlformats.org/officeDocument/2006/relationships/notesSlide" Target="/ppt/notesSlides/notesSlide1.xml" Id="Rf1f5f914e9b945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6d013afaa4001" /><Relationship Type="http://schemas.openxmlformats.org/officeDocument/2006/relationships/notesSlide" Target="/ppt/notesSlides/notesSlide2.xml" Id="R62321df2ebc648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d24d106cc4769" /><Relationship Type="http://schemas.openxmlformats.org/officeDocument/2006/relationships/notesSlide" Target="/ppt/notesSlides/notesSlide3.xml" Id="R235aa98b0f374e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bbb1911bc24efb" /><Relationship Type="http://schemas.openxmlformats.org/officeDocument/2006/relationships/notesSlide" Target="/ppt/notesSlides/notesSlide4.xml" Id="Rd243505dba304b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b6bdc0e8d49ce" /><Relationship Type="http://schemas.openxmlformats.org/officeDocument/2006/relationships/image" Target="/ppt/media/image2.png" Id="R2ae8942b790b44b8" /><Relationship Type="http://schemas.openxmlformats.org/officeDocument/2006/relationships/image" Target="/ppt/media/image3.png" Id="R63b22f3a1040469a" /><Relationship Type="http://schemas.openxmlformats.org/officeDocument/2006/relationships/notesSlide" Target="/ppt/notesSlides/notesSlide5.xml" Id="R45ab8723a24e4c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d61a8ba4b4c00" /><Relationship Type="http://schemas.openxmlformats.org/officeDocument/2006/relationships/image" Target="/ppt/media/image4.png" Id="Rddb4eb1c0d6b4452" /><Relationship Type="http://schemas.openxmlformats.org/officeDocument/2006/relationships/notesSlide" Target="/ppt/notesSlides/notesSlide6.xml" Id="Rea83ed2ed75841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d7dc054814c72" /><Relationship Type="http://schemas.openxmlformats.org/officeDocument/2006/relationships/notesSlide" Target="/ppt/notesSlides/notesSlide7.xml" Id="R4482173d530144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11e3bdd2934d70" /><Relationship Type="http://schemas.openxmlformats.org/officeDocument/2006/relationships/image" Target="/ppt/media/image5.png" Id="R4a73fa4e923e41e5" /><Relationship Type="http://schemas.openxmlformats.org/officeDocument/2006/relationships/chart" Target="/ppt/slides/charts/chart1.xml" Id="Rc8bdad95aeed4aec" /><Relationship Type="http://schemas.openxmlformats.org/officeDocument/2006/relationships/notesSlide" Target="/ppt/notesSlides/notesSlide8.xml" Id="Rcf7470f4573946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7fe82899e4976" /><Relationship Type="http://schemas.openxmlformats.org/officeDocument/2006/relationships/notesSlide" Target="/ppt/notesSlides/notesSlide9.xml" Id="R2f004470a27a40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b9cabc81874551" /><Relationship Type="http://schemas.openxmlformats.org/officeDocument/2006/relationships/image" Target="/ppt/media/image6.png" Id="Rcbc1d9e94d9f42d5" /><Relationship Type="http://schemas.openxmlformats.org/officeDocument/2006/relationships/image" Target="/ppt/media/image7.png" Id="R5d0cf4c86a724fc6" /><Relationship Type="http://schemas.openxmlformats.org/officeDocument/2006/relationships/notesSlide" Target="/ppt/notesSlides/notesSlide10.xml" Id="R7d4bbab561764d5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1c1e01d364328" /><Relationship Type="http://schemas.openxmlformats.org/officeDocument/2006/relationships/image" Target="/ppt/media/image8.png" Id="R8255c9c09733465e" /><Relationship Type="http://schemas.openxmlformats.org/officeDocument/2006/relationships/image" Target="/ppt/media/image9.png" Id="R9dac6c3a09464402" /><Relationship Type="http://schemas.openxmlformats.org/officeDocument/2006/relationships/notesSlide" Target="/ppt/notesSlides/notesSlide11.xml" Id="R5f1f427c8d6a4cc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45be9e1c94509" /><Relationship Type="http://schemas.openxmlformats.org/officeDocument/2006/relationships/image" Target="/ppt/media/image10.png" Id="R0193e659deb84e77" /><Relationship Type="http://schemas.openxmlformats.org/officeDocument/2006/relationships/image" Target="/ppt/media/image11.png" Id="R0bb6932a590d4494" /><Relationship Type="http://schemas.openxmlformats.org/officeDocument/2006/relationships/notesSlide" Target="/ppt/notesSlides/notesSlide12.xml" Id="R008d8549e3034a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f10de687446a7" /><Relationship Type="http://schemas.openxmlformats.org/officeDocument/2006/relationships/image" Target="/ppt/media/image12.png" Id="Rc34e960077ed403f" /><Relationship Type="http://schemas.openxmlformats.org/officeDocument/2006/relationships/notesSlide" Target="/ppt/notesSlides/notesSlide13.xml" Id="Rb992976397f949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85e2a69464fff" /><Relationship Type="http://schemas.openxmlformats.org/officeDocument/2006/relationships/image" Target="/ppt/media/image13.png" Id="R7511fa7488a94b87" /><Relationship Type="http://schemas.openxmlformats.org/officeDocument/2006/relationships/image" Target="/ppt/media/image14.png" Id="R02c0f80cf7d2491f" /><Relationship Type="http://schemas.openxmlformats.org/officeDocument/2006/relationships/notesSlide" Target="/ppt/notesSlides/notesSlide14.xml" Id="R9b9299ca292742e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3edc1d25104bb3" /><Relationship Type="http://schemas.openxmlformats.org/officeDocument/2006/relationships/image" Target="/ppt/media/image15.png" Id="Rfd150c8396e74be0" /><Relationship Type="http://schemas.openxmlformats.org/officeDocument/2006/relationships/image" Target="/ppt/media/image16.png" Id="Rbd19c08e118f4fa0" /><Relationship Type="http://schemas.openxmlformats.org/officeDocument/2006/relationships/image" Target="/ppt/media/image17.png" Id="R34f0efa21c8541d2" /><Relationship Type="http://schemas.openxmlformats.org/officeDocument/2006/relationships/notesSlide" Target="/ppt/notesSlides/notesSlide15.xml" Id="Rcea978e394de4ba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960da8b704dc8" /><Relationship Type="http://schemas.openxmlformats.org/officeDocument/2006/relationships/notesSlide" Target="/ppt/notesSlides/notesSlide16.xml" Id="Rc27742ff11c24a8a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  <a:ln xmlns:a="http://schemas.openxmlformats.org/drawingml/2006/main">
              <a:noFill/>
            </a:ln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Random Forest</c:v>
                </c:pt>
                <c:pt idx="1">
                  <c:v>Logistic Regression</c:v>
                </c:pt>
                <c:pt idx="2">
                  <c:v>DNN MLP</c:v>
                </c:pt>
                <c:pt idx="3">
                  <c:v>Decision Tree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0.817</c:v>
                </c:pt>
                <c:pt idx="1">
                  <c:v>0.686</c:v>
                </c:pt>
                <c:pt idx="2">
                  <c:v>0.683</c:v>
                </c:pt>
                <c:pt idx="3">
                  <c:v>0.636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19"/>
        <c:overlap val="-27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 rot="-60000000" vert="horz" anchor="ctr" anchorCtr="1"/>
          <a:lstStyle xmlns:a="http://schemas.openxmlformats.org/drawingml/2006/main"/>
          <a:p xmlns:a="http://schemas.openxmlformats.org/drawingml/2006/main">
            <a:pPr>
              <a:defRPr sz="1197" b="0" i="0" u="none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lt"/>
                <a:cs typeface="+mn-lt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 cmpd="sng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>
            <a:noFill/>
          </a:ln>
        </c:spPr>
        <c:txPr>
          <a:bodyPr xmlns:a="http://schemas.openxmlformats.org/drawingml/2006/main" rot="-60000000" vert="horz" anchor="ctr" anchorCtr="1"/>
          <a:lstStyle xmlns:a="http://schemas.openxmlformats.org/drawingml/2006/main"/>
          <a:p xmlns:a="http://schemas.openxmlformats.org/drawingml/2006/main">
            <a:pPr>
              <a:defRPr sz="1197" b="0" i="0" u="none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lt"/>
                <a:cs typeface="+mn-lt"/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  <c:spPr>
        <a:noFill xmlns:a="http://schemas.openxmlformats.org/drawingml/2006/main"/>
      </c:spPr>
      <c:txPr>
        <a:bodyPr xmlns:a="http://schemas.openxmlformats.org/drawingml/2006/main" rot="0" vert="horz" anchor="ctr" anchorCtr="1"/>
        <a:lstStyle xmlns:a="http://schemas.openxmlformats.org/drawingml/2006/main"/>
        <a:p xmlns:a="http://schemas.openxmlformats.org/drawingml/2006/main">
          <a:pPr>
            <a:defRPr sz="1197" b="0" i="0" u="none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lt"/>
              <a:cs typeface="+mn-lt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6DBD878D-C133-4DEF-A418-9ED824C2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17716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>
            <a:solidFill>
              <a:srgbClr val="DBEAFE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1" name="DATA MINING PROJECT">
            <a:extLst xmlns:a="http://schemas.openxmlformats.org/drawingml/2006/main">
              <a:ext uri="{FF2B5EF4-FFF2-40B4-BE49-F238E27FC236}">
                <a16:creationId xmlns:a16="http://schemas.microsoft.com/office/drawing/2014/main" id="{8A0B5765-15C5-4377-8D7F-C4A336EA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5430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DATA MINING PROJECT</a:t>
            </a:r>
          </a:p>
        </p:txBody>
      </p:sp>
      <p:sp>
        <p:nvSpPr>
          <p:cNvPr id="22" name="국내 영화 흥행 여부 예측…">
            <a:extLst xmlns:a="http://schemas.openxmlformats.org/drawingml/2006/main">
              <a:ext uri="{FF2B5EF4-FFF2-40B4-BE49-F238E27FC236}">
                <a16:creationId xmlns:a16="http://schemas.microsoft.com/office/drawing/2014/main" id="{BDC0A968-AFBB-4A58-8F70-38590A05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5905500" cy="128016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40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pPr>
            <a:r>
              <a:t>국내 영화 흥행 여부 예측</a:t>
            </a:r>
          </a:p>
          <a:p xmlns:a="http://schemas.openxmlformats.org/drawingml/2006/main">
            <a:pPr>
              <a:lnSpc>
                <a:spcPct val="110000"/>
              </a:lnSpc>
              <a:buNone/>
              <a:defRPr sz="40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pPr>
            <a:r>
              <a:t>및 성공 요인 분석</a:t>
            </a:r>
          </a:p>
        </p:txBody>
      </p:sp>
      <p:sp>
        <p:nvSpPr>
          <p:cNvPr id="23" name="영화 제목, 포스터, 메타데이터를 중심으로">
            <a:extLst xmlns:a="http://schemas.openxmlformats.org/drawingml/2006/main">
              <a:ext uri="{FF2B5EF4-FFF2-40B4-BE49-F238E27FC236}">
                <a16:creationId xmlns:a16="http://schemas.microsoft.com/office/drawing/2014/main" id="{EFC53002-55BF-4ACD-8375-D1122F70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533400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6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영화 제목, 포스터, 메타데이터를 중심으로</a:t>
            </a:r>
          </a:p>
        </p:txBody>
      </p:sp>
      <p:sp>
        <p:nvSpPr>
          <p:cNvPr id="2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6E58AEEC-E048-4EBF-A823-E3EC2B58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5240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5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DA446C30-C2C0-4E5F-AAF3-79C0A564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6" name="분석 대상">
            <a:extLst xmlns:a="http://schemas.openxmlformats.org/drawingml/2006/main">
              <a:ext uri="{FF2B5EF4-FFF2-40B4-BE49-F238E27FC236}">
                <a16:creationId xmlns:a16="http://schemas.microsoft.com/office/drawing/2014/main" id="{2B66A4FA-8721-4C91-978D-32DD360D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11620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분석 대상</a:t>
            </a:r>
          </a:p>
        </p:txBody>
      </p:sp>
      <p:sp>
        <p:nvSpPr>
          <p:cNvPr id="27" name="654편">
            <a:extLst xmlns:a="http://schemas.openxmlformats.org/drawingml/2006/main">
              <a:ext uri="{FF2B5EF4-FFF2-40B4-BE49-F238E27FC236}">
                <a16:creationId xmlns:a16="http://schemas.microsoft.com/office/drawing/2014/main" id="{EBA4178D-94FA-4286-9F6E-6C8C5BFB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1162050" cy="508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654편</a:t>
            </a:r>
          </a:p>
        </p:txBody>
      </p:sp>
      <p:sp>
        <p:nvSpPr>
          <p:cNvPr id="28" name="KOBIS + TMDB 매칭">
            <a:extLst xmlns:a="http://schemas.openxmlformats.org/drawingml/2006/main">
              <a:ext uri="{FF2B5EF4-FFF2-40B4-BE49-F238E27FC236}">
                <a16:creationId xmlns:a16="http://schemas.microsoft.com/office/drawing/2014/main" id="{BE4BA0C5-05FE-461C-B450-27E9B4C3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1162050" cy="36880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pPr algn="r"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rPr>
              <a:t>KOBIS+TMDB 매칭</a:t>
            </a:r>
          </a:p>
        </p:txBody>
      </p:sp>
      <p:sp>
        <p:nvSpPr>
          <p:cNvPr id="2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1242F879-3821-44E8-9076-83B74E5B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829050"/>
            <a:ext cx="1809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0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E54BB412-7EF4-443A-902C-C094CC35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8290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1" name="기간">
            <a:extLst xmlns:a="http://schemas.openxmlformats.org/drawingml/2006/main">
              <a:ext uri="{FF2B5EF4-FFF2-40B4-BE49-F238E27FC236}">
                <a16:creationId xmlns:a16="http://schemas.microsoft.com/office/drawing/2014/main" id="{0E5D90B2-1508-45B0-878C-6C18AB1B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00500"/>
            <a:ext cx="14478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기간</a:t>
            </a:r>
          </a:p>
        </p:txBody>
      </p:sp>
      <p:sp>
        <p:nvSpPr>
          <p:cNvPr id="32" name="2003~2026">
            <a:extLst xmlns:a="http://schemas.openxmlformats.org/drawingml/2006/main">
              <a:ext uri="{FF2B5EF4-FFF2-40B4-BE49-F238E27FC236}">
                <a16:creationId xmlns:a16="http://schemas.microsoft.com/office/drawing/2014/main" id="{6B263781-3EE3-4F61-810B-8B1D623B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257675"/>
            <a:ext cx="1447800" cy="317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1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2003~2026</a:t>
            </a:r>
          </a:p>
        </p:txBody>
      </p:sp>
      <p:sp>
        <p:nvSpPr>
          <p:cNvPr id="33" name="국내 개봉 영화">
            <a:extLst xmlns:a="http://schemas.openxmlformats.org/drawingml/2006/main">
              <a:ext uri="{FF2B5EF4-FFF2-40B4-BE49-F238E27FC236}">
                <a16:creationId xmlns:a16="http://schemas.microsoft.com/office/drawing/2014/main" id="{5A38D32C-AB24-4C04-928A-A852EB34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19650"/>
            <a:ext cx="14478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국내 개봉 영화</a:t>
            </a:r>
          </a:p>
        </p:txBody>
      </p:sp>
      <p:sp>
        <p:nvSpPr>
          <p:cNvPr id="3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5BC28626-3EBD-403D-9F6C-18DBC291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829050"/>
            <a:ext cx="15240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5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8F27A48B-D797-4F6D-B500-EB364B95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8290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6" name="기준">
            <a:extLst xmlns:a="http://schemas.openxmlformats.org/drawingml/2006/main">
              <a:ext uri="{FF2B5EF4-FFF2-40B4-BE49-F238E27FC236}">
                <a16:creationId xmlns:a16="http://schemas.microsoft.com/office/drawing/2014/main" id="{0DD28A9C-F049-4C26-AB3C-EC019066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00500"/>
            <a:ext cx="11620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기준</a:t>
            </a:r>
          </a:p>
        </p:txBody>
      </p:sp>
      <p:sp>
        <p:nvSpPr>
          <p:cNvPr id="37" name="300만+">
            <a:extLst xmlns:a="http://schemas.openxmlformats.org/drawingml/2006/main">
              <a:ext uri="{FF2B5EF4-FFF2-40B4-BE49-F238E27FC236}">
                <a16:creationId xmlns:a16="http://schemas.microsoft.com/office/drawing/2014/main" id="{B61DD40C-3A5A-482D-B76D-0ACC5C6B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57675"/>
            <a:ext cx="1257300" cy="11064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pPr algn="r">
              <a:defRPr sz="30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pPr>
            <a:r>
              <a:rPr sz="30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</a:rPr>
              <a:t>300만+</a:t>
            </a:r>
          </a:p>
        </p:txBody>
      </p:sp>
      <p:sp>
        <p:nvSpPr>
          <p:cNvPr id="38" name="기본 흥행 기준">
            <a:extLst xmlns:a="http://schemas.openxmlformats.org/drawingml/2006/main">
              <a:ext uri="{FF2B5EF4-FFF2-40B4-BE49-F238E27FC236}">
                <a16:creationId xmlns:a16="http://schemas.microsoft.com/office/drawing/2014/main" id="{101F14F5-E87B-4606-97CE-236F7E38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19650"/>
            <a:ext cx="1162050" cy="18440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기본 흥행 기준</a:t>
            </a:r>
          </a:p>
        </p:txBody>
      </p:sp>
      <p:sp>
        <p:nvSpPr>
          <p:cNvPr id="3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A0781D76-864A-4D4F-B443-B13C3835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04850"/>
            <a:ext cx="4953000" cy="462915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65" name="image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754683d1134f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38950" y="895350"/>
            <a:ext cx="4419600" cy="398145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1" name="분석 대상 영화 포스터 예시">
            <a:extLst xmlns:a="http://schemas.openxmlformats.org/drawingml/2006/main">
              <a:ext uri="{FF2B5EF4-FFF2-40B4-BE49-F238E27FC236}">
                <a16:creationId xmlns:a16="http://schemas.microsoft.com/office/drawing/2014/main" id="{A415A920-904A-4ADA-B8BF-40217877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95875"/>
            <a:ext cx="441960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pPr algn="ctr"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rPr>
              <a:t>분석 대상 영화 포스터 예시</a:t>
            </a:r>
          </a:p>
        </p:txBody>
      </p:sp>
      <p:sp>
        <p:nvSpPr>
          <p:cNvPr id="42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49DF521A-494E-46A5-A96D-38210A17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43" name="01 / 16">
            <a:extLst xmlns:a="http://schemas.openxmlformats.org/drawingml/2006/main">
              <a:ext uri="{FF2B5EF4-FFF2-40B4-BE49-F238E27FC236}">
                <a16:creationId xmlns:a16="http://schemas.microsoft.com/office/drawing/2014/main" id="{6FEC01F4-065B-43E5-A69D-9FA55A20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01 / 16</a:t>
            </a:r>
          </a:p>
        </p:txBody>
      </p:sp>
    </p:spTree>
    <p:extLst>
      <p:ext uri="{BB962C8B-B14F-4D97-AF65-F5344CB8AC3E}">
        <p14:creationId xmlns:p14="http://schemas.microsoft.com/office/powerpoint/2010/main" val="1881821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발표 흐름">
            <a:extLst xmlns:a="http://schemas.openxmlformats.org/drawingml/2006/main">
              <a:ext uri="{FF2B5EF4-FFF2-40B4-BE49-F238E27FC236}">
                <a16:creationId xmlns:a16="http://schemas.microsoft.com/office/drawing/2014/main" id="{51D0628F-1A0E-4B2E-BEAF-AF555F30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발표 흐름</a:t>
            </a:r>
          </a:p>
        </p:txBody>
      </p:sp>
      <p:sp>
        <p:nvSpPr>
          <p:cNvPr id="46" name="발표는 데이터에서 결론까지 다섯 단계로 전개한다">
            <a:extLst xmlns:a="http://schemas.openxmlformats.org/drawingml/2006/main">
              <a:ext uri="{FF2B5EF4-FFF2-40B4-BE49-F238E27FC236}">
                <a16:creationId xmlns:a16="http://schemas.microsoft.com/office/drawing/2014/main" id="{FB3E2819-847C-4E1C-98A7-F8E494B8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발표는 데이터에서 결론까지 다섯 단계로 전개한다</a:t>
            </a:r>
          </a:p>
        </p:txBody>
      </p:sp>
      <p:sp>
        <p:nvSpPr>
          <p:cNvPr id="47" name="선">
            <a:extLst xmlns:a="http://schemas.openxmlformats.org/drawingml/2006/main">
              <a:ext uri="{FF2B5EF4-FFF2-40B4-BE49-F238E27FC236}">
                <a16:creationId xmlns:a16="http://schemas.microsoft.com/office/drawing/2014/main" id="{1917A53A-B21D-4BBC-B38F-9CE9FDB1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8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C9EA253F-78C4-4E7F-AF1E-4563818A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104394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9" name="원">
            <a:extLst xmlns:a="http://schemas.openxmlformats.org/drawingml/2006/main">
              <a:ext uri="{FF2B5EF4-FFF2-40B4-BE49-F238E27FC236}">
                <a16:creationId xmlns:a16="http://schemas.microsoft.com/office/drawing/2014/main" id="{F8E2B0FD-2242-42A2-A75B-FBE12E55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097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50" name="01">
            <a:extLst xmlns:a="http://schemas.openxmlformats.org/drawingml/2006/main">
              <a:ext uri="{FF2B5EF4-FFF2-40B4-BE49-F238E27FC236}">
                <a16:creationId xmlns:a16="http://schemas.microsoft.com/office/drawing/2014/main" id="{A46409AD-4978-4A5D-8D4F-B569F7F9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7642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01</a:t>
            </a:r>
          </a:p>
        </p:txBody>
      </p:sp>
      <p:sp>
        <p:nvSpPr>
          <p:cNvPr id="51" name="문제 정의">
            <a:extLst xmlns:a="http://schemas.openxmlformats.org/drawingml/2006/main">
              <a:ext uri="{FF2B5EF4-FFF2-40B4-BE49-F238E27FC236}">
                <a16:creationId xmlns:a16="http://schemas.microsoft.com/office/drawing/2014/main" id="{29CF3565-CA08-443C-9207-92A524774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771650"/>
            <a:ext cx="954405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문제 정의</a:t>
            </a:r>
          </a:p>
        </p:txBody>
      </p:sp>
      <p:sp>
        <p:nvSpPr>
          <p:cNvPr id="52" name="흥행 예측을 어떤 라벨과 지표로 볼지 정리">
            <a:extLst xmlns:a="http://schemas.openxmlformats.org/drawingml/2006/main">
              <a:ext uri="{FF2B5EF4-FFF2-40B4-BE49-F238E27FC236}">
                <a16:creationId xmlns:a16="http://schemas.microsoft.com/office/drawing/2014/main" id="{03277373-23CA-4407-9739-938D65E5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95500"/>
            <a:ext cx="95440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흥행 예측을 어떤 라벨과 지표로 볼지 정리</a:t>
            </a:r>
          </a:p>
        </p:txBody>
      </p:sp>
      <p:sp>
        <p:nvSpPr>
          <p:cNvPr id="53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0F9DE8BB-D994-4BE8-95E9-2203141C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104394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54" name="원">
            <a:extLst xmlns:a="http://schemas.openxmlformats.org/drawingml/2006/main">
              <a:ext uri="{FF2B5EF4-FFF2-40B4-BE49-F238E27FC236}">
                <a16:creationId xmlns:a16="http://schemas.microsoft.com/office/drawing/2014/main" id="{8B3FDECC-B853-447A-975B-DE587996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55" name="02">
            <a:extLst xmlns:a="http://schemas.openxmlformats.org/drawingml/2006/main">
              <a:ext uri="{FF2B5EF4-FFF2-40B4-BE49-F238E27FC236}">
                <a16:creationId xmlns:a16="http://schemas.microsoft.com/office/drawing/2014/main" id="{62A837A6-0E15-4541-8EA4-D21FA947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1462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02</a:t>
            </a:r>
          </a:p>
        </p:txBody>
      </p:sp>
      <p:sp>
        <p:nvSpPr>
          <p:cNvPr id="56" name="데이터와 특성">
            <a:extLst xmlns:a="http://schemas.openxmlformats.org/drawingml/2006/main">
              <a:ext uri="{FF2B5EF4-FFF2-40B4-BE49-F238E27FC236}">
                <a16:creationId xmlns:a16="http://schemas.microsoft.com/office/drawing/2014/main" id="{F0CAF7DE-E5F0-484B-8FBE-D2BA63DE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609850"/>
            <a:ext cx="954405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데이터와 특성</a:t>
            </a:r>
          </a:p>
        </p:txBody>
      </p:sp>
      <p:sp>
        <p:nvSpPr>
          <p:cNvPr id="57" name="KOBIS/TMDB 병합, 제목·포스터·메타데이터 설계">
            <a:extLst xmlns:a="http://schemas.openxmlformats.org/drawingml/2006/main">
              <a:ext uri="{FF2B5EF4-FFF2-40B4-BE49-F238E27FC236}">
                <a16:creationId xmlns:a16="http://schemas.microsoft.com/office/drawing/2014/main" id="{31FD9D30-AA25-4A08-A792-F0EFCEC9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33700"/>
            <a:ext cx="95440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KOBIS/TMDB 병합, 제목·포스터·메타데이터 설계</a:t>
            </a:r>
          </a:p>
        </p:txBody>
      </p:sp>
      <p:sp>
        <p:nvSpPr>
          <p:cNvPr id="58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5748976D-DB65-46E1-922E-C6193764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104394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59" name="원">
            <a:extLst xmlns:a="http://schemas.openxmlformats.org/drawingml/2006/main">
              <a:ext uri="{FF2B5EF4-FFF2-40B4-BE49-F238E27FC236}">
                <a16:creationId xmlns:a16="http://schemas.microsoft.com/office/drawing/2014/main" id="{DC60034E-C2FE-49BD-BBAE-20A11090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60" name="03">
            <a:extLst xmlns:a="http://schemas.openxmlformats.org/drawingml/2006/main">
              <a:ext uri="{FF2B5EF4-FFF2-40B4-BE49-F238E27FC236}">
                <a16:creationId xmlns:a16="http://schemas.microsoft.com/office/drawing/2014/main" id="{BBA6C108-0EFF-48B7-927C-08AB317B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5282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03</a:t>
            </a:r>
          </a:p>
        </p:txBody>
      </p:sp>
      <p:sp>
        <p:nvSpPr>
          <p:cNvPr id="61" name="모델 실험">
            <a:extLst xmlns:a="http://schemas.openxmlformats.org/drawingml/2006/main">
              <a:ext uri="{FF2B5EF4-FFF2-40B4-BE49-F238E27FC236}">
                <a16:creationId xmlns:a16="http://schemas.microsoft.com/office/drawing/2014/main" id="{A02B4768-503E-4F1C-B86F-7F382D17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48050"/>
            <a:ext cx="954405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모델 실험</a:t>
            </a:r>
          </a:p>
        </p:txBody>
      </p:sp>
      <p:sp>
        <p:nvSpPr>
          <p:cNvPr id="62" name="분류·회귀·랭크 문제로 나누어 ablation study 수행">
            <a:extLst xmlns:a="http://schemas.openxmlformats.org/drawingml/2006/main">
              <a:ext uri="{FF2B5EF4-FFF2-40B4-BE49-F238E27FC236}">
                <a16:creationId xmlns:a16="http://schemas.microsoft.com/office/drawing/2014/main" id="{3948FE73-E218-4D31-BED3-640D6868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71900"/>
            <a:ext cx="95440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분류·회귀·랭크 문제로 나누어 ablation study 수행</a:t>
            </a:r>
          </a:p>
        </p:txBody>
      </p:sp>
      <p:sp>
        <p:nvSpPr>
          <p:cNvPr id="63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A296B2BB-D971-4875-B540-57DD62F5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04394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64" name="원">
            <a:extLst xmlns:a="http://schemas.openxmlformats.org/drawingml/2006/main">
              <a:ext uri="{FF2B5EF4-FFF2-40B4-BE49-F238E27FC236}">
                <a16:creationId xmlns:a16="http://schemas.microsoft.com/office/drawing/2014/main" id="{724B78F6-A749-46DD-8CB3-A5C8144F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65" name="04">
            <a:extLst xmlns:a="http://schemas.openxmlformats.org/drawingml/2006/main">
              <a:ext uri="{FF2B5EF4-FFF2-40B4-BE49-F238E27FC236}">
                <a16:creationId xmlns:a16="http://schemas.microsoft.com/office/drawing/2014/main" id="{A26CCDEF-9A53-41F5-AA60-E7B48DB9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9102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04</a:t>
            </a:r>
          </a:p>
        </p:txBody>
      </p:sp>
      <p:sp>
        <p:nvSpPr>
          <p:cNvPr id="66" name="결과 해석">
            <a:extLst xmlns:a="http://schemas.openxmlformats.org/drawingml/2006/main">
              <a:ext uri="{FF2B5EF4-FFF2-40B4-BE49-F238E27FC236}">
                <a16:creationId xmlns:a16="http://schemas.microsoft.com/office/drawing/2014/main" id="{68DB05EA-A744-4A3A-983E-B4D96320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86250"/>
            <a:ext cx="954405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결과 해석</a:t>
            </a:r>
          </a:p>
        </p:txBody>
      </p:sp>
      <p:sp>
        <p:nvSpPr>
          <p:cNvPr id="67" name="성능 비교, 오분류 구조, 성공 요인 신호 해석">
            <a:extLst xmlns:a="http://schemas.openxmlformats.org/drawingml/2006/main">
              <a:ext uri="{FF2B5EF4-FFF2-40B4-BE49-F238E27FC236}">
                <a16:creationId xmlns:a16="http://schemas.microsoft.com/office/drawing/2014/main" id="{25F6C5FE-4333-4568-A901-A77CD1A63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10100"/>
            <a:ext cx="95440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성능 비교, 오분류 구조, 성공 요인 신호 해석</a:t>
            </a:r>
          </a:p>
        </p:txBody>
      </p:sp>
      <p:sp>
        <p:nvSpPr>
          <p:cNvPr id="68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69E8D58D-93F6-4C4D-8F3B-07F65323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104394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69" name="원">
            <a:extLst xmlns:a="http://schemas.openxmlformats.org/drawingml/2006/main">
              <a:ext uri="{FF2B5EF4-FFF2-40B4-BE49-F238E27FC236}">
                <a16:creationId xmlns:a16="http://schemas.microsoft.com/office/drawing/2014/main" id="{1334CDDD-6E3E-4043-B504-3FDEB0A9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70" name="05">
            <a:extLst xmlns:a="http://schemas.openxmlformats.org/drawingml/2006/main">
              <a:ext uri="{FF2B5EF4-FFF2-40B4-BE49-F238E27FC236}">
                <a16:creationId xmlns:a16="http://schemas.microsoft.com/office/drawing/2014/main" id="{5FAF10EF-6542-4565-B2A7-2F8D9453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05</a:t>
            </a:r>
          </a:p>
        </p:txBody>
      </p:sp>
      <p:sp>
        <p:nvSpPr>
          <p:cNvPr id="71" name="한계와 개선">
            <a:extLst xmlns:a="http://schemas.openxmlformats.org/drawingml/2006/main">
              <a:ext uri="{FF2B5EF4-FFF2-40B4-BE49-F238E27FC236}">
                <a16:creationId xmlns:a16="http://schemas.microsoft.com/office/drawing/2014/main" id="{F7A3A636-3ECA-4520-B172-96A4809D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124450"/>
            <a:ext cx="954405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한계와 개선</a:t>
            </a:r>
          </a:p>
        </p:txBody>
      </p:sp>
      <p:sp>
        <p:nvSpPr>
          <p:cNvPr id="72" name="데이터 확장, 불균형 보정, 임베딩 기반 개선 제안">
            <a:extLst xmlns:a="http://schemas.openxmlformats.org/drawingml/2006/main">
              <a:ext uri="{FF2B5EF4-FFF2-40B4-BE49-F238E27FC236}">
                <a16:creationId xmlns:a16="http://schemas.microsoft.com/office/drawing/2014/main" id="{F828BD42-6E1E-461F-8152-248F0647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448300"/>
            <a:ext cx="95440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데이터 확장, 불균형 보정, 임베딩 기반 개선 제안</a:t>
            </a:r>
          </a:p>
        </p:txBody>
      </p:sp>
      <p:sp>
        <p:nvSpPr>
          <p:cNvPr id="73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11003152-BED3-48B0-A4A0-4A5211AE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74" name="02 / 16">
            <a:extLst xmlns:a="http://schemas.openxmlformats.org/drawingml/2006/main">
              <a:ext uri="{FF2B5EF4-FFF2-40B4-BE49-F238E27FC236}">
                <a16:creationId xmlns:a16="http://schemas.microsoft.com/office/drawing/2014/main" id="{8AAAD4D1-5759-4812-B431-16EB37C2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02 / 16</a:t>
            </a:r>
          </a:p>
        </p:txBody>
      </p:sp>
    </p:spTree>
    <p:extLst>
      <p:ext uri="{BB962C8B-B14F-4D97-AF65-F5344CB8AC3E}">
        <p14:creationId xmlns:p14="http://schemas.microsoft.com/office/powerpoint/2010/main" val="17151732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프로젝트 질문">
            <a:extLst xmlns:a="http://schemas.openxmlformats.org/drawingml/2006/main">
              <a:ext uri="{FF2B5EF4-FFF2-40B4-BE49-F238E27FC236}">
                <a16:creationId xmlns:a16="http://schemas.microsoft.com/office/drawing/2014/main" id="{D8AEE998-D383-4457-B923-1E51D27F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프로젝트 질문</a:t>
            </a:r>
          </a:p>
        </p:txBody>
      </p:sp>
      <p:sp>
        <p:nvSpPr>
          <p:cNvPr id="77" name="핵심 질문은 개봉 전후 정보로 흥행 가능성을 설명할 수 있는가이다">
            <a:extLst xmlns:a="http://schemas.openxmlformats.org/drawingml/2006/main">
              <a:ext uri="{FF2B5EF4-FFF2-40B4-BE49-F238E27FC236}">
                <a16:creationId xmlns:a16="http://schemas.microsoft.com/office/drawing/2014/main" id="{B5D343FC-6E5B-415A-807A-64DAAC5C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핵심 질문은 개봉 전후 정보로 흥행 가능성을 설명할 수 있는가이다</a:t>
            </a:r>
          </a:p>
        </p:txBody>
      </p:sp>
      <p:sp>
        <p:nvSpPr>
          <p:cNvPr id="78" name="선">
            <a:extLst xmlns:a="http://schemas.openxmlformats.org/drawingml/2006/main">
              <a:ext uri="{FF2B5EF4-FFF2-40B4-BE49-F238E27FC236}">
                <a16:creationId xmlns:a16="http://schemas.microsoft.com/office/drawing/2014/main" id="{D0B32500-A332-412C-9C38-85B4468D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7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AEBD2E3F-A078-4F52-9901-C2ACE6C6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9530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80" name="예측 문제">
            <a:extLst xmlns:a="http://schemas.openxmlformats.org/drawingml/2006/main">
              <a:ext uri="{FF2B5EF4-FFF2-40B4-BE49-F238E27FC236}">
                <a16:creationId xmlns:a16="http://schemas.microsoft.com/office/drawing/2014/main" id="{AF3FBA7F-6A79-4CC5-8F88-56006954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2095500" cy="266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예측 문제</a:t>
            </a:r>
          </a:p>
        </p:txBody>
      </p:sp>
      <p:sp>
        <p:nvSpPr>
          <p:cNvPr id="81" name="원">
            <a:extLst xmlns:a="http://schemas.openxmlformats.org/drawingml/2006/main">
              <a:ext uri="{FF2B5EF4-FFF2-40B4-BE49-F238E27FC236}">
                <a16:creationId xmlns:a16="http://schemas.microsoft.com/office/drawing/2014/main" id="{90D7EB69-E83A-427F-8414-8872E728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82" name="영화 단위로 누적 관객 수를 기준화한다.">
            <a:extLst xmlns:a="http://schemas.openxmlformats.org/drawingml/2006/main">
              <a:ext uri="{FF2B5EF4-FFF2-40B4-BE49-F238E27FC236}">
                <a16:creationId xmlns:a16="http://schemas.microsoft.com/office/drawing/2014/main" id="{61A25CBD-E94C-4AE3-B531-C0D00855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19350"/>
            <a:ext cx="3886200" cy="2032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영화 단위로 누적 관객 수를 기준화한다.</a:t>
            </a:r>
          </a:p>
        </p:txBody>
      </p:sp>
      <p:sp>
        <p:nvSpPr>
          <p:cNvPr id="83" name="원">
            <a:extLst xmlns:a="http://schemas.openxmlformats.org/drawingml/2006/main">
              <a:ext uri="{FF2B5EF4-FFF2-40B4-BE49-F238E27FC236}">
                <a16:creationId xmlns:a16="http://schemas.microsoft.com/office/drawing/2014/main" id="{29E2FF90-0C7D-4D14-AAEF-2E87249E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4800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84" name="기본 분류 라벨은 300만 명 이상 여부로 둔다.">
            <a:extLst xmlns:a="http://schemas.openxmlformats.org/drawingml/2006/main">
              <a:ext uri="{FF2B5EF4-FFF2-40B4-BE49-F238E27FC236}">
                <a16:creationId xmlns:a16="http://schemas.microsoft.com/office/drawing/2014/main" id="{76BEBCF4-B087-4C93-BCEE-23DE6D15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71800"/>
            <a:ext cx="3886200" cy="2032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기본 분류 라벨은 300만 명 이상 여부로 둔다.</a:t>
            </a:r>
          </a:p>
        </p:txBody>
      </p:sp>
      <p:sp>
        <p:nvSpPr>
          <p:cNvPr id="85" name="원">
            <a:extLst xmlns:a="http://schemas.openxmlformats.org/drawingml/2006/main">
              <a:ext uri="{FF2B5EF4-FFF2-40B4-BE49-F238E27FC236}">
                <a16:creationId xmlns:a16="http://schemas.microsoft.com/office/drawing/2014/main" id="{E89FC750-B0BD-4B60-B041-3A142410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86" name="회귀는 log 관객 수를 예측하고, 랭크는 성공도 등급을 예측한다.">
            <a:extLst xmlns:a="http://schemas.openxmlformats.org/drawingml/2006/main">
              <a:ext uri="{FF2B5EF4-FFF2-40B4-BE49-F238E27FC236}">
                <a16:creationId xmlns:a16="http://schemas.microsoft.com/office/drawing/2014/main" id="{A1B16857-A9B8-419A-9AC4-AA3B66E9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24250"/>
            <a:ext cx="388620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회귀는 log 관객 수를 예측하고, 랭크는 성공도 등급을 예측한다.</a:t>
            </a:r>
          </a:p>
        </p:txBody>
      </p:sp>
      <p:sp>
        <p:nvSpPr>
          <p:cNvPr id="87" name="원">
            <a:extLst xmlns:a="http://schemas.openxmlformats.org/drawingml/2006/main">
              <a:ext uri="{FF2B5EF4-FFF2-40B4-BE49-F238E27FC236}">
                <a16:creationId xmlns:a16="http://schemas.microsoft.com/office/drawing/2014/main" id="{F3C66E7A-FF89-4B62-A70E-5CA8D906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88" name="목표는 성능뿐 아니라 어떤 요인이 설명력을 가지는지 해석하는 것이다.">
            <a:extLst xmlns:a="http://schemas.openxmlformats.org/drawingml/2006/main">
              <a:ext uri="{FF2B5EF4-FFF2-40B4-BE49-F238E27FC236}">
                <a16:creationId xmlns:a16="http://schemas.microsoft.com/office/drawing/2014/main" id="{05F1FBD6-6307-437A-9360-17B0BEBD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88620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목표는 성능뿐 아니라 어떤 요인이 설명력을 가지는지 해석하는 것이다.</a:t>
            </a:r>
          </a:p>
        </p:txBody>
      </p:sp>
      <p:sp>
        <p:nvSpPr>
          <p:cNvPr id="8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DF05BDC0-1647-40FA-AFBF-2CC83B88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638300"/>
            <a:ext cx="5181600" cy="39052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90" name="분석 단위와 판단 기준">
            <a:extLst xmlns:a="http://schemas.openxmlformats.org/drawingml/2006/main">
              <a:ext uri="{FF2B5EF4-FFF2-40B4-BE49-F238E27FC236}">
                <a16:creationId xmlns:a16="http://schemas.microsoft.com/office/drawing/2014/main" id="{6E462F02-EAE1-4C5F-984D-48E44331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43100"/>
            <a:ext cx="2857500" cy="266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분석 단위와 판단 기준</a:t>
            </a:r>
          </a:p>
        </p:txBody>
      </p:sp>
      <p:sp>
        <p:nvSpPr>
          <p:cNvPr id="9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F24A6377-F51E-462B-9960-207F37A3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38400"/>
            <a:ext cx="2095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92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B63E5C82-A63D-4D3B-B3D0-734DD15E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384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93" name="기본 흥행 라벨">
            <a:extLst xmlns:a="http://schemas.openxmlformats.org/drawingml/2006/main">
              <a:ext uri="{FF2B5EF4-FFF2-40B4-BE49-F238E27FC236}">
                <a16:creationId xmlns:a16="http://schemas.microsoft.com/office/drawing/2014/main" id="{7264E88F-8D95-4547-A024-0FA43DAA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09850"/>
            <a:ext cx="17335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기본 흥행 라벨</a:t>
            </a:r>
          </a:p>
        </p:txBody>
      </p:sp>
      <p:sp>
        <p:nvSpPr>
          <p:cNvPr id="94" name="300만+">
            <a:extLst xmlns:a="http://schemas.openxmlformats.org/drawingml/2006/main">
              <a:ext uri="{FF2B5EF4-FFF2-40B4-BE49-F238E27FC236}">
                <a16:creationId xmlns:a16="http://schemas.microsoft.com/office/drawing/2014/main" id="{A504AB45-5C03-4251-B19A-9FE59291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67025"/>
            <a:ext cx="1733550" cy="508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300만+</a:t>
            </a:r>
          </a:p>
        </p:txBody>
      </p:sp>
      <p:sp>
        <p:nvSpPr>
          <p:cNvPr id="95" name="누적 관객 수 기준">
            <a:extLst xmlns:a="http://schemas.openxmlformats.org/drawingml/2006/main">
              <a:ext uri="{FF2B5EF4-FFF2-40B4-BE49-F238E27FC236}">
                <a16:creationId xmlns:a16="http://schemas.microsoft.com/office/drawing/2014/main" id="{4969C7A0-C2B1-4062-803B-6C90DD41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29000"/>
            <a:ext cx="17335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누적 관객 수 기준</a:t>
            </a:r>
          </a:p>
        </p:txBody>
      </p:sp>
      <p:sp>
        <p:nvSpPr>
          <p:cNvPr id="96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69AF470C-37B0-469E-B5EE-8B06B8D3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38400"/>
            <a:ext cx="2095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97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9D545BD4-AD15-4F85-BA8F-73BA415E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384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98" name="고흥행 참고">
            <a:extLst xmlns:a="http://schemas.openxmlformats.org/drawingml/2006/main">
              <a:ext uri="{FF2B5EF4-FFF2-40B4-BE49-F238E27FC236}">
                <a16:creationId xmlns:a16="http://schemas.microsoft.com/office/drawing/2014/main" id="{A44A3DBA-479A-4D3F-98E4-43210EC9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09850"/>
            <a:ext cx="17335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고흥행 참고</a:t>
            </a:r>
          </a:p>
        </p:txBody>
      </p:sp>
      <p:sp>
        <p:nvSpPr>
          <p:cNvPr id="99" name="500만+">
            <a:extLst xmlns:a="http://schemas.openxmlformats.org/drawingml/2006/main">
              <a:ext uri="{FF2B5EF4-FFF2-40B4-BE49-F238E27FC236}">
                <a16:creationId xmlns:a16="http://schemas.microsoft.com/office/drawing/2014/main" id="{1C9619A9-9820-49E1-BA3A-1DC509DFD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67025"/>
            <a:ext cx="1733550" cy="508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500만+</a:t>
            </a:r>
          </a:p>
        </p:txBody>
      </p:sp>
      <p:sp>
        <p:nvSpPr>
          <p:cNvPr id="100" name="배우/랭크 분석 참고">
            <a:extLst xmlns:a="http://schemas.openxmlformats.org/drawingml/2006/main">
              <a:ext uri="{FF2B5EF4-FFF2-40B4-BE49-F238E27FC236}">
                <a16:creationId xmlns:a16="http://schemas.microsoft.com/office/drawing/2014/main" id="{A30E45C8-4770-455D-9425-6B3D419B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429000"/>
            <a:ext cx="17335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배우/랭크 분석 참고</a:t>
            </a:r>
          </a:p>
        </p:txBody>
      </p:sp>
      <p:sp>
        <p:nvSpPr>
          <p:cNvPr id="10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1757B43C-C91A-4451-BDA9-0D9396E1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44577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>
            <a:solidFill>
              <a:srgbClr val="FEE2E2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02" name="흥행작 비중이 낮기 때문에 Accuracy보다 F1, Recall, ROC-AUC를 함께 봐야 한다.">
            <a:extLst xmlns:a="http://schemas.openxmlformats.org/drawingml/2006/main">
              <a:ext uri="{FF2B5EF4-FFF2-40B4-BE49-F238E27FC236}">
                <a16:creationId xmlns:a16="http://schemas.microsoft.com/office/drawing/2014/main" id="{0B4C17BE-F91D-4581-A92D-79C0E1B3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375"/>
            <a:ext cx="4076700" cy="40005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흥행작 비중이 낮기 때문에 Accuracy보다 F1, Recall, ROC-AUC를 함께 봐야 한다.</a:t>
            </a:r>
          </a:p>
        </p:txBody>
      </p:sp>
      <p:sp>
        <p:nvSpPr>
          <p:cNvPr id="103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25FE09A0-19DB-4BBA-BA01-8FB4AC8D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104" name="03 / 16">
            <a:extLst xmlns:a="http://schemas.openxmlformats.org/drawingml/2006/main">
              <a:ext uri="{FF2B5EF4-FFF2-40B4-BE49-F238E27FC236}">
                <a16:creationId xmlns:a16="http://schemas.microsoft.com/office/drawing/2014/main" id="{0410869C-9232-4AD3-956C-03AB75A50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03 / 16</a:t>
            </a:r>
          </a:p>
        </p:txBody>
      </p:sp>
    </p:spTree>
    <p:extLst>
      <p:ext uri="{BB962C8B-B14F-4D97-AF65-F5344CB8AC3E}">
        <p14:creationId xmlns:p14="http://schemas.microsoft.com/office/powerpoint/2010/main" val="1020015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데이터 구성">
            <a:extLst xmlns:a="http://schemas.openxmlformats.org/drawingml/2006/main">
              <a:ext uri="{FF2B5EF4-FFF2-40B4-BE49-F238E27FC236}">
                <a16:creationId xmlns:a16="http://schemas.microsoft.com/office/drawing/2014/main" id="{6EA8F46C-B9AE-4BAE-AE7F-D0B1ACE6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데이터 구성</a:t>
            </a:r>
          </a:p>
        </p:txBody>
      </p:sp>
      <p:sp>
        <p:nvSpPr>
          <p:cNvPr id="107" name="데이터는 KOBIS 관객 수와 TMDB 메타데이터를 결합했다">
            <a:extLst xmlns:a="http://schemas.openxmlformats.org/drawingml/2006/main">
              <a:ext uri="{FF2B5EF4-FFF2-40B4-BE49-F238E27FC236}">
                <a16:creationId xmlns:a16="http://schemas.microsoft.com/office/drawing/2014/main" id="{230E0B33-584E-4360-8505-E98B42EA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데이터는 KOBIS 관객 수와 TMDB 메타데이터를 결합했다</a:t>
            </a:r>
          </a:p>
        </p:txBody>
      </p:sp>
      <p:sp>
        <p:nvSpPr>
          <p:cNvPr id="108" name="선">
            <a:extLst xmlns:a="http://schemas.openxmlformats.org/drawingml/2006/main">
              <a:ext uri="{FF2B5EF4-FFF2-40B4-BE49-F238E27FC236}">
                <a16:creationId xmlns:a16="http://schemas.microsoft.com/office/drawing/2014/main" id="{E4278C1A-0CBB-4A94-BC90-AEC4909E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0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9AE389D3-14DB-40D2-A216-B7A03AE2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10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EB48744C-0D98-4D0C-9E1D-B678FB78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11" name="전체 영화 수">
            <a:extLst xmlns:a="http://schemas.openxmlformats.org/drawingml/2006/main">
              <a:ext uri="{FF2B5EF4-FFF2-40B4-BE49-F238E27FC236}">
                <a16:creationId xmlns:a16="http://schemas.microsoft.com/office/drawing/2014/main" id="{6531DD60-0F65-42BB-A65B-437B4491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13525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전체 영화 수</a:t>
            </a:r>
          </a:p>
        </p:txBody>
      </p:sp>
      <p:sp>
        <p:nvSpPr>
          <p:cNvPr id="112" name="654편">
            <a:extLst xmlns:a="http://schemas.openxmlformats.org/drawingml/2006/main">
              <a:ext uri="{FF2B5EF4-FFF2-40B4-BE49-F238E27FC236}">
                <a16:creationId xmlns:a16="http://schemas.microsoft.com/office/drawing/2014/main" id="{59B318C3-D8D9-47A3-BD6F-3CA04ABD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9775"/>
            <a:ext cx="1352550" cy="508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654편</a:t>
            </a:r>
          </a:p>
        </p:txBody>
      </p:sp>
      <p:sp>
        <p:nvSpPr>
          <p:cNvPr id="113" name="포스터 특성도 동일 수량">
            <a:extLst xmlns:a="http://schemas.openxmlformats.org/drawingml/2006/main">
              <a:ext uri="{FF2B5EF4-FFF2-40B4-BE49-F238E27FC236}">
                <a16:creationId xmlns:a16="http://schemas.microsoft.com/office/drawing/2014/main" id="{D45CED68-299F-41F5-9FDB-59D66996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13525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포스터 특성도 동일 수량</a:t>
            </a:r>
          </a:p>
        </p:txBody>
      </p:sp>
      <p:sp>
        <p:nvSpPr>
          <p:cNvPr id="11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294126A7-6F3E-4E27-8A99-961BBC39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5811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15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299A5EFD-771B-47EB-849D-3B2AB5D1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5811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16" name="개봉 연도">
            <a:extLst xmlns:a="http://schemas.openxmlformats.org/drawingml/2006/main">
              <a:ext uri="{FF2B5EF4-FFF2-40B4-BE49-F238E27FC236}">
                <a16:creationId xmlns:a16="http://schemas.microsoft.com/office/drawing/2014/main" id="{8DBFC639-E980-4CA3-BADC-567E0770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13525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개봉 연도</a:t>
            </a:r>
          </a:p>
        </p:txBody>
      </p:sp>
      <p:sp>
        <p:nvSpPr>
          <p:cNvPr id="117" name="2003~2026">
            <a:extLst xmlns:a="http://schemas.openxmlformats.org/drawingml/2006/main">
              <a:ext uri="{FF2B5EF4-FFF2-40B4-BE49-F238E27FC236}">
                <a16:creationId xmlns:a16="http://schemas.microsoft.com/office/drawing/2014/main" id="{CB0022FB-C6E3-472A-B7CE-404CB131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09775"/>
            <a:ext cx="1352550" cy="66675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1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2003~2026</a:t>
            </a:r>
          </a:p>
        </p:txBody>
      </p:sp>
      <p:sp>
        <p:nvSpPr>
          <p:cNvPr id="118" name="국내 개봉 기준">
            <a:extLst xmlns:a="http://schemas.openxmlformats.org/drawingml/2006/main">
              <a:ext uri="{FF2B5EF4-FFF2-40B4-BE49-F238E27FC236}">
                <a16:creationId xmlns:a16="http://schemas.microsoft.com/office/drawing/2014/main" id="{B9BE4144-4DA4-4D59-AF17-352A87A6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13525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국내 개봉 기준</a:t>
            </a:r>
          </a:p>
        </p:txBody>
      </p:sp>
      <p:sp>
        <p:nvSpPr>
          <p:cNvPr id="11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2AA7864F-206A-4219-BC6B-B9A07B67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811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20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DE430F47-CD30-4A8D-A7F1-4711D902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811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21" name="평균 관객 수">
            <a:extLst xmlns:a="http://schemas.openxmlformats.org/drawingml/2006/main">
              <a:ext uri="{FF2B5EF4-FFF2-40B4-BE49-F238E27FC236}">
                <a16:creationId xmlns:a16="http://schemas.microsoft.com/office/drawing/2014/main" id="{91F418C8-C2E3-420D-80FF-7E572869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52600"/>
            <a:ext cx="13525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평균 관객 수</a:t>
            </a:r>
          </a:p>
        </p:txBody>
      </p:sp>
      <p:sp>
        <p:nvSpPr>
          <p:cNvPr id="122" name="210.9만">
            <a:extLst xmlns:a="http://schemas.openxmlformats.org/drawingml/2006/main">
              <a:ext uri="{FF2B5EF4-FFF2-40B4-BE49-F238E27FC236}">
                <a16:creationId xmlns:a16="http://schemas.microsoft.com/office/drawing/2014/main" id="{30EE3090-581F-4083-9C88-3502DACD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9775"/>
            <a:ext cx="135255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210.9만</a:t>
            </a:r>
          </a:p>
        </p:txBody>
      </p:sp>
      <p:sp>
        <p:nvSpPr>
          <p:cNvPr id="123" name="중앙값 123.4만 명">
            <a:extLst xmlns:a="http://schemas.openxmlformats.org/drawingml/2006/main">
              <a:ext uri="{FF2B5EF4-FFF2-40B4-BE49-F238E27FC236}">
                <a16:creationId xmlns:a16="http://schemas.microsoft.com/office/drawing/2014/main" id="{22329AFB-42B4-4530-A2EB-EEA6C623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13525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중앙값 123.4만 명</a:t>
            </a:r>
          </a:p>
        </p:txBody>
      </p:sp>
      <p:sp>
        <p:nvSpPr>
          <p:cNvPr id="12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EBCAB5D0-81E3-4B2F-A947-A1C1A764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25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090063FB-A20B-403D-939A-2BF571D1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26" name="300만 이상">
            <a:extLst xmlns:a="http://schemas.openxmlformats.org/drawingml/2006/main">
              <a:ext uri="{FF2B5EF4-FFF2-40B4-BE49-F238E27FC236}">
                <a16:creationId xmlns:a16="http://schemas.microsoft.com/office/drawing/2014/main" id="{FFABD170-0BAD-4090-A49C-49B0C701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52600"/>
            <a:ext cx="13525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300만 이상</a:t>
            </a:r>
          </a:p>
        </p:txBody>
      </p:sp>
      <p:sp>
        <p:nvSpPr>
          <p:cNvPr id="127" name="134편">
            <a:extLst xmlns:a="http://schemas.openxmlformats.org/drawingml/2006/main">
              <a:ext uri="{FF2B5EF4-FFF2-40B4-BE49-F238E27FC236}">
                <a16:creationId xmlns:a16="http://schemas.microsoft.com/office/drawing/2014/main" id="{EE58830F-D585-4D5E-8101-E6EED6FE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9775"/>
            <a:ext cx="1352550" cy="508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134편</a:t>
            </a:r>
          </a:p>
        </p:txBody>
      </p:sp>
      <p:sp>
        <p:nvSpPr>
          <p:cNvPr id="128" name="기본 흥행작">
            <a:extLst xmlns:a="http://schemas.openxmlformats.org/drawingml/2006/main">
              <a:ext uri="{FF2B5EF4-FFF2-40B4-BE49-F238E27FC236}">
                <a16:creationId xmlns:a16="http://schemas.microsoft.com/office/drawing/2014/main" id="{F83C41AE-1818-44BE-99FA-3287B85E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71750"/>
            <a:ext cx="13525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기본 흥행작</a:t>
            </a:r>
          </a:p>
        </p:txBody>
      </p:sp>
      <p:sp>
        <p:nvSpPr>
          <p:cNvPr id="12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85B6EA8B-8609-4189-B498-3634BF6E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66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30" name="데이터 결합 구조">
            <a:extLst xmlns:a="http://schemas.openxmlformats.org/drawingml/2006/main">
              <a:ext uri="{FF2B5EF4-FFF2-40B4-BE49-F238E27FC236}">
                <a16:creationId xmlns:a16="http://schemas.microsoft.com/office/drawing/2014/main" id="{2E3AE01C-8B82-40D8-9A40-6F60AC6A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28600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6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데이터 결합 구조</a:t>
            </a:r>
          </a:p>
        </p:txBody>
      </p:sp>
      <p:sp>
        <p:nvSpPr>
          <p:cNvPr id="13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D797C946-FAB3-435F-8010-2875A8CD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809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32" name="KOBIS">
            <a:extLst xmlns:a="http://schemas.openxmlformats.org/drawingml/2006/main">
              <a:ext uri="{FF2B5EF4-FFF2-40B4-BE49-F238E27FC236}">
                <a16:creationId xmlns:a16="http://schemas.microsoft.com/office/drawing/2014/main" id="{0271D248-F3CD-4F56-A121-AD7C64DE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05300"/>
            <a:ext cx="146685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KOBIS</a:t>
            </a:r>
          </a:p>
        </p:txBody>
      </p:sp>
      <p:sp>
        <p:nvSpPr>
          <p:cNvPr id="133" name="박스오피스 관객 수…">
            <a:extLst xmlns:a="http://schemas.openxmlformats.org/drawingml/2006/main">
              <a:ext uri="{FF2B5EF4-FFF2-40B4-BE49-F238E27FC236}">
                <a16:creationId xmlns:a16="http://schemas.microsoft.com/office/drawing/2014/main" id="{75AE3675-A775-4A63-9396-32354E47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52950"/>
            <a:ext cx="1466850" cy="29337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박스오피스 관객 수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개봉 연도·제목</a:t>
            </a:r>
          </a:p>
        </p:txBody>
      </p:sp>
      <p:sp>
        <p:nvSpPr>
          <p:cNvPr id="134" name="화살표">
            <a:extLst xmlns:a="http://schemas.openxmlformats.org/drawingml/2006/main">
              <a:ext uri="{FF2B5EF4-FFF2-40B4-BE49-F238E27FC236}">
                <a16:creationId xmlns:a16="http://schemas.microsoft.com/office/drawing/2014/main" id="{39D64CE7-15D5-43F4-A071-4042A476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400550"/>
            <a:ext cx="361950" cy="2667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35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CE4CDDDC-2574-461F-A5F8-329C7B9E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71950"/>
            <a:ext cx="1809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36" name="제목 매핑">
            <a:extLst xmlns:a="http://schemas.openxmlformats.org/drawingml/2006/main">
              <a:ext uri="{FF2B5EF4-FFF2-40B4-BE49-F238E27FC236}">
                <a16:creationId xmlns:a16="http://schemas.microsoft.com/office/drawing/2014/main" id="{230BA43F-3A10-402A-BDF8-F51510E3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05300"/>
            <a:ext cx="146685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제목 매핑</a:t>
            </a:r>
          </a:p>
        </p:txBody>
      </p:sp>
      <p:sp>
        <p:nvSpPr>
          <p:cNvPr id="137" name="KOBIS 제목과…">
            <a:extLst xmlns:a="http://schemas.openxmlformats.org/drawingml/2006/main">
              <a:ext uri="{FF2B5EF4-FFF2-40B4-BE49-F238E27FC236}">
                <a16:creationId xmlns:a16="http://schemas.microsoft.com/office/drawing/2014/main" id="{DD957DE4-F460-4430-87A7-AA2475F0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552950"/>
            <a:ext cx="1466850" cy="29337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KOBIS 제목과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TMDB 제목 병합</a:t>
            </a:r>
          </a:p>
        </p:txBody>
      </p:sp>
      <p:sp>
        <p:nvSpPr>
          <p:cNvPr id="138" name="화살표">
            <a:extLst xmlns:a="http://schemas.openxmlformats.org/drawingml/2006/main">
              <a:ext uri="{FF2B5EF4-FFF2-40B4-BE49-F238E27FC236}">
                <a16:creationId xmlns:a16="http://schemas.microsoft.com/office/drawing/2014/main" id="{D77FD035-E51B-4D73-8694-9FE9DD3B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400550"/>
            <a:ext cx="361950" cy="2667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3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B55C0F4E-688D-4E4B-9B81-B5F36297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71950"/>
            <a:ext cx="1809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40" name="TMDB">
            <a:extLst xmlns:a="http://schemas.openxmlformats.org/drawingml/2006/main">
              <a:ext uri="{FF2B5EF4-FFF2-40B4-BE49-F238E27FC236}">
                <a16:creationId xmlns:a16="http://schemas.microsoft.com/office/drawing/2014/main" id="{5D7B84B0-1C81-4B5F-AEE9-9C7649BF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146685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TMDB</a:t>
            </a:r>
          </a:p>
        </p:txBody>
      </p:sp>
      <p:sp>
        <p:nvSpPr>
          <p:cNvPr id="141" name="장르·런타임·제작비…">
            <a:extLst xmlns:a="http://schemas.openxmlformats.org/drawingml/2006/main">
              <a:ext uri="{FF2B5EF4-FFF2-40B4-BE49-F238E27FC236}">
                <a16:creationId xmlns:a16="http://schemas.microsoft.com/office/drawing/2014/main" id="{339D3BCF-B20E-47EE-AD7C-DB12F6F3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52950"/>
            <a:ext cx="1466850" cy="29337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장르·런타임·제작비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포스터·출연진</a:t>
            </a:r>
          </a:p>
        </p:txBody>
      </p:sp>
      <p:sp>
        <p:nvSpPr>
          <p:cNvPr id="142" name="화살표">
            <a:extLst xmlns:a="http://schemas.openxmlformats.org/drawingml/2006/main">
              <a:ext uri="{FF2B5EF4-FFF2-40B4-BE49-F238E27FC236}">
                <a16:creationId xmlns:a16="http://schemas.microsoft.com/office/drawing/2014/main" id="{3274160E-ED8A-4900-88C5-DEC121A1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4400550"/>
            <a:ext cx="361950" cy="2667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43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9DB3A99D-907E-4C8A-A0D4-0B9F9979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71950"/>
            <a:ext cx="1809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44" name="분석 테이블">
            <a:extLst xmlns:a="http://schemas.openxmlformats.org/drawingml/2006/main">
              <a:ext uri="{FF2B5EF4-FFF2-40B4-BE49-F238E27FC236}">
                <a16:creationId xmlns:a16="http://schemas.microsoft.com/office/drawing/2014/main" id="{61777C9F-5DFF-4094-AAC6-BCABF75D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05300"/>
            <a:ext cx="146685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6D28D9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분석 테이블</a:t>
            </a:r>
          </a:p>
        </p:txBody>
      </p:sp>
      <p:sp>
        <p:nvSpPr>
          <p:cNvPr id="145" name="모델 학습용…">
            <a:extLst xmlns:a="http://schemas.openxmlformats.org/drawingml/2006/main">
              <a:ext uri="{FF2B5EF4-FFF2-40B4-BE49-F238E27FC236}">
                <a16:creationId xmlns:a16="http://schemas.microsoft.com/office/drawing/2014/main" id="{89E9CE70-7ED4-4901-B8AB-51DAB33B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552950"/>
            <a:ext cx="1466850" cy="29337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모델 학습용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특성 행렬 구성</a:t>
            </a:r>
          </a:p>
        </p:txBody>
      </p:sp>
      <p:sp>
        <p:nvSpPr>
          <p:cNvPr id="146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33380746-6984-42B5-A253-311BB672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147" name="04 / 16">
            <a:extLst xmlns:a="http://schemas.openxmlformats.org/drawingml/2006/main">
              <a:ext uri="{FF2B5EF4-FFF2-40B4-BE49-F238E27FC236}">
                <a16:creationId xmlns:a16="http://schemas.microsoft.com/office/drawing/2014/main" id="{8DBA70F3-FBD8-4767-B54D-606709E0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04 / 16</a:t>
            </a:r>
          </a:p>
        </p:txBody>
      </p:sp>
    </p:spTree>
    <p:extLst>
      <p:ext uri="{BB962C8B-B14F-4D97-AF65-F5344CB8AC3E}">
        <p14:creationId xmlns:p14="http://schemas.microsoft.com/office/powerpoint/2010/main" val="2642845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데이터 분포">
            <a:extLst xmlns:a="http://schemas.openxmlformats.org/drawingml/2006/main">
              <a:ext uri="{FF2B5EF4-FFF2-40B4-BE49-F238E27FC236}">
                <a16:creationId xmlns:a16="http://schemas.microsoft.com/office/drawing/2014/main" id="{52FE8821-B199-4BFF-B657-21968BAB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데이터 분포</a:t>
            </a:r>
          </a:p>
        </p:txBody>
      </p:sp>
      <p:sp>
        <p:nvSpPr>
          <p:cNvPr id="150" name="관객 수 분포는 긴 꼬리를 가지며 흥행작 클래스가 작다">
            <a:extLst xmlns:a="http://schemas.openxmlformats.org/drawingml/2006/main">
              <a:ext uri="{FF2B5EF4-FFF2-40B4-BE49-F238E27FC236}">
                <a16:creationId xmlns:a16="http://schemas.microsoft.com/office/drawing/2014/main" id="{D0039056-4BF1-4775-8A05-D19A8892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관객 수 분포는 긴 꼬리를 가지며 흥행작 클래스가 작다</a:t>
            </a:r>
          </a:p>
        </p:txBody>
      </p:sp>
      <p:sp>
        <p:nvSpPr>
          <p:cNvPr id="151" name="선">
            <a:extLst xmlns:a="http://schemas.openxmlformats.org/drawingml/2006/main">
              <a:ext uri="{FF2B5EF4-FFF2-40B4-BE49-F238E27FC236}">
                <a16:creationId xmlns:a16="http://schemas.microsoft.com/office/drawing/2014/main" id="{DAE6324D-020B-46AA-B756-72112FAC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52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81D69A97-5A8A-45F2-828E-8334532F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5143500" cy="3524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172" name="image2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8942b790b44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" y="1791260"/>
            <a:ext cx="4838700" cy="2703979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54" name="누적 관객 수 분포">
            <a:extLst xmlns:a="http://schemas.openxmlformats.org/drawingml/2006/main">
              <a:ext uri="{FF2B5EF4-FFF2-40B4-BE49-F238E27FC236}">
                <a16:creationId xmlns:a16="http://schemas.microsoft.com/office/drawing/2014/main" id="{8AF0A677-F902-43B1-9028-311C25E23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48006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누적 관객 수 분포</a:t>
            </a:r>
          </a:p>
        </p:txBody>
      </p:sp>
      <p:sp>
        <p:nvSpPr>
          <p:cNvPr id="155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F2E778CC-42D4-4258-B58E-79A527D9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43050"/>
            <a:ext cx="5143500" cy="3524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175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22f3a104046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54750" y="1695450"/>
            <a:ext cx="4826000" cy="28956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57" name="기준별 흥행작 비율">
            <a:extLst xmlns:a="http://schemas.openxmlformats.org/drawingml/2006/main">
              <a:ext uri="{FF2B5EF4-FFF2-40B4-BE49-F238E27FC236}">
                <a16:creationId xmlns:a16="http://schemas.microsoft.com/office/drawing/2014/main" id="{188DCB97-A48A-4230-9AAA-6DFB3393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00600"/>
            <a:ext cx="48006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기준별 흥행작 비율</a:t>
            </a:r>
          </a:p>
        </p:txBody>
      </p:sp>
      <p:sp>
        <p:nvSpPr>
          <p:cNvPr id="158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3DB1C0D3-4C75-4BEC-BC08-D854FE9E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91150"/>
            <a:ext cx="31432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>
            <a:solidFill>
              <a:srgbClr val="FEE2E2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59" name="300만 기준 양성 클래스: 134편">
            <a:extLst xmlns:a="http://schemas.openxmlformats.org/drawingml/2006/main">
              <a:ext uri="{FF2B5EF4-FFF2-40B4-BE49-F238E27FC236}">
                <a16:creationId xmlns:a16="http://schemas.microsoft.com/office/drawing/2014/main" id="{0C18B2D7-609A-421C-9AA1-54740AE2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53074"/>
            <a:ext cx="2762250" cy="1905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300만 기준 양성 클래스: 134편</a:t>
            </a:r>
          </a:p>
        </p:txBody>
      </p:sp>
      <p:sp>
        <p:nvSpPr>
          <p:cNvPr id="160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71B29BC2-E629-4AA0-A5F3-EAF74AF0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391150"/>
            <a:ext cx="31432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>
            <a:solidFill>
              <a:srgbClr val="FEF3C7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61" name="500만 기준은 72편으로 더 희소">
            <a:extLst xmlns:a="http://schemas.openxmlformats.org/drawingml/2006/main">
              <a:ext uri="{FF2B5EF4-FFF2-40B4-BE49-F238E27FC236}">
                <a16:creationId xmlns:a16="http://schemas.microsoft.com/office/drawing/2014/main" id="{336E66F7-53FE-4665-985F-DCC6FFEF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553074"/>
            <a:ext cx="2762250" cy="1905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500만 기준은 72편으로 더 희소</a:t>
            </a:r>
          </a:p>
        </p:txBody>
      </p:sp>
      <p:sp>
        <p:nvSpPr>
          <p:cNvPr id="162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4D8B865D-45BD-4FE8-9EBD-3D1BEC24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391150"/>
            <a:ext cx="28194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>
            <a:solidFill>
              <a:srgbClr val="DBEAFE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63" name="불균형 해석이 필수">
            <a:extLst xmlns:a="http://schemas.openxmlformats.org/drawingml/2006/main">
              <a:ext uri="{FF2B5EF4-FFF2-40B4-BE49-F238E27FC236}">
                <a16:creationId xmlns:a16="http://schemas.microsoft.com/office/drawing/2014/main" id="{21B444C9-80EA-4FA9-9D7F-0F5973F3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553074"/>
            <a:ext cx="2438400" cy="1905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불균형 해석이 필수</a:t>
            </a:r>
          </a:p>
        </p:txBody>
      </p:sp>
      <p:sp>
        <p:nvSpPr>
          <p:cNvPr id="164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1E4B7539-FE93-4B7F-A646-5FDEBA04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165" name="05 / 16">
            <a:extLst xmlns:a="http://schemas.openxmlformats.org/drawingml/2006/main">
              <a:ext uri="{FF2B5EF4-FFF2-40B4-BE49-F238E27FC236}">
                <a16:creationId xmlns:a16="http://schemas.microsoft.com/office/drawing/2014/main" id="{E5D2BACC-65C8-46BA-B987-744A4D5F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05 / 16</a:t>
            </a:r>
          </a:p>
        </p:txBody>
      </p:sp>
    </p:spTree>
    <p:extLst>
      <p:ext uri="{BB962C8B-B14F-4D97-AF65-F5344CB8AC3E}">
        <p14:creationId xmlns:p14="http://schemas.microsoft.com/office/powerpoint/2010/main" val="8240468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특성 설계">
            <a:extLst xmlns:a="http://schemas.openxmlformats.org/drawingml/2006/main">
              <a:ext uri="{FF2B5EF4-FFF2-40B4-BE49-F238E27FC236}">
                <a16:creationId xmlns:a16="http://schemas.microsoft.com/office/drawing/2014/main" id="{A4E29DF9-4FF1-4E3A-987E-C9482EF6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특성 설계</a:t>
            </a:r>
          </a:p>
        </p:txBody>
      </p:sp>
      <p:sp>
        <p:nvSpPr>
          <p:cNvPr id="168" name="특성은 메타데이터, 제목, 포스터를 분리해 설계했다">
            <a:extLst xmlns:a="http://schemas.openxmlformats.org/drawingml/2006/main">
              <a:ext uri="{FF2B5EF4-FFF2-40B4-BE49-F238E27FC236}">
                <a16:creationId xmlns:a16="http://schemas.microsoft.com/office/drawing/2014/main" id="{338D791D-7CFD-4C27-A8A3-6A466C42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특성은 메타데이터, 제목, 포스터를 분리해 설계했다</a:t>
            </a:r>
          </a:p>
        </p:txBody>
      </p:sp>
      <p:sp>
        <p:nvSpPr>
          <p:cNvPr id="169" name="선">
            <a:extLst xmlns:a="http://schemas.openxmlformats.org/drawingml/2006/main">
              <a:ext uri="{FF2B5EF4-FFF2-40B4-BE49-F238E27FC236}">
                <a16:creationId xmlns:a16="http://schemas.microsoft.com/office/drawing/2014/main" id="{4E210FB3-042C-4FF7-B713-5FFF4806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70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CDA1802C-39B2-4F67-A101-58592E14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3333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71" name="원">
            <a:extLst xmlns:a="http://schemas.openxmlformats.org/drawingml/2006/main">
              <a:ext uri="{FF2B5EF4-FFF2-40B4-BE49-F238E27FC236}">
                <a16:creationId xmlns:a16="http://schemas.microsoft.com/office/drawing/2014/main" id="{937258DB-80E0-49DF-930C-9CAEF16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72" name="1">
            <a:extLst xmlns:a="http://schemas.openxmlformats.org/drawingml/2006/main">
              <a:ext uri="{FF2B5EF4-FFF2-40B4-BE49-F238E27FC236}">
                <a16:creationId xmlns:a16="http://schemas.microsoft.com/office/drawing/2014/main" id="{243D5D2D-9E86-4A65-BCFD-88A44357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</a:t>
            </a:r>
          </a:p>
        </p:txBody>
      </p:sp>
      <p:sp>
        <p:nvSpPr>
          <p:cNvPr id="173" name="메타데이터">
            <a:extLst xmlns:a="http://schemas.openxmlformats.org/drawingml/2006/main">
              <a:ext uri="{FF2B5EF4-FFF2-40B4-BE49-F238E27FC236}">
                <a16:creationId xmlns:a16="http://schemas.microsoft.com/office/drawing/2014/main" id="{054C992C-3639-4BE4-A6DC-8CBFE562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33550"/>
            <a:ext cx="243840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메타데이터</a:t>
            </a:r>
          </a:p>
        </p:txBody>
      </p:sp>
      <p:sp>
        <p:nvSpPr>
          <p:cNvPr id="174" name="런타임, 제작비, 개봉 연도·월, 계절, 장르 원-핫, 감독·출연진·제작사 빈도">
            <a:extLst xmlns:a="http://schemas.openxmlformats.org/drawingml/2006/main">
              <a:ext uri="{FF2B5EF4-FFF2-40B4-BE49-F238E27FC236}">
                <a16:creationId xmlns:a16="http://schemas.microsoft.com/office/drawing/2014/main" id="{BACD2794-0E1A-44F4-B5C2-A54FC3A8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57400"/>
            <a:ext cx="2438400" cy="34671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런타임, 제작비, 개봉 연도·월, 계절, 장르 원-핫, 감독·출연진·제작사 빈도</a:t>
            </a:r>
          </a:p>
        </p:txBody>
      </p:sp>
      <p:sp>
        <p:nvSpPr>
          <p:cNvPr id="175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2EB2F05B-46A0-4E8F-888C-424F9B5D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33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76" name="원">
            <a:extLst xmlns:a="http://schemas.openxmlformats.org/drawingml/2006/main">
              <a:ext uri="{FF2B5EF4-FFF2-40B4-BE49-F238E27FC236}">
                <a16:creationId xmlns:a16="http://schemas.microsoft.com/office/drawing/2014/main" id="{AF3FF1B1-AE94-447C-8B00-9ECB0431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716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77" name="2">
            <a:extLst xmlns:a="http://schemas.openxmlformats.org/drawingml/2006/main">
              <a:ext uri="{FF2B5EF4-FFF2-40B4-BE49-F238E27FC236}">
                <a16:creationId xmlns:a16="http://schemas.microsoft.com/office/drawing/2014/main" id="{AA6CFD3D-A9F5-400E-A5A5-AE47F557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83832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2</a:t>
            </a:r>
          </a:p>
        </p:txBody>
      </p:sp>
      <p:sp>
        <p:nvSpPr>
          <p:cNvPr id="178" name="제목 특성">
            <a:extLst xmlns:a="http://schemas.openxmlformats.org/drawingml/2006/main">
              <a:ext uri="{FF2B5EF4-FFF2-40B4-BE49-F238E27FC236}">
                <a16:creationId xmlns:a16="http://schemas.microsoft.com/office/drawing/2014/main" id="{8995C5E7-E741-4269-8B38-294C5014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733550"/>
            <a:ext cx="243840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제목 특성</a:t>
            </a:r>
          </a:p>
        </p:txBody>
      </p:sp>
      <p:sp>
        <p:nvSpPr>
          <p:cNvPr id="179" name="제목 길이, 단어 수, 숫자·영어·특수문자 포함 여부, 장르성 키워드">
            <a:extLst xmlns:a="http://schemas.openxmlformats.org/drawingml/2006/main">
              <a:ext uri="{FF2B5EF4-FFF2-40B4-BE49-F238E27FC236}">
                <a16:creationId xmlns:a16="http://schemas.microsoft.com/office/drawing/2014/main" id="{68514F25-2D4A-432D-9468-2C7B7FE5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57400"/>
            <a:ext cx="2438400" cy="34671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제목 길이, 단어 수, 숫자·영어·특수문자 포함 여부, 장르성 키워드</a:t>
            </a:r>
          </a:p>
        </p:txBody>
      </p:sp>
      <p:sp>
        <p:nvSpPr>
          <p:cNvPr id="180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73A57EA9-1C23-4495-87CC-0765B24E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62100"/>
            <a:ext cx="3333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81" name="원">
            <a:extLst xmlns:a="http://schemas.openxmlformats.org/drawingml/2006/main">
              <a:ext uri="{FF2B5EF4-FFF2-40B4-BE49-F238E27FC236}">
                <a16:creationId xmlns:a16="http://schemas.microsoft.com/office/drawing/2014/main" id="{BB3AA611-3760-4E54-88B0-2656E08E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716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82" name="3">
            <a:extLst xmlns:a="http://schemas.openxmlformats.org/drawingml/2006/main">
              <a:ext uri="{FF2B5EF4-FFF2-40B4-BE49-F238E27FC236}">
                <a16:creationId xmlns:a16="http://schemas.microsoft.com/office/drawing/2014/main" id="{C8376D3F-BDB1-417C-AB0D-AD5EF9F89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3832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3</a:t>
            </a:r>
          </a:p>
        </p:txBody>
      </p:sp>
      <p:sp>
        <p:nvSpPr>
          <p:cNvPr id="183" name="포스터 특성">
            <a:extLst xmlns:a="http://schemas.openxmlformats.org/drawingml/2006/main">
              <a:ext uri="{FF2B5EF4-FFF2-40B4-BE49-F238E27FC236}">
                <a16:creationId xmlns:a16="http://schemas.microsoft.com/office/drawing/2014/main" id="{5BC01B46-A6DC-48E0-8138-83716BCA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733550"/>
            <a:ext cx="243840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포스터 특성</a:t>
            </a:r>
          </a:p>
        </p:txBody>
      </p:sp>
      <p:sp>
        <p:nvSpPr>
          <p:cNvPr id="184" name="평균 밝기, 평균 채도, RGB 평균, 대비, 에지 밀도 등 저수준 시각 특성">
            <a:extLst xmlns:a="http://schemas.openxmlformats.org/drawingml/2006/main">
              <a:ext uri="{FF2B5EF4-FFF2-40B4-BE49-F238E27FC236}">
                <a16:creationId xmlns:a16="http://schemas.microsoft.com/office/drawing/2014/main" id="{62F1958A-DAF7-49E2-9C09-B43AF2DB6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57400"/>
            <a:ext cx="2438400" cy="34671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평균 밝기, 평균 채도, RGB 평균, 대비, 에지 밀도 등 저수준 시각 특성</a:t>
            </a:r>
          </a:p>
        </p:txBody>
      </p:sp>
      <p:sp>
        <p:nvSpPr>
          <p:cNvPr id="185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9D7B40EF-2BE6-40A2-A643-3AE7EFE6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051560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210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b4eb1c0d6b4452"/>
          <a:srcRect xmlns:a="http://schemas.openxmlformats.org/drawingml/2006/main" l="0" t="0" r="0" b="439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51623" y="3257550"/>
            <a:ext cx="7669704" cy="2149488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87" name="수집, 매핑, 특성 추출, 모델 학습, 평가·해석 흐름">
            <a:extLst xmlns:a="http://schemas.openxmlformats.org/drawingml/2006/main">
              <a:ext uri="{FF2B5EF4-FFF2-40B4-BE49-F238E27FC236}">
                <a16:creationId xmlns:a16="http://schemas.microsoft.com/office/drawing/2014/main" id="{059D427D-829D-41DA-9B5E-300E3B34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86400"/>
            <a:ext cx="101727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수집, 매핑, 특성 추출, 모델 학습, 평가·해석 흐름</a:t>
            </a:r>
          </a:p>
        </p:txBody>
      </p:sp>
      <p:sp>
        <p:nvSpPr>
          <p:cNvPr id="188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6D2C6CA8-929D-422B-A9DC-8AA26AA2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189" name="06 / 16">
            <a:extLst xmlns:a="http://schemas.openxmlformats.org/drawingml/2006/main">
              <a:ext uri="{FF2B5EF4-FFF2-40B4-BE49-F238E27FC236}">
                <a16:creationId xmlns:a16="http://schemas.microsoft.com/office/drawing/2014/main" id="{69F3F0CF-9EA7-411F-A8E8-0C3BE0D5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06 / 16</a:t>
            </a:r>
          </a:p>
        </p:txBody>
      </p:sp>
    </p:spTree>
    <p:extLst>
      <p:ext uri="{BB962C8B-B14F-4D97-AF65-F5344CB8AC3E}">
        <p14:creationId xmlns:p14="http://schemas.microsoft.com/office/powerpoint/2010/main" val="6192968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1" name="모델 설계">
            <a:extLst xmlns:a="http://schemas.openxmlformats.org/drawingml/2006/main">
              <a:ext uri="{FF2B5EF4-FFF2-40B4-BE49-F238E27FC236}">
                <a16:creationId xmlns:a16="http://schemas.microsoft.com/office/drawing/2014/main" id="{393AE6A1-4FBC-4692-9BFA-672478D0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모델 설계</a:t>
            </a:r>
          </a:p>
        </p:txBody>
      </p:sp>
      <p:sp>
        <p:nvSpPr>
          <p:cNvPr id="192" name="실험은 문제 유형과 특성 조합을 나눠 비교했다">
            <a:extLst xmlns:a="http://schemas.openxmlformats.org/drawingml/2006/main">
              <a:ext uri="{FF2B5EF4-FFF2-40B4-BE49-F238E27FC236}">
                <a16:creationId xmlns:a16="http://schemas.microsoft.com/office/drawing/2014/main" id="{9D1E2A2B-02B5-4005-AD57-FEBE3C5B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실험은 문제 유형과 특성 조합을 나눠 비교했다</a:t>
            </a:r>
          </a:p>
        </p:txBody>
      </p:sp>
      <p:sp>
        <p:nvSpPr>
          <p:cNvPr id="193" name="선">
            <a:extLst xmlns:a="http://schemas.openxmlformats.org/drawingml/2006/main">
              <a:ext uri="{FF2B5EF4-FFF2-40B4-BE49-F238E27FC236}">
                <a16:creationId xmlns:a16="http://schemas.microsoft.com/office/drawing/2014/main" id="{5042B15D-2966-4956-B442-EFACD365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9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259A823A-4551-4F66-AEC3-AA3B34F4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5219700" cy="403860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95" name="문제 유형">
            <a:extLst xmlns:a="http://schemas.openxmlformats.org/drawingml/2006/main">
              <a:ext uri="{FF2B5EF4-FFF2-40B4-BE49-F238E27FC236}">
                <a16:creationId xmlns:a16="http://schemas.microsoft.com/office/drawing/2014/main" id="{89ABB1B5-E299-473E-ABC3-A6E7F6BB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171450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6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문제 유형</a:t>
            </a:r>
          </a:p>
        </p:txBody>
      </p:sp>
      <p:sp>
        <p:nvSpPr>
          <p:cNvPr id="196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0BC46338-064A-42C2-9B64-CE25FB83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62200"/>
            <a:ext cx="46101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97" name="원">
            <a:extLst xmlns:a="http://schemas.openxmlformats.org/drawingml/2006/main">
              <a:ext uri="{FF2B5EF4-FFF2-40B4-BE49-F238E27FC236}">
                <a16:creationId xmlns:a16="http://schemas.microsoft.com/office/drawing/2014/main" id="{7F97AE4C-7A4E-4C57-B2B2-8A812EA2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717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198" name="1">
            <a:extLst xmlns:a="http://schemas.openxmlformats.org/drawingml/2006/main">
              <a:ext uri="{FF2B5EF4-FFF2-40B4-BE49-F238E27FC236}">
                <a16:creationId xmlns:a16="http://schemas.microsoft.com/office/drawing/2014/main" id="{6EEE1EF1-710A-4C5D-95D3-44B71206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3842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</a:t>
            </a:r>
          </a:p>
        </p:txBody>
      </p:sp>
      <p:sp>
        <p:nvSpPr>
          <p:cNvPr id="199" name="분류">
            <a:extLst xmlns:a="http://schemas.openxmlformats.org/drawingml/2006/main">
              <a:ext uri="{FF2B5EF4-FFF2-40B4-BE49-F238E27FC236}">
                <a16:creationId xmlns:a16="http://schemas.microsoft.com/office/drawing/2014/main" id="{125AD40A-BCFD-4953-BDDA-7A1F61CE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33650"/>
            <a:ext cx="371475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분류</a:t>
            </a:r>
          </a:p>
        </p:txBody>
      </p:sp>
      <p:sp>
        <p:nvSpPr>
          <p:cNvPr id="200" name="300만 이상 흥행 여부…">
            <a:extLst xmlns:a="http://schemas.openxmlformats.org/drawingml/2006/main">
              <a:ext uri="{FF2B5EF4-FFF2-40B4-BE49-F238E27FC236}">
                <a16:creationId xmlns:a16="http://schemas.microsoft.com/office/drawing/2014/main" id="{A9789DFD-8B75-446C-990A-8534DF9D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57500"/>
            <a:ext cx="3714750" cy="34671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300만 이상 흥행 여부</a:t>
            </a:r>
          </a:p>
          <a:p xmlns:a="http://schemas.openxmlformats.org/drawingml/2006/main">
            <a: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Logistic / Decision Tree / RF / DNN MLP</a:t>
            </a:r>
          </a:p>
        </p:txBody>
      </p:sp>
      <p:sp>
        <p:nvSpPr>
          <p:cNvPr id="20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33D1B8DE-B6C9-4415-A5D8-A83ACDA5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46101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02" name="원">
            <a:extLst xmlns:a="http://schemas.openxmlformats.org/drawingml/2006/main">
              <a:ext uri="{FF2B5EF4-FFF2-40B4-BE49-F238E27FC236}">
                <a16:creationId xmlns:a16="http://schemas.microsoft.com/office/drawing/2014/main" id="{5839570E-EF43-49AA-9F75-207415B5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433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03" name="2">
            <a:extLst xmlns:a="http://schemas.openxmlformats.org/drawingml/2006/main">
              <a:ext uri="{FF2B5EF4-FFF2-40B4-BE49-F238E27FC236}">
                <a16:creationId xmlns:a16="http://schemas.microsoft.com/office/drawing/2014/main" id="{A39CB405-FF1E-4E71-8286-C1877390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0997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2</a:t>
            </a:r>
          </a:p>
        </p:txBody>
      </p:sp>
      <p:sp>
        <p:nvSpPr>
          <p:cNvPr id="204" name="회귀">
            <a:extLst xmlns:a="http://schemas.openxmlformats.org/drawingml/2006/main">
              <a:ext uri="{FF2B5EF4-FFF2-40B4-BE49-F238E27FC236}">
                <a16:creationId xmlns:a16="http://schemas.microsoft.com/office/drawing/2014/main" id="{9B121EEB-D6A2-4D9E-AA43-AF6E3B82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371475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회귀</a:t>
            </a:r>
          </a:p>
        </p:txBody>
      </p:sp>
      <p:sp>
        <p:nvSpPr>
          <p:cNvPr id="205" name="log 관객 수 예측…">
            <a:extLst xmlns:a="http://schemas.openxmlformats.org/drawingml/2006/main">
              <a:ext uri="{FF2B5EF4-FFF2-40B4-BE49-F238E27FC236}">
                <a16:creationId xmlns:a16="http://schemas.microsoft.com/office/drawing/2014/main" id="{AD593CC6-BE0B-4127-882B-744A26C6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29050"/>
            <a:ext cx="3714750" cy="34671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log 관객 수 예측</a:t>
            </a:r>
          </a:p>
          <a:p xmlns:a="http://schemas.openxmlformats.org/drawingml/2006/main">
            <a: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Linear / Ridge / Lasso / RF Regressor</a:t>
            </a:r>
          </a:p>
        </p:txBody>
      </p:sp>
      <p:sp>
        <p:nvSpPr>
          <p:cNvPr id="206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9D203474-BA09-4D3A-9B8E-E378A480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46101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07" name="원">
            <a:extLst xmlns:a="http://schemas.openxmlformats.org/drawingml/2006/main">
              <a:ext uri="{FF2B5EF4-FFF2-40B4-BE49-F238E27FC236}">
                <a16:creationId xmlns:a16="http://schemas.microsoft.com/office/drawing/2014/main" id="{A5EF7F18-EB66-4082-92DA-BD03E2B1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148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08" name="3">
            <a:extLst xmlns:a="http://schemas.openxmlformats.org/drawingml/2006/main">
              <a:ext uri="{FF2B5EF4-FFF2-40B4-BE49-F238E27FC236}">
                <a16:creationId xmlns:a16="http://schemas.microsoft.com/office/drawing/2014/main" id="{36B914F8-8AD4-4708-B54F-BBBA7AA9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81525"/>
            <a:ext cx="361950" cy="1524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3</a:t>
            </a:r>
          </a:p>
        </p:txBody>
      </p:sp>
      <p:sp>
        <p:nvSpPr>
          <p:cNvPr id="209" name="랭크">
            <a:extLst xmlns:a="http://schemas.openxmlformats.org/drawingml/2006/main">
              <a:ext uri="{FF2B5EF4-FFF2-40B4-BE49-F238E27FC236}">
                <a16:creationId xmlns:a16="http://schemas.microsoft.com/office/drawing/2014/main" id="{40A34849-8151-4C72-95F6-FF7E330F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76750"/>
            <a:ext cx="371475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랭크</a:t>
            </a:r>
          </a:p>
        </p:txBody>
      </p:sp>
      <p:sp>
        <p:nvSpPr>
          <p:cNvPr id="210" name="성공도 등급 분류…">
            <a:extLst xmlns:a="http://schemas.openxmlformats.org/drawingml/2006/main">
              <a:ext uri="{FF2B5EF4-FFF2-40B4-BE49-F238E27FC236}">
                <a16:creationId xmlns:a16="http://schemas.microsoft.com/office/drawing/2014/main" id="{9DDD1450-5334-402F-BB4A-D05E352D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00600"/>
            <a:ext cx="3714750" cy="34671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성공도 등급 분류</a:t>
            </a:r>
          </a:p>
          <a:p xmlns:a="http://schemas.openxmlformats.org/drawingml/2006/main">
            <a: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pPr>
            <a:r>
              <a:t>D-C-B-A-S 직접 분류와 보조 전략</a:t>
            </a:r>
          </a:p>
        </p:txBody>
      </p:sp>
      <p:sp>
        <p:nvSpPr>
          <p:cNvPr id="21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27DE97BD-BAF4-4CC3-9189-B55009BE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295900" cy="403860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12" name="입력 특성 조합과 지표">
            <a:extLst xmlns:a="http://schemas.openxmlformats.org/drawingml/2006/main">
              <a:ext uri="{FF2B5EF4-FFF2-40B4-BE49-F238E27FC236}">
                <a16:creationId xmlns:a16="http://schemas.microsoft.com/office/drawing/2014/main" id="{1FBA2F3C-5980-4B96-AE73-5CBC5CDA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47850"/>
            <a:ext cx="247650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6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입력 특성 조합과 지표</a:t>
            </a:r>
          </a:p>
        </p:txBody>
      </p:sp>
      <p:sp>
        <p:nvSpPr>
          <p:cNvPr id="213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A7851149-F173-4866-8892-CD44685D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24100"/>
            <a:ext cx="1562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>
            <a:solidFill>
              <a:srgbClr val="DBEAFE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14" name="metadata">
            <a:extLst xmlns:a="http://schemas.openxmlformats.org/drawingml/2006/main">
              <a:ext uri="{FF2B5EF4-FFF2-40B4-BE49-F238E27FC236}">
                <a16:creationId xmlns:a16="http://schemas.microsoft.com/office/drawing/2014/main" id="{D96926A4-CF1B-405D-AF64-6C0B579C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13335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metadata</a:t>
            </a:r>
          </a:p>
        </p:txBody>
      </p:sp>
      <p:sp>
        <p:nvSpPr>
          <p:cNvPr id="215" name="메타데이터만 사용">
            <a:extLst xmlns:a="http://schemas.openxmlformats.org/drawingml/2006/main">
              <a:ext uri="{FF2B5EF4-FFF2-40B4-BE49-F238E27FC236}">
                <a16:creationId xmlns:a16="http://schemas.microsoft.com/office/drawing/2014/main" id="{A5E3A438-9FC3-4667-90FC-7AC065B9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81250"/>
            <a:ext cx="24765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메타데이터만 사용</a:t>
            </a:r>
          </a:p>
        </p:txBody>
      </p:sp>
      <p:sp>
        <p:nvSpPr>
          <p:cNvPr id="216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AEDEAFCA-1E2E-449A-AF21-6577BDCB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38450"/>
            <a:ext cx="1562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>
            <a:solidFill>
              <a:srgbClr val="EEF2F7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17" name="metadata_title">
            <a:extLst xmlns:a="http://schemas.openxmlformats.org/drawingml/2006/main">
              <a:ext uri="{FF2B5EF4-FFF2-40B4-BE49-F238E27FC236}">
                <a16:creationId xmlns:a16="http://schemas.microsoft.com/office/drawing/2014/main" id="{107B1C5C-3374-4B3D-B26E-71EB22DE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95600"/>
            <a:ext cx="13335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metadata_title</a:t>
            </a:r>
          </a:p>
        </p:txBody>
      </p:sp>
      <p:sp>
        <p:nvSpPr>
          <p:cNvPr id="218" name="메타데이터 + 제목 특성">
            <a:extLst xmlns:a="http://schemas.openxmlformats.org/drawingml/2006/main">
              <a:ext uri="{FF2B5EF4-FFF2-40B4-BE49-F238E27FC236}">
                <a16:creationId xmlns:a16="http://schemas.microsoft.com/office/drawing/2014/main" id="{E97D8230-9091-4CFF-BD76-B81047BB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95600"/>
            <a:ext cx="24765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메타데이터 + 제목 특성</a:t>
            </a:r>
          </a:p>
        </p:txBody>
      </p:sp>
      <p:sp>
        <p:nvSpPr>
          <p:cNvPr id="21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4F5D9D4A-A0F7-41C5-AEB6-7C938374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52800"/>
            <a:ext cx="1562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>
            <a:solidFill>
              <a:srgbClr val="EEF2F7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20" name="metadata_poster">
            <a:extLst xmlns:a="http://schemas.openxmlformats.org/drawingml/2006/main">
              <a:ext uri="{FF2B5EF4-FFF2-40B4-BE49-F238E27FC236}">
                <a16:creationId xmlns:a16="http://schemas.microsoft.com/office/drawing/2014/main" id="{519D45C6-2DD3-4ACE-9093-2AF078EE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09950"/>
            <a:ext cx="13335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metadata_poster</a:t>
            </a:r>
          </a:p>
        </p:txBody>
      </p:sp>
      <p:sp>
        <p:nvSpPr>
          <p:cNvPr id="221" name="메타데이터 + 포스터 특성">
            <a:extLst xmlns:a="http://schemas.openxmlformats.org/drawingml/2006/main">
              <a:ext uri="{FF2B5EF4-FFF2-40B4-BE49-F238E27FC236}">
                <a16:creationId xmlns:a16="http://schemas.microsoft.com/office/drawing/2014/main" id="{5F166E63-49E3-45AD-BD99-3B9197CE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09950"/>
            <a:ext cx="24765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메타데이터 + 포스터 특성</a:t>
            </a:r>
          </a:p>
        </p:txBody>
      </p:sp>
      <p:sp>
        <p:nvSpPr>
          <p:cNvPr id="222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C1539FB8-CD7C-4ECE-A062-50DF5CE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67150"/>
            <a:ext cx="1562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>
            <a:solidFill>
              <a:srgbClr val="EEF2F7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23" name="all">
            <a:extLst xmlns:a="http://schemas.openxmlformats.org/drawingml/2006/main">
              <a:ext uri="{FF2B5EF4-FFF2-40B4-BE49-F238E27FC236}">
                <a16:creationId xmlns:a16="http://schemas.microsoft.com/office/drawing/2014/main" id="{255295EB-AF58-4523-8828-A55A8CC6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3335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all</a:t>
            </a:r>
          </a:p>
        </p:txBody>
      </p:sp>
      <p:sp>
        <p:nvSpPr>
          <p:cNvPr id="224" name="전체 특성 사용">
            <a:extLst xmlns:a="http://schemas.openxmlformats.org/drawingml/2006/main">
              <a:ext uri="{FF2B5EF4-FFF2-40B4-BE49-F238E27FC236}">
                <a16:creationId xmlns:a16="http://schemas.microsoft.com/office/drawing/2014/main" id="{DF66D49B-9073-42AF-A6D6-B98AE764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24300"/>
            <a:ext cx="24765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전체 특성 사용</a:t>
            </a:r>
          </a:p>
        </p:txBody>
      </p:sp>
      <p:sp>
        <p:nvSpPr>
          <p:cNvPr id="225" name="선">
            <a:extLst xmlns:a="http://schemas.openxmlformats.org/drawingml/2006/main">
              <a:ext uri="{FF2B5EF4-FFF2-40B4-BE49-F238E27FC236}">
                <a16:creationId xmlns:a16="http://schemas.microsoft.com/office/drawing/2014/main" id="{9740AE2F-CE32-4554-9B2F-35E2B9B1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72000"/>
            <a:ext cx="4381501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D8DEE9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26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633A83A9-7DEE-4493-A5B5-3464F9A4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81550"/>
            <a:ext cx="104775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평가 지표</a:t>
            </a:r>
          </a:p>
        </p:txBody>
      </p:sp>
      <p:sp>
        <p:nvSpPr>
          <p:cNvPr id="227" name="Accuracy, F1, Recall, ROC-AUC, RMSE, R2를 함께 보고 불균형 효과를 해석했다.">
            <a:extLst xmlns:a="http://schemas.openxmlformats.org/drawingml/2006/main">
              <a:ext uri="{FF2B5EF4-FFF2-40B4-BE49-F238E27FC236}">
                <a16:creationId xmlns:a16="http://schemas.microsoft.com/office/drawing/2014/main" id="{E3DC41D3-600D-4C08-822B-11830A7B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781550"/>
            <a:ext cx="3143250" cy="34671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Accuracy, F1, Recall, ROC-AUC, RMSE, R2를 함께 보고 불균형 효과를 해석했다.</a:t>
            </a:r>
          </a:p>
        </p:txBody>
      </p:sp>
      <p:sp>
        <p:nvSpPr>
          <p:cNvPr id="228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BD7321B5-84DE-4736-9301-4D47C939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229" name="07 / 16">
            <a:extLst xmlns:a="http://schemas.openxmlformats.org/drawingml/2006/main">
              <a:ext uri="{FF2B5EF4-FFF2-40B4-BE49-F238E27FC236}">
                <a16:creationId xmlns:a16="http://schemas.microsoft.com/office/drawing/2014/main" id="{5F6AAC02-F7DF-4BCF-8895-AD4A448C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07 / 16</a:t>
            </a:r>
          </a:p>
        </p:txBody>
      </p:sp>
    </p:spTree>
    <p:extLst>
      <p:ext uri="{BB962C8B-B14F-4D97-AF65-F5344CB8AC3E}">
        <p14:creationId xmlns:p14="http://schemas.microsoft.com/office/powerpoint/2010/main" val="15778069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1" name="분류 결과">
            <a:extLst xmlns:a="http://schemas.openxmlformats.org/drawingml/2006/main">
              <a:ext uri="{FF2B5EF4-FFF2-40B4-BE49-F238E27FC236}">
                <a16:creationId xmlns:a16="http://schemas.microsoft.com/office/drawing/2014/main" id="{58EDAF25-B795-4BF1-B8EE-815C861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분류</a:t>
            </a:r>
            <a:r>
              <a:t> </a:t>
            </a:r>
            <a:r>
              <a:t>결과</a:t>
            </a:r>
          </a:p>
        </p:txBody>
      </p:sp>
      <p:sp>
        <p:nvSpPr>
          <p:cNvPr id="232" name="분류에서는 Random Forest가 가장 안정적인 기준 모델이었다">
            <a:extLst xmlns:a="http://schemas.openxmlformats.org/drawingml/2006/main">
              <a:ext uri="{FF2B5EF4-FFF2-40B4-BE49-F238E27FC236}">
                <a16:creationId xmlns:a16="http://schemas.microsoft.com/office/drawing/2014/main" id="{79046952-1553-4B70-A32D-4802BC4D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889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분류 모델 비교 결과 </a:t>
            </a:r>
            <a:r>
              <a:t>Random</a:t>
            </a:r>
            <a:r>
              <a:t> </a:t>
            </a:r>
            <a:r>
              <a:t>Forest가</a:t>
            </a:r>
            <a:r>
              <a:t> 가장 안정적인 성능을 보였다</a:t>
            </a:r>
          </a:p>
        </p:txBody>
      </p:sp>
      <p:sp>
        <p:nvSpPr>
          <p:cNvPr id="233" name="선">
            <a:extLst xmlns:a="http://schemas.openxmlformats.org/drawingml/2006/main">
              <a:ext uri="{FF2B5EF4-FFF2-40B4-BE49-F238E27FC236}">
                <a16:creationId xmlns:a16="http://schemas.microsoft.com/office/drawing/2014/main" id="{14D2A54A-27F8-45B9-B05B-591F5382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3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C033675E-05F7-4A5C-88EB-7661BDDF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714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35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7887DEA8-C256-4440-8CE9-B75738B9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7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36" name="최고 ROC-AUC">
            <a:extLst xmlns:a="http://schemas.openxmlformats.org/drawingml/2006/main">
              <a:ext uri="{FF2B5EF4-FFF2-40B4-BE49-F238E27FC236}">
                <a16:creationId xmlns:a16="http://schemas.microsoft.com/office/drawing/2014/main" id="{EA314EE8-321F-4B43-A046-212D75E1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3525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최고 ROC-AUC</a:t>
            </a:r>
          </a:p>
        </p:txBody>
      </p:sp>
      <p:sp>
        <p:nvSpPr>
          <p:cNvPr id="237" name="0.819">
            <a:extLst xmlns:a="http://schemas.openxmlformats.org/drawingml/2006/main">
              <a:ext uri="{FF2B5EF4-FFF2-40B4-BE49-F238E27FC236}">
                <a16:creationId xmlns:a16="http://schemas.microsoft.com/office/drawing/2014/main" id="{68834448-CA03-4B2E-B2E2-7DFA20EA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1352550" cy="508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0.819</a:t>
            </a:r>
          </a:p>
        </p:txBody>
      </p:sp>
      <p:sp>
        <p:nvSpPr>
          <p:cNvPr id="238" name="메타+제목 / RF">
            <a:extLst xmlns:a="http://schemas.openxmlformats.org/drawingml/2006/main">
              <a:ext uri="{FF2B5EF4-FFF2-40B4-BE49-F238E27FC236}">
                <a16:creationId xmlns:a16="http://schemas.microsoft.com/office/drawing/2014/main" id="{24196539-B95F-4E16-B81C-DE6F1E3F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95550"/>
            <a:ext cx="13525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메타+제목 / RF</a:t>
            </a:r>
          </a:p>
        </p:txBody>
      </p:sp>
      <p:sp>
        <p:nvSpPr>
          <p:cNvPr id="23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D71981A9-B9A7-433A-839C-67E2832E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504950"/>
            <a:ext cx="1714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40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2FC7D0D6-C219-44BB-BBCD-2C4ED125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504950"/>
            <a:ext cx="57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41" name="Accuracy">
            <a:extLst xmlns:a="http://schemas.openxmlformats.org/drawingml/2006/main">
              <a:ext uri="{FF2B5EF4-FFF2-40B4-BE49-F238E27FC236}">
                <a16:creationId xmlns:a16="http://schemas.microsoft.com/office/drawing/2014/main" id="{C2296ED0-207E-497C-9523-17A4FFEE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676400"/>
            <a:ext cx="13525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Accuracy</a:t>
            </a:r>
          </a:p>
        </p:txBody>
      </p:sp>
      <p:sp>
        <p:nvSpPr>
          <p:cNvPr id="242" name="0.824">
            <a:extLst xmlns:a="http://schemas.openxmlformats.org/drawingml/2006/main">
              <a:ext uri="{FF2B5EF4-FFF2-40B4-BE49-F238E27FC236}">
                <a16:creationId xmlns:a16="http://schemas.microsoft.com/office/drawing/2014/main" id="{5C52DC76-DEB2-4F67-8DC2-EA250629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33575"/>
            <a:ext cx="1352550" cy="508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0.824</a:t>
            </a:r>
          </a:p>
        </p:txBody>
      </p:sp>
      <p:sp>
        <p:nvSpPr>
          <p:cNvPr id="243" name="메타+제목 / RF">
            <a:extLst xmlns:a="http://schemas.openxmlformats.org/drawingml/2006/main">
              <a:ext uri="{FF2B5EF4-FFF2-40B4-BE49-F238E27FC236}">
                <a16:creationId xmlns:a16="http://schemas.microsoft.com/office/drawing/2014/main" id="{C95084B4-C14B-4AFA-91B4-151417EF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95550"/>
            <a:ext cx="13525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메타+제목 / RF</a:t>
            </a:r>
          </a:p>
        </p:txBody>
      </p:sp>
      <p:sp>
        <p:nvSpPr>
          <p:cNvPr id="24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11AB6050-D432-4679-A964-F85F3F9D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04950"/>
            <a:ext cx="1714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45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4691CD9A-BD2D-4AD6-A5A9-EF731D68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04950"/>
            <a:ext cx="57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46" name="F1">
            <a:extLst xmlns:a="http://schemas.openxmlformats.org/drawingml/2006/main">
              <a:ext uri="{FF2B5EF4-FFF2-40B4-BE49-F238E27FC236}">
                <a16:creationId xmlns:a16="http://schemas.microsoft.com/office/drawing/2014/main" id="{23496247-BB15-4461-B94D-FBB70ED0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676400"/>
            <a:ext cx="13525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F1</a:t>
            </a:r>
          </a:p>
        </p:txBody>
      </p:sp>
      <p:sp>
        <p:nvSpPr>
          <p:cNvPr id="247" name="0.511">
            <a:extLst xmlns:a="http://schemas.openxmlformats.org/drawingml/2006/main">
              <a:ext uri="{FF2B5EF4-FFF2-40B4-BE49-F238E27FC236}">
                <a16:creationId xmlns:a16="http://schemas.microsoft.com/office/drawing/2014/main" id="{8CA601EB-8180-4D0C-930F-7953FD6A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33575"/>
            <a:ext cx="1352550" cy="508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0.511</a:t>
            </a:r>
          </a:p>
        </p:txBody>
      </p:sp>
      <p:sp>
        <p:nvSpPr>
          <p:cNvPr id="248" name="메타+제목 / RF">
            <a:extLst xmlns:a="http://schemas.openxmlformats.org/drawingml/2006/main">
              <a:ext uri="{FF2B5EF4-FFF2-40B4-BE49-F238E27FC236}">
                <a16:creationId xmlns:a16="http://schemas.microsoft.com/office/drawing/2014/main" id="{D70FBC45-339C-4224-8696-72F1F403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95550"/>
            <a:ext cx="13525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메타+제목 / RF</a:t>
            </a:r>
          </a:p>
        </p:txBody>
      </p:sp>
      <p:sp>
        <p:nvSpPr>
          <p:cNvPr id="24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DE2AB76B-92E1-4274-B881-1F22EAB7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1714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50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D1C2D608-76C0-403E-9230-5C9B9ABB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57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51" name="최고 F1">
            <a:extLst xmlns:a="http://schemas.openxmlformats.org/drawingml/2006/main">
              <a:ext uri="{FF2B5EF4-FFF2-40B4-BE49-F238E27FC236}">
                <a16:creationId xmlns:a16="http://schemas.microsoft.com/office/drawing/2014/main" id="{E96DA171-8CFF-43AF-99E2-F42F5AEE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76400"/>
            <a:ext cx="13525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최고 F1</a:t>
            </a:r>
          </a:p>
        </p:txBody>
      </p:sp>
      <p:sp>
        <p:nvSpPr>
          <p:cNvPr id="252" name="0.522">
            <a:extLst xmlns:a="http://schemas.openxmlformats.org/drawingml/2006/main">
              <a:ext uri="{FF2B5EF4-FFF2-40B4-BE49-F238E27FC236}">
                <a16:creationId xmlns:a16="http://schemas.microsoft.com/office/drawing/2014/main" id="{566EFA14-FD9E-4DE9-AFC9-727303FA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33575"/>
            <a:ext cx="1352550" cy="508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0.522</a:t>
            </a:r>
          </a:p>
        </p:txBody>
      </p:sp>
      <p:sp>
        <p:nvSpPr>
          <p:cNvPr id="253" name="메타 / RF">
            <a:extLst xmlns:a="http://schemas.openxmlformats.org/drawingml/2006/main">
              <a:ext uri="{FF2B5EF4-FFF2-40B4-BE49-F238E27FC236}">
                <a16:creationId xmlns:a16="http://schemas.microsoft.com/office/drawing/2014/main" id="{26A79EFD-C6D7-465E-9304-9F25E06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95550"/>
            <a:ext cx="135255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 / RF</a:t>
            </a:r>
          </a:p>
        </p:txBody>
      </p:sp>
      <p:sp>
        <p:nvSpPr>
          <p:cNvPr id="25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37BC4AEB-122F-4549-840F-18DC638D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32" y="3238500"/>
            <a:ext cx="6676718" cy="2609850"/>
          </a:xfrm>
          <a:prstGeom xmlns:a="http://schemas.openxmlformats.org/drawingml/2006/main" prst="roundRect">
            <a:avLst>
              <a:gd name="adj" fmla="val 43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293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3fa4e923e41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0434" y="3384550"/>
            <a:ext cx="2901833" cy="17411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56" name="Random Forest 입력 특성 조합별 ROC-AUC">
            <a:extLst xmlns:a="http://schemas.openxmlformats.org/drawingml/2006/main">
              <a:ext uri="{FF2B5EF4-FFF2-40B4-BE49-F238E27FC236}">
                <a16:creationId xmlns:a16="http://schemas.microsoft.com/office/drawing/2014/main" id="{E6A9B97B-35E2-40A0-95F1-0141E7A4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0163"/>
            <a:ext cx="2345608" cy="12766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Random Forest </a:t>
            </a:r>
            <a:r>
              <a:t>입력</a:t>
            </a:r>
            <a:r>
              <a:t> </a:t>
            </a:r>
            <a:r>
              <a:t>특성</a:t>
            </a:r>
            <a:r>
              <a:t> </a:t>
            </a:r>
            <a:r>
              <a:t>조합별</a:t>
            </a:r>
            <a:r>
              <a:t> ROC-AUC</a:t>
            </a:r>
          </a:p>
        </p:txBody>
      </p:sp>
      <p:sp>
        <p:nvSpPr>
          <p:cNvPr id="257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CE503A28-C463-4453-9AAA-EC0880C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5871" y="3238500"/>
            <a:ext cx="4601497" cy="2609850"/>
          </a:xfrm>
          <a:prstGeom xmlns:a="http://schemas.openxmlformats.org/drawingml/2006/main" prst="roundRect">
            <a:avLst>
              <a:gd name="adj" fmla="val 43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58" name="핵심 해석">
            <a:extLst xmlns:a="http://schemas.openxmlformats.org/drawingml/2006/main">
              <a:ext uri="{FF2B5EF4-FFF2-40B4-BE49-F238E27FC236}">
                <a16:creationId xmlns:a16="http://schemas.microsoft.com/office/drawing/2014/main" id="{24B511A2-B72A-42F5-8684-3BB988E5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43300"/>
            <a:ext cx="1524000" cy="2413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6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핵심 해석</a:t>
            </a:r>
          </a:p>
        </p:txBody>
      </p:sp>
      <p:sp>
        <p:nvSpPr>
          <p:cNvPr id="259" name="원">
            <a:extLst xmlns:a="http://schemas.openxmlformats.org/drawingml/2006/main">
              <a:ext uri="{FF2B5EF4-FFF2-40B4-BE49-F238E27FC236}">
                <a16:creationId xmlns:a16="http://schemas.microsoft.com/office/drawing/2014/main" id="{DB7AC6CA-7494-451C-A3F3-8D01F85F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1480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60" name="제목 특성은 ROC-AUC를 소폭 높였지만 F1 개선은 제한적이다.">
            <a:extLst xmlns:a="http://schemas.openxmlformats.org/drawingml/2006/main">
              <a:ext uri="{FF2B5EF4-FFF2-40B4-BE49-F238E27FC236}">
                <a16:creationId xmlns:a16="http://schemas.microsoft.com/office/drawing/2014/main" id="{5EAB7B8E-9B33-4EED-8015-EFEE530F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01662"/>
            <a:ext cx="3219450" cy="59772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4개 모델을 비교한 결과</a:t>
            </a:r>
            <a:br/>
            <a:r>
              <a:t>Random</a:t>
            </a:r>
            <a:r>
              <a:t> </a:t>
            </a:r>
            <a:r>
              <a:t>Forest가</a:t>
            </a:r>
            <a:r>
              <a:t> ROC-AUC 0.817로</a:t>
            </a:r>
            <a:br/>
            <a:r>
              <a:t>가장 높은 성능을 기록하였다.</a:t>
            </a:r>
          </a:p>
        </p:txBody>
      </p:sp>
      <p:sp>
        <p:nvSpPr>
          <p:cNvPr id="261" name="원">
            <a:extLst xmlns:a="http://schemas.openxmlformats.org/drawingml/2006/main">
              <a:ext uri="{FF2B5EF4-FFF2-40B4-BE49-F238E27FC236}">
                <a16:creationId xmlns:a16="http://schemas.microsoft.com/office/drawing/2014/main" id="{9F35E911-9215-4C77-9AC3-9B23626B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910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62" name="메타데이터만으로도 RF 기준 F1 0.522를 기록했다.">
            <a:extLst xmlns:a="http://schemas.openxmlformats.org/drawingml/2006/main">
              <a:ext uri="{FF2B5EF4-FFF2-40B4-BE49-F238E27FC236}">
                <a16:creationId xmlns:a16="http://schemas.microsoft.com/office/drawing/2014/main" id="{A6C8DC85-E969-4561-8208-63CB1982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4266892" cy="100399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Logistic</a:t>
            </a:r>
            <a:r>
              <a:t> </a:t>
            </a:r>
            <a:r>
              <a:t>Regression과</a:t>
            </a:r>
            <a:r>
              <a:t> </a:t>
            </a:r>
            <a:r>
              <a:t>DNN은</a:t>
            </a:r>
            <a:br/>
            <a:r>
              <a:t>0.68 수준의 성능을 보였으며,</a:t>
            </a:r>
            <a:br/>
            <a:r>
              <a:t>Decision</a:t>
            </a:r>
            <a:r>
              <a:t> </a:t>
            </a:r>
            <a:r>
              <a:t>Tree는</a:t>
            </a:r>
            <a:r>
              <a:t> 0.636으로 가장 낮았다</a:t>
            </a:r>
          </a:p>
          <a:p xmlns:a="http://schemas.openxmlformats.org/drawingml/2006/main">
            <a:r>
              <a:t>따라서 본 프로젝트의 기준 분류 모델로 </a:t>
            </a:r>
            <a:r>
              <a:t>Random</a:t>
            </a:r>
            <a:r>
              <a:t> </a:t>
            </a:r>
            <a:r>
              <a:t>Forest를</a:t>
            </a:r>
            <a:r>
              <a:t> 선정하였다.</a:t>
            </a:r>
          </a:p>
        </p:txBody>
      </p:sp>
      <p:sp>
        <p:nvSpPr>
          <p:cNvPr id="263" name="원">
            <a:extLst xmlns:a="http://schemas.openxmlformats.org/drawingml/2006/main">
              <a:ext uri="{FF2B5EF4-FFF2-40B4-BE49-F238E27FC236}">
                <a16:creationId xmlns:a16="http://schemas.microsoft.com/office/drawing/2014/main" id="{38E770A9-5C1A-4AEA-A7B1-39E89F21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6730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64" name="흥행작 비중이 낮아 Accuracy만으로 모델을 선택하면 위험하다.">
            <a:extLst xmlns:a="http://schemas.openxmlformats.org/drawingml/2006/main">
              <a:ext uri="{FF2B5EF4-FFF2-40B4-BE49-F238E27FC236}">
                <a16:creationId xmlns:a16="http://schemas.microsoft.com/office/drawing/2014/main" id="{6E79F2D1-E311-48E7-895F-1BA41956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991100"/>
            <a:ext cx="3219450" cy="19146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/>
        </p:txBody>
      </p:sp>
      <p:sp>
        <p:nvSpPr>
          <p:cNvPr id="265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BACF0FBB-B200-4606-AB6B-842F1FF41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266" name="08 / 16">
            <a:extLst xmlns:a="http://schemas.openxmlformats.org/drawingml/2006/main">
              <a:ext uri="{FF2B5EF4-FFF2-40B4-BE49-F238E27FC236}">
                <a16:creationId xmlns:a16="http://schemas.microsoft.com/office/drawing/2014/main" id="{CC48EF51-25BC-49B1-8764-D27E73B3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08 / 16</a:t>
            </a:r>
          </a:p>
        </p:txBody>
      </p:sp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61C8C3D-3B7B-AE49-E925-DC2963A9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19051"/>
            <a:ext cx="9300623" cy="276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/>
        </p:style>
        <p:txBody>
          <a:bodyPr xmlns:a="http://schemas.openxmlformats.org/drawingml/2006/main" rot="0" spcFirstLastPara="1" vert="horz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tx1"/>
                </a:solidFill>
              </a:rPr>
              <a:t>동일한 메타데이터 특성으로 학습한 결과 </a:t>
            </a:r>
            <a:r>
              <a:rPr>
                <a:solidFill>
                  <a:schemeClr val="tx1"/>
                </a:solidFill>
              </a:rPr>
              <a:t>Random Forest</a:t>
            </a:r>
            <a:r>
              <a:rPr>
                <a:solidFill>
                  <a:schemeClr val="tx1"/>
                </a:solidFill>
              </a:rPr>
              <a:t>가 가장 높은 </a:t>
            </a:r>
            <a:r>
              <a:rPr>
                <a:solidFill>
                  <a:schemeClr val="tx1"/>
                </a:solidFill>
              </a:rPr>
              <a:t>ROC-AUC</a:t>
            </a:r>
            <a:r>
              <a:rPr>
                <a:solidFill>
                  <a:schemeClr val="tx1"/>
                </a:solidFill>
              </a:rPr>
              <a:t>를 기록하였다</a:t>
            </a:r>
            <a:r>
              <a:rPr>
                <a:solidFill>
                  <a:schemeClr val="tx1"/>
                </a:solidFill>
              </a:rPr>
              <a:t>.</a:t>
            </a:r>
          </a:p>
        </p:txBody>
      </p:sp>
      <p:graphicFrame>
        <p:nvGraphicFramePr>
          <p:cNvPr id="306" name="차트 4"/>
          <p:cNvGraphicFramePr/>
          <p:nvPr/>
        </p:nvGraphicFramePr>
        <p:xfrm>
          <a:off xmlns:a="http://schemas.openxmlformats.org/drawingml/2006/main" x="3307327" y="2780519"/>
          <a:ext xmlns:a="http://schemas.openxmlformats.org/drawingml/2006/main" cx="3684023" cy="3448831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bdad95aeed4aec"/>
          </a:graphicData>
        </a:graphic>
      </p:graphicFrame>
    </p:spTree>
    <p:extLst>
      <p:ext uri="{BB962C8B-B14F-4D97-AF65-F5344CB8AC3E}">
        <p14:creationId xmlns:p14="http://schemas.microsoft.com/office/powerpoint/2010/main" val="7241496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8" name="분류 해석">
            <a:extLst xmlns:a="http://schemas.openxmlformats.org/drawingml/2006/main">
              <a:ext uri="{FF2B5EF4-FFF2-40B4-BE49-F238E27FC236}">
                <a16:creationId xmlns:a16="http://schemas.microsoft.com/office/drawing/2014/main" id="{A500BA2C-3268-48CF-88A7-67F3901D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분류 해석</a:t>
            </a:r>
          </a:p>
        </p:txBody>
      </p:sp>
      <p:sp>
        <p:nvSpPr>
          <p:cNvPr id="269" name="분류 성능은 Accuracy보다 흥행작 탐지 관점에서 봐야 한다">
            <a:extLst xmlns:a="http://schemas.openxmlformats.org/drawingml/2006/main">
              <a:ext uri="{FF2B5EF4-FFF2-40B4-BE49-F238E27FC236}">
                <a16:creationId xmlns:a16="http://schemas.microsoft.com/office/drawing/2014/main" id="{FB650731-F906-4B20-A6B4-146F6C65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분류 성능은 Accuracy보다 흥행작 탐지 관점에서 봐야 한다</a:t>
            </a:r>
          </a:p>
        </p:txBody>
      </p:sp>
      <p:sp>
        <p:nvSpPr>
          <p:cNvPr id="270" name="선">
            <a:extLst xmlns:a="http://schemas.openxmlformats.org/drawingml/2006/main">
              <a:ext uri="{FF2B5EF4-FFF2-40B4-BE49-F238E27FC236}">
                <a16:creationId xmlns:a16="http://schemas.microsoft.com/office/drawing/2014/main" id="{3BE00CA7-F87F-44F9-9D06-8078E586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7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4E9C77FD-40F4-49E8-8CAF-6D6ABC62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5048250" cy="382905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72" name="왜 Accuracy만 보면 안 되는가">
            <a:extLst xmlns:a="http://schemas.openxmlformats.org/drawingml/2006/main">
              <a:ext uri="{FF2B5EF4-FFF2-40B4-BE49-F238E27FC236}">
                <a16:creationId xmlns:a16="http://schemas.microsoft.com/office/drawing/2014/main" id="{865C09A8-16DF-445E-BBA9-D1977D35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3333750" cy="254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왜 Accuracy만 보면 안 되는가</a:t>
            </a:r>
          </a:p>
        </p:txBody>
      </p:sp>
      <p:sp>
        <p:nvSpPr>
          <p:cNvPr id="273" name="원">
            <a:extLst xmlns:a="http://schemas.openxmlformats.org/drawingml/2006/main">
              <a:ext uri="{FF2B5EF4-FFF2-40B4-BE49-F238E27FC236}">
                <a16:creationId xmlns:a16="http://schemas.microsoft.com/office/drawing/2014/main" id="{1F3A4A83-9662-4C72-937F-32C483CB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74" name="300만 이상 영화는 654편 중 134편으로 소수 클래스다.">
            <a:extLst xmlns:a="http://schemas.openxmlformats.org/drawingml/2006/main">
              <a:ext uri="{FF2B5EF4-FFF2-40B4-BE49-F238E27FC236}">
                <a16:creationId xmlns:a16="http://schemas.microsoft.com/office/drawing/2014/main" id="{4BC2E51C-ACED-4149-B924-F8A1CEFE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33650"/>
            <a:ext cx="3886200" cy="2032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300만 이상 영화는 654편 중 134편으로 소수 클래스다.</a:t>
            </a:r>
          </a:p>
        </p:txBody>
      </p:sp>
      <p:sp>
        <p:nvSpPr>
          <p:cNvPr id="275" name="원">
            <a:extLst xmlns:a="http://schemas.openxmlformats.org/drawingml/2006/main">
              <a:ext uri="{FF2B5EF4-FFF2-40B4-BE49-F238E27FC236}">
                <a16:creationId xmlns:a16="http://schemas.microsoft.com/office/drawing/2014/main" id="{CF06F72D-13B9-4711-9E58-BB2FED46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76" name="대부분을 비흥행으로 예측해도 Accuracy는 높게 보일 수 있다.">
            <a:extLst xmlns:a="http://schemas.openxmlformats.org/drawingml/2006/main">
              <a:ext uri="{FF2B5EF4-FFF2-40B4-BE49-F238E27FC236}">
                <a16:creationId xmlns:a16="http://schemas.microsoft.com/office/drawing/2014/main" id="{7BAB28E8-4115-4B8A-9AD9-269017C9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86100"/>
            <a:ext cx="388620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대부분을 비흥행으로 예측해도 Accuracy는 높게 보일 수 있다.</a:t>
            </a:r>
          </a:p>
        </p:txBody>
      </p:sp>
      <p:sp>
        <p:nvSpPr>
          <p:cNvPr id="277" name="원">
            <a:extLst xmlns:a="http://schemas.openxmlformats.org/drawingml/2006/main">
              <a:ext uri="{FF2B5EF4-FFF2-40B4-BE49-F238E27FC236}">
                <a16:creationId xmlns:a16="http://schemas.microsoft.com/office/drawing/2014/main" id="{C9C668D4-0795-4AF9-AF01-17FC03F5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78" name="발표에서는 ROC-AUC로 순위화 능력, F1/Recall로 흥행작 탐지력을 함께 본다.">
            <a:extLst xmlns:a="http://schemas.openxmlformats.org/drawingml/2006/main">
              <a:ext uri="{FF2B5EF4-FFF2-40B4-BE49-F238E27FC236}">
                <a16:creationId xmlns:a16="http://schemas.microsoft.com/office/drawing/2014/main" id="{B5C33BAB-38A9-46B2-B6AD-0D095E7E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388620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발표에서는 ROC-AUC로 순위화 능력, F1/Recall로 흥행작 탐지력을 함께 본다.</a:t>
            </a:r>
          </a:p>
        </p:txBody>
      </p:sp>
      <p:sp>
        <p:nvSpPr>
          <p:cNvPr id="279" name="원">
            <a:extLst xmlns:a="http://schemas.openxmlformats.org/drawingml/2006/main">
              <a:ext uri="{FF2B5EF4-FFF2-40B4-BE49-F238E27FC236}">
                <a16:creationId xmlns:a16="http://schemas.microsoft.com/office/drawing/2014/main" id="{F4296EEB-7A6E-4D9C-8AD6-71A57E03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6720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80" name="실무적으로는 임계값 조정과 클래스 가중치 실험이 후속 과제다.">
            <a:extLst xmlns:a="http://schemas.openxmlformats.org/drawingml/2006/main">
              <a:ext uri="{FF2B5EF4-FFF2-40B4-BE49-F238E27FC236}">
                <a16:creationId xmlns:a16="http://schemas.microsoft.com/office/drawing/2014/main" id="{84B31C50-A76B-41D6-BCCE-B2CB0EA4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91000"/>
            <a:ext cx="388620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실무적으로는 임계값 조정과 클래스 가중치 실험이 후속 과제다.</a:t>
            </a:r>
          </a:p>
        </p:txBody>
      </p:sp>
      <p:sp>
        <p:nvSpPr>
          <p:cNvPr id="28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CED11DA7-F295-442C-B8FB-B85C7D68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81150"/>
            <a:ext cx="5143500" cy="382905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282" name="지표별 의미">
            <a:extLst xmlns:a="http://schemas.openxmlformats.org/drawingml/2006/main">
              <a:ext uri="{FF2B5EF4-FFF2-40B4-BE49-F238E27FC236}">
                <a16:creationId xmlns:a16="http://schemas.microsoft.com/office/drawing/2014/main" id="{9FDDD271-038E-4CD9-A092-BC7BA5B2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24050"/>
            <a:ext cx="2286000" cy="254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지표별 의미</a:t>
            </a:r>
          </a:p>
        </p:txBody>
      </p:sp>
      <p:sp>
        <p:nvSpPr>
          <p:cNvPr id="283" name="Accuracy">
            <a:extLst xmlns:a="http://schemas.openxmlformats.org/drawingml/2006/main">
              <a:ext uri="{FF2B5EF4-FFF2-40B4-BE49-F238E27FC236}">
                <a16:creationId xmlns:a16="http://schemas.microsoft.com/office/drawing/2014/main" id="{55378F2C-4542-42BA-B340-901349C2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76500"/>
            <a:ext cx="104775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Accuracy</a:t>
            </a:r>
          </a:p>
        </p:txBody>
      </p:sp>
      <p:sp>
        <p:nvSpPr>
          <p:cNvPr id="284" name="전체 예측 중 맞춘 비율">
            <a:extLst xmlns:a="http://schemas.openxmlformats.org/drawingml/2006/main">
              <a:ext uri="{FF2B5EF4-FFF2-40B4-BE49-F238E27FC236}">
                <a16:creationId xmlns:a16="http://schemas.microsoft.com/office/drawing/2014/main" id="{B40C26AC-F729-4805-A438-A4A130B8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76500"/>
            <a:ext cx="24765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전체 예측 중 맞춘 비율</a:t>
            </a:r>
          </a:p>
        </p:txBody>
      </p:sp>
      <p:sp>
        <p:nvSpPr>
          <p:cNvPr id="285" name="불균형 데이터에서 과대평가 가능">
            <a:extLst xmlns:a="http://schemas.openxmlformats.org/drawingml/2006/main">
              <a:ext uri="{FF2B5EF4-FFF2-40B4-BE49-F238E27FC236}">
                <a16:creationId xmlns:a16="http://schemas.microsoft.com/office/drawing/2014/main" id="{E008AC11-C468-4BDD-8F59-73061482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05100"/>
            <a:ext cx="3048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불균형 데이터에서 과대평가 가능</a:t>
            </a:r>
          </a:p>
        </p:txBody>
      </p:sp>
      <p:sp>
        <p:nvSpPr>
          <p:cNvPr id="286" name="F1">
            <a:extLst xmlns:a="http://schemas.openxmlformats.org/drawingml/2006/main">
              <a:ext uri="{FF2B5EF4-FFF2-40B4-BE49-F238E27FC236}">
                <a16:creationId xmlns:a16="http://schemas.microsoft.com/office/drawing/2014/main" id="{EB32E0EB-6B5C-43E4-B1F0-5D95BD14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43250"/>
            <a:ext cx="104775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F1</a:t>
            </a:r>
          </a:p>
        </p:txBody>
      </p:sp>
      <p:sp>
        <p:nvSpPr>
          <p:cNvPr id="287" name="Precision과 Recall의 균형">
            <a:extLst xmlns:a="http://schemas.openxmlformats.org/drawingml/2006/main">
              <a:ext uri="{FF2B5EF4-FFF2-40B4-BE49-F238E27FC236}">
                <a16:creationId xmlns:a16="http://schemas.microsoft.com/office/drawing/2014/main" id="{C86961E8-29C4-47DD-B139-9B101A9C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43250"/>
            <a:ext cx="24765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Precision과 Recall의 균형</a:t>
            </a:r>
          </a:p>
        </p:txBody>
      </p:sp>
      <p:sp>
        <p:nvSpPr>
          <p:cNvPr id="288" name="흥행작 탐지 성능 판단에 유용">
            <a:extLst xmlns:a="http://schemas.openxmlformats.org/drawingml/2006/main">
              <a:ext uri="{FF2B5EF4-FFF2-40B4-BE49-F238E27FC236}">
                <a16:creationId xmlns:a16="http://schemas.microsoft.com/office/drawing/2014/main" id="{4F8B834C-3D97-49C0-BBA7-D464FDB9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71850"/>
            <a:ext cx="3048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흥행작 탐지 성능 판단에 유용</a:t>
            </a:r>
          </a:p>
        </p:txBody>
      </p:sp>
      <p:sp>
        <p:nvSpPr>
          <p:cNvPr id="289" name="Recall">
            <a:extLst xmlns:a="http://schemas.openxmlformats.org/drawingml/2006/main">
              <a:ext uri="{FF2B5EF4-FFF2-40B4-BE49-F238E27FC236}">
                <a16:creationId xmlns:a16="http://schemas.microsoft.com/office/drawing/2014/main" id="{C5C1383E-33CC-4958-ACA4-8CAE593E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10000"/>
            <a:ext cx="104775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Recall</a:t>
            </a:r>
          </a:p>
        </p:txBody>
      </p:sp>
      <p:sp>
        <p:nvSpPr>
          <p:cNvPr id="290" name="실제 흥행작을 놓치지 않는 정도">
            <a:extLst xmlns:a="http://schemas.openxmlformats.org/drawingml/2006/main">
              <a:ext uri="{FF2B5EF4-FFF2-40B4-BE49-F238E27FC236}">
                <a16:creationId xmlns:a16="http://schemas.microsoft.com/office/drawing/2014/main" id="{CD8952EF-79DE-46A8-96E3-B1D4E69B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10000"/>
            <a:ext cx="24765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실제 흥행작을 놓치지 않는 정도</a:t>
            </a:r>
          </a:p>
        </p:txBody>
      </p:sp>
      <p:sp>
        <p:nvSpPr>
          <p:cNvPr id="291" name="마케팅 의사결정 관점에서 중요">
            <a:extLst xmlns:a="http://schemas.openxmlformats.org/drawingml/2006/main">
              <a:ext uri="{FF2B5EF4-FFF2-40B4-BE49-F238E27FC236}">
                <a16:creationId xmlns:a16="http://schemas.microsoft.com/office/drawing/2014/main" id="{A886AA64-43F2-41BD-969E-8CE6DAD2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38600"/>
            <a:ext cx="3048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마케팅 의사결정 관점에서 중요</a:t>
            </a:r>
          </a:p>
        </p:txBody>
      </p:sp>
      <p:sp>
        <p:nvSpPr>
          <p:cNvPr id="292" name="ROC-AUC">
            <a:extLst xmlns:a="http://schemas.openxmlformats.org/drawingml/2006/main">
              <a:ext uri="{FF2B5EF4-FFF2-40B4-BE49-F238E27FC236}">
                <a16:creationId xmlns:a16="http://schemas.microsoft.com/office/drawing/2014/main" id="{C8FE401F-B4EA-466B-B3A3-0209747A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76750"/>
            <a:ext cx="104775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6D28D9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ROC-AUC</a:t>
            </a:r>
          </a:p>
        </p:txBody>
      </p:sp>
      <p:sp>
        <p:nvSpPr>
          <p:cNvPr id="293" name="임계값과 무관한 순위화 성능">
            <a:extLst xmlns:a="http://schemas.openxmlformats.org/drawingml/2006/main">
              <a:ext uri="{FF2B5EF4-FFF2-40B4-BE49-F238E27FC236}">
                <a16:creationId xmlns:a16="http://schemas.microsoft.com/office/drawing/2014/main" id="{7DDF438C-F181-46B2-80E3-02F8FC2B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76750"/>
            <a:ext cx="24765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임계값과 무관한 순위화 성능</a:t>
            </a:r>
          </a:p>
        </p:txBody>
      </p:sp>
      <p:sp>
        <p:nvSpPr>
          <p:cNvPr id="294" name="제목 특성의 소폭 기여 확인">
            <a:extLst xmlns:a="http://schemas.openxmlformats.org/drawingml/2006/main">
              <a:ext uri="{FF2B5EF4-FFF2-40B4-BE49-F238E27FC236}">
                <a16:creationId xmlns:a16="http://schemas.microsoft.com/office/drawing/2014/main" id="{57319988-0405-4CB7-A489-08C42A0E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05350"/>
            <a:ext cx="3048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제목 특성의 소폭 기여 확인</a:t>
            </a:r>
          </a:p>
        </p:txBody>
      </p:sp>
      <p:sp>
        <p:nvSpPr>
          <p:cNvPr id="295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A8B2F337-5FBF-49E0-9BDD-083ECCE3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296" name="09 / 16">
            <a:extLst xmlns:a="http://schemas.openxmlformats.org/drawingml/2006/main">
              <a:ext uri="{FF2B5EF4-FFF2-40B4-BE49-F238E27FC236}">
                <a16:creationId xmlns:a16="http://schemas.microsoft.com/office/drawing/2014/main" id="{559B12BD-0E2A-4EA8-8A96-CC67ABC8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09 / 16</a:t>
            </a:r>
          </a:p>
        </p:txBody>
      </p:sp>
    </p:spTree>
    <p:extLst>
      <p:ext uri="{BB962C8B-B14F-4D97-AF65-F5344CB8AC3E}">
        <p14:creationId xmlns:p14="http://schemas.microsoft.com/office/powerpoint/2010/main" val="4481218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8" name="회귀 결과">
            <a:extLst xmlns:a="http://schemas.openxmlformats.org/drawingml/2006/main">
              <a:ext uri="{FF2B5EF4-FFF2-40B4-BE49-F238E27FC236}">
                <a16:creationId xmlns:a16="http://schemas.microsoft.com/office/drawing/2014/main" id="{4CFA31DC-5247-4762-9105-32FA11F5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회귀 결과</a:t>
            </a:r>
          </a:p>
        </p:txBody>
      </p:sp>
      <p:sp>
        <p:nvSpPr>
          <p:cNvPr id="299" name="관객 수 회귀는 블록버스터 쏠림 때문에 설명력이 제한적이었다">
            <a:extLst xmlns:a="http://schemas.openxmlformats.org/drawingml/2006/main">
              <a:ext uri="{FF2B5EF4-FFF2-40B4-BE49-F238E27FC236}">
                <a16:creationId xmlns:a16="http://schemas.microsoft.com/office/drawing/2014/main" id="{3DBDCD11-C2AA-4549-BD8B-43E4738F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관객 수 회귀는 블록버스터 쏠림 때문에 설명력이 제한적이었다</a:t>
            </a:r>
          </a:p>
        </p:txBody>
      </p:sp>
      <p:sp>
        <p:nvSpPr>
          <p:cNvPr id="300" name="선">
            <a:extLst xmlns:a="http://schemas.openxmlformats.org/drawingml/2006/main">
              <a:ext uri="{FF2B5EF4-FFF2-40B4-BE49-F238E27FC236}">
                <a16:creationId xmlns:a16="http://schemas.microsoft.com/office/drawing/2014/main" id="{7423364D-8523-4700-A3FD-DF715505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0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3FDC5A8F-22F6-4ED4-B8E1-10299856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809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02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9AAD5425-5C42-4558-A7AC-EB5D18C6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7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03" name="최고 R2">
            <a:extLst xmlns:a="http://schemas.openxmlformats.org/drawingml/2006/main">
              <a:ext uri="{FF2B5EF4-FFF2-40B4-BE49-F238E27FC236}">
                <a16:creationId xmlns:a16="http://schemas.microsoft.com/office/drawing/2014/main" id="{E44B9C8E-3B20-4BC5-9446-16CE5D83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4478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최고 R2</a:t>
            </a:r>
          </a:p>
        </p:txBody>
      </p:sp>
      <p:sp>
        <p:nvSpPr>
          <p:cNvPr id="304" name="0.190">
            <a:extLst xmlns:a="http://schemas.openxmlformats.org/drawingml/2006/main">
              <a:ext uri="{FF2B5EF4-FFF2-40B4-BE49-F238E27FC236}">
                <a16:creationId xmlns:a16="http://schemas.microsoft.com/office/drawing/2014/main" id="{E6171204-A9B7-4A3A-8718-98B9FF3F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1447800" cy="508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33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0.190</a:t>
            </a:r>
          </a:p>
        </p:txBody>
      </p:sp>
      <p:sp>
        <p:nvSpPr>
          <p:cNvPr id="305" name="메타 / RF Regr.">
            <a:extLst xmlns:a="http://schemas.openxmlformats.org/drawingml/2006/main">
              <a:ext uri="{FF2B5EF4-FFF2-40B4-BE49-F238E27FC236}">
                <a16:creationId xmlns:a16="http://schemas.microsoft.com/office/drawing/2014/main" id="{49E62734-1C0E-466E-A124-EAC0EBCC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95550"/>
            <a:ext cx="14478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 / RF Regr.</a:t>
            </a:r>
          </a:p>
        </p:txBody>
      </p:sp>
      <p:sp>
        <p:nvSpPr>
          <p:cNvPr id="306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D94A93EF-A26D-4472-BE10-46975B65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504950"/>
            <a:ext cx="2000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07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0ACFDC01-A979-4AB8-AD0B-12C42A63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504950"/>
            <a:ext cx="57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08" name="RMSE">
            <a:extLst xmlns:a="http://schemas.openxmlformats.org/drawingml/2006/main">
              <a:ext uri="{FF2B5EF4-FFF2-40B4-BE49-F238E27FC236}">
                <a16:creationId xmlns:a16="http://schemas.microsoft.com/office/drawing/2014/main" id="{145547FC-E140-4568-9B32-EAD73FD1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76400"/>
            <a:ext cx="16383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RMSE</a:t>
            </a:r>
          </a:p>
        </p:txBody>
      </p:sp>
      <p:sp>
        <p:nvSpPr>
          <p:cNvPr id="309" name="228.0만">
            <a:extLst xmlns:a="http://schemas.openxmlformats.org/drawingml/2006/main">
              <a:ext uri="{FF2B5EF4-FFF2-40B4-BE49-F238E27FC236}">
                <a16:creationId xmlns:a16="http://schemas.microsoft.com/office/drawing/2014/main" id="{EC766925-43D1-40FB-8D46-78DA203D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933575"/>
            <a:ext cx="16383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228.0만</a:t>
            </a:r>
          </a:p>
        </p:txBody>
      </p:sp>
      <p:sp>
        <p:nvSpPr>
          <p:cNvPr id="310" name="메타 / RF Regr.">
            <a:extLst xmlns:a="http://schemas.openxmlformats.org/drawingml/2006/main">
              <a:ext uri="{FF2B5EF4-FFF2-40B4-BE49-F238E27FC236}">
                <a16:creationId xmlns:a16="http://schemas.microsoft.com/office/drawing/2014/main" id="{C40AA8EE-2F0A-4F11-BAA8-FFC8A20B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95550"/>
            <a:ext cx="16383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 / RF Regr.</a:t>
            </a:r>
          </a:p>
        </p:txBody>
      </p:sp>
      <p:sp>
        <p:nvSpPr>
          <p:cNvPr id="31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9B15077F-BE56-41AA-B2C3-A303B58C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04950"/>
            <a:ext cx="1809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12" name="직사각형">
            <a:extLst xmlns:a="http://schemas.openxmlformats.org/drawingml/2006/main">
              <a:ext uri="{FF2B5EF4-FFF2-40B4-BE49-F238E27FC236}">
                <a16:creationId xmlns:a16="http://schemas.microsoft.com/office/drawing/2014/main" id="{46C91CE5-66E7-4037-98B9-9022417A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04950"/>
            <a:ext cx="57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13" name="MAE">
            <a:extLst xmlns:a="http://schemas.openxmlformats.org/drawingml/2006/main">
              <a:ext uri="{FF2B5EF4-FFF2-40B4-BE49-F238E27FC236}">
                <a16:creationId xmlns:a16="http://schemas.microsoft.com/office/drawing/2014/main" id="{DDF883DB-BEF7-4D72-BF7E-D44DBDD0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676400"/>
            <a:ext cx="14478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MAE</a:t>
            </a:r>
          </a:p>
        </p:txBody>
      </p:sp>
      <p:sp>
        <p:nvSpPr>
          <p:cNvPr id="314" name="129.8만">
            <a:extLst xmlns:a="http://schemas.openxmlformats.org/drawingml/2006/main">
              <a:ext uri="{FF2B5EF4-FFF2-40B4-BE49-F238E27FC236}">
                <a16:creationId xmlns:a16="http://schemas.microsoft.com/office/drawing/2014/main" id="{4F03D06E-4B93-4A19-8CD1-551C3742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933575"/>
            <a:ext cx="14478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129.8만</a:t>
            </a:r>
          </a:p>
        </p:txBody>
      </p:sp>
      <p:sp>
        <p:nvSpPr>
          <p:cNvPr id="315" name="메타 / RF Regr.">
            <a:extLst xmlns:a="http://schemas.openxmlformats.org/drawingml/2006/main">
              <a:ext uri="{FF2B5EF4-FFF2-40B4-BE49-F238E27FC236}">
                <a16:creationId xmlns:a16="http://schemas.microsoft.com/office/drawing/2014/main" id="{8A75F929-99D0-4EE9-8533-37BA4577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495550"/>
            <a:ext cx="14478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 / RF Regr.</a:t>
            </a:r>
          </a:p>
        </p:txBody>
      </p:sp>
      <p:sp>
        <p:nvSpPr>
          <p:cNvPr id="316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7E1F1D53-C309-4C3E-8C5E-9F91E362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504950"/>
            <a:ext cx="4476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17" name="R2 비교">
            <a:extLst xmlns:a="http://schemas.openxmlformats.org/drawingml/2006/main">
              <a:ext uri="{FF2B5EF4-FFF2-40B4-BE49-F238E27FC236}">
                <a16:creationId xmlns:a16="http://schemas.microsoft.com/office/drawing/2014/main" id="{BDBB9F37-AF99-493C-990F-4DBF04A8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14500"/>
            <a:ext cx="114300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R2 비교</a:t>
            </a:r>
          </a:p>
        </p:txBody>
      </p:sp>
      <p:sp>
        <p:nvSpPr>
          <p:cNvPr id="318" name="metadata">
            <a:extLst xmlns:a="http://schemas.openxmlformats.org/drawingml/2006/main">
              <a:ext uri="{FF2B5EF4-FFF2-40B4-BE49-F238E27FC236}">
                <a16:creationId xmlns:a16="http://schemas.microsoft.com/office/drawing/2014/main" id="{75F341B3-7C12-4E00-8C08-D5661438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19300"/>
            <a:ext cx="123825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8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metadata</a:t>
            </a:r>
          </a:p>
        </p:txBody>
      </p:sp>
      <p:sp>
        <p:nvSpPr>
          <p:cNvPr id="31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49724B99-5B8A-4D9B-B82C-FF8361EE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38350"/>
            <a:ext cx="19431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20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86C02172-E25B-4CF3-84E5-2DDD2FAE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38350"/>
            <a:ext cx="1678133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21" name="0.190">
            <a:extLst xmlns:a="http://schemas.openxmlformats.org/drawingml/2006/main">
              <a:ext uri="{FF2B5EF4-FFF2-40B4-BE49-F238E27FC236}">
                <a16:creationId xmlns:a16="http://schemas.microsoft.com/office/drawing/2014/main" id="{11DC7589-A1E2-4DA9-99D2-DA510A93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000250"/>
            <a:ext cx="4953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0.190</a:t>
            </a:r>
          </a:p>
        </p:txBody>
      </p:sp>
      <p:sp>
        <p:nvSpPr>
          <p:cNvPr id="322" name="metadata_title">
            <a:extLst xmlns:a="http://schemas.openxmlformats.org/drawingml/2006/main">
              <a:ext uri="{FF2B5EF4-FFF2-40B4-BE49-F238E27FC236}">
                <a16:creationId xmlns:a16="http://schemas.microsoft.com/office/drawing/2014/main" id="{4AB0A0AC-090A-4C9D-8F06-6D43A3A7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28850"/>
            <a:ext cx="123825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8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metadata_title</a:t>
            </a:r>
          </a:p>
        </p:txBody>
      </p:sp>
      <p:sp>
        <p:nvSpPr>
          <p:cNvPr id="323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2ECD8DB9-ED4A-4993-AD97-E2FF3335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47900"/>
            <a:ext cx="19431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2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0DEAF914-14DB-4A99-B708-582B9B16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47900"/>
            <a:ext cx="1660468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25" name="0.188">
            <a:extLst xmlns:a="http://schemas.openxmlformats.org/drawingml/2006/main">
              <a:ext uri="{FF2B5EF4-FFF2-40B4-BE49-F238E27FC236}">
                <a16:creationId xmlns:a16="http://schemas.microsoft.com/office/drawing/2014/main" id="{4CFE6101-A175-4D5D-BF12-4D1B5C0F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209800"/>
            <a:ext cx="4953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0.188</a:t>
            </a:r>
          </a:p>
        </p:txBody>
      </p:sp>
      <p:sp>
        <p:nvSpPr>
          <p:cNvPr id="326" name="metadata_poster">
            <a:extLst xmlns:a="http://schemas.openxmlformats.org/drawingml/2006/main">
              <a:ext uri="{FF2B5EF4-FFF2-40B4-BE49-F238E27FC236}">
                <a16:creationId xmlns:a16="http://schemas.microsoft.com/office/drawing/2014/main" id="{4ACC2D47-FB7F-4314-A4F4-E0143499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38400"/>
            <a:ext cx="123825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8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metadata_poster</a:t>
            </a:r>
          </a:p>
        </p:txBody>
      </p:sp>
      <p:sp>
        <p:nvSpPr>
          <p:cNvPr id="327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16A926FC-90A7-46FB-A21F-6C83690F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57450"/>
            <a:ext cx="19431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28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78FA43A2-3573-4F96-A253-E34E1CB4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57450"/>
            <a:ext cx="1501486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29" name="0.170">
            <a:extLst xmlns:a="http://schemas.openxmlformats.org/drawingml/2006/main">
              <a:ext uri="{FF2B5EF4-FFF2-40B4-BE49-F238E27FC236}">
                <a16:creationId xmlns:a16="http://schemas.microsoft.com/office/drawing/2014/main" id="{1BE29883-9D76-41A8-8CA7-6E4BB117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419350"/>
            <a:ext cx="4953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0.170</a:t>
            </a:r>
          </a:p>
        </p:txBody>
      </p:sp>
      <p:sp>
        <p:nvSpPr>
          <p:cNvPr id="330" name="all">
            <a:extLst xmlns:a="http://schemas.openxmlformats.org/drawingml/2006/main">
              <a:ext uri="{FF2B5EF4-FFF2-40B4-BE49-F238E27FC236}">
                <a16:creationId xmlns:a16="http://schemas.microsoft.com/office/drawing/2014/main" id="{0CF369C2-487B-412F-82A6-DF613249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647950"/>
            <a:ext cx="123825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8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all</a:t>
            </a:r>
          </a:p>
        </p:txBody>
      </p:sp>
      <p:sp>
        <p:nvSpPr>
          <p:cNvPr id="33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339CFE69-B4DE-41C9-913E-9E495F50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67000"/>
            <a:ext cx="19431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32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80AC1B97-B55E-4BE4-8240-3E763176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67000"/>
            <a:ext cx="1448493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33" name="0.164">
            <a:extLst xmlns:a="http://schemas.openxmlformats.org/drawingml/2006/main">
              <a:ext uri="{FF2B5EF4-FFF2-40B4-BE49-F238E27FC236}">
                <a16:creationId xmlns:a16="http://schemas.microsoft.com/office/drawing/2014/main" id="{1C93A5A8-6844-443B-AF72-96637BAE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628900"/>
            <a:ext cx="4953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0.164</a:t>
            </a:r>
          </a:p>
        </p:txBody>
      </p:sp>
      <p:sp>
        <p:nvSpPr>
          <p:cNvPr id="33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66500972-D036-4892-8340-402DDC7F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51435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381" name="image6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c1d9e94d9f42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66850" y="3314700"/>
            <a:ext cx="3429000" cy="20574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36" name="R2 기준 회귀 모델 비교">
            <a:extLst xmlns:a="http://schemas.openxmlformats.org/drawingml/2006/main">
              <a:ext uri="{FF2B5EF4-FFF2-40B4-BE49-F238E27FC236}">
                <a16:creationId xmlns:a16="http://schemas.microsoft.com/office/drawing/2014/main" id="{C75C9692-E513-482F-BB8B-CC8744A0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48006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R2 기준 회귀 모델 비교</a:t>
            </a:r>
          </a:p>
        </p:txBody>
      </p:sp>
      <p:sp>
        <p:nvSpPr>
          <p:cNvPr id="337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8059398D-9B13-4077-AB39-A5410C1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62300"/>
            <a:ext cx="51435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384" name="image7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0cf4c86a724f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44833" y="3238500"/>
            <a:ext cx="4245834" cy="253365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39" name="상위 관객 수 구간의 예측 난도">
            <a:extLst xmlns:a="http://schemas.openxmlformats.org/drawingml/2006/main">
              <a:ext uri="{FF2B5EF4-FFF2-40B4-BE49-F238E27FC236}">
                <a16:creationId xmlns:a16="http://schemas.microsoft.com/office/drawing/2014/main" id="{B87C2479-125B-4F97-BE29-CFFCF344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581650"/>
            <a:ext cx="48006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상위 관객 수 구간의 예측 난도</a:t>
            </a:r>
          </a:p>
        </p:txBody>
      </p:sp>
      <p:sp>
        <p:nvSpPr>
          <p:cNvPr id="340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BF0A2A92-E637-4942-B3B6-25CE7DE8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341" name="10 / 16">
            <a:extLst xmlns:a="http://schemas.openxmlformats.org/drawingml/2006/main">
              <a:ext uri="{FF2B5EF4-FFF2-40B4-BE49-F238E27FC236}">
                <a16:creationId xmlns:a16="http://schemas.microsoft.com/office/drawing/2014/main" id="{CA2BA6D9-EB50-483D-A172-FE6273D1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10 / 16</a:t>
            </a:r>
          </a:p>
        </p:txBody>
      </p:sp>
    </p:spTree>
    <p:extLst>
      <p:ext uri="{BB962C8B-B14F-4D97-AF65-F5344CB8AC3E}">
        <p14:creationId xmlns:p14="http://schemas.microsoft.com/office/powerpoint/2010/main" val="14869439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3" name="랭크 예측">
            <a:extLst xmlns:a="http://schemas.openxmlformats.org/drawingml/2006/main">
              <a:ext uri="{FF2B5EF4-FFF2-40B4-BE49-F238E27FC236}">
                <a16:creationId xmlns:a16="http://schemas.microsoft.com/office/drawing/2014/main" id="{F4B26F0A-16E8-4CE6-8D7E-046D91B2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랭크 예측</a:t>
            </a:r>
          </a:p>
        </p:txBody>
      </p:sp>
      <p:sp>
        <p:nvSpPr>
          <p:cNvPr id="344" name="성공도 랭크는 등급 경계가 겹쳐 macro F1이 낮았다">
            <a:extLst xmlns:a="http://schemas.openxmlformats.org/drawingml/2006/main">
              <a:ext uri="{FF2B5EF4-FFF2-40B4-BE49-F238E27FC236}">
                <a16:creationId xmlns:a16="http://schemas.microsoft.com/office/drawing/2014/main" id="{B1776729-0E8E-4C45-8B50-44E0A09F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성공도 랭크는 등급 경계가 겹쳐 macro F1이 낮았다</a:t>
            </a:r>
          </a:p>
        </p:txBody>
      </p:sp>
      <p:sp>
        <p:nvSpPr>
          <p:cNvPr id="345" name="선">
            <a:extLst xmlns:a="http://schemas.openxmlformats.org/drawingml/2006/main">
              <a:ext uri="{FF2B5EF4-FFF2-40B4-BE49-F238E27FC236}">
                <a16:creationId xmlns:a16="http://schemas.microsoft.com/office/drawing/2014/main" id="{5C076ABD-BCFC-40DA-A67F-FFDB15D6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46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2EDDF303-A457-4740-9CA9-7666A2B4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028950" cy="40957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47" name="최고 macro F1">
            <a:extLst xmlns:a="http://schemas.openxmlformats.org/drawingml/2006/main">
              <a:ext uri="{FF2B5EF4-FFF2-40B4-BE49-F238E27FC236}">
                <a16:creationId xmlns:a16="http://schemas.microsoft.com/office/drawing/2014/main" id="{BB293347-1004-4B47-BD55-417F04DC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1524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최고 macro F1</a:t>
            </a:r>
          </a:p>
        </p:txBody>
      </p:sp>
      <p:sp>
        <p:nvSpPr>
          <p:cNvPr id="348" name="0.308">
            <a:extLst xmlns:a="http://schemas.openxmlformats.org/drawingml/2006/main">
              <a:ext uri="{FF2B5EF4-FFF2-40B4-BE49-F238E27FC236}">
                <a16:creationId xmlns:a16="http://schemas.microsoft.com/office/drawing/2014/main" id="{355AB8E6-5AE4-40B7-8B5B-3577DCF8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1619250" cy="3429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0.308</a:t>
            </a:r>
          </a:p>
        </p:txBody>
      </p:sp>
      <p:sp>
        <p:nvSpPr>
          <p:cNvPr id="349" name="메타 / RF">
            <a:extLst xmlns:a="http://schemas.openxmlformats.org/drawingml/2006/main">
              <a:ext uri="{FF2B5EF4-FFF2-40B4-BE49-F238E27FC236}">
                <a16:creationId xmlns:a16="http://schemas.microsoft.com/office/drawing/2014/main" id="{751E260B-17D8-4513-8796-D35068351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95550"/>
            <a:ext cx="18097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 / RF</a:t>
            </a:r>
          </a:p>
        </p:txBody>
      </p:sp>
      <p:sp>
        <p:nvSpPr>
          <p:cNvPr id="350" name="Accuracy">
            <a:extLst xmlns:a="http://schemas.openxmlformats.org/drawingml/2006/main">
              <a:ext uri="{FF2B5EF4-FFF2-40B4-BE49-F238E27FC236}">
                <a16:creationId xmlns:a16="http://schemas.microsoft.com/office/drawing/2014/main" id="{C284A14E-7D6F-4941-AE5E-F4EE483E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1524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Accuracy</a:t>
            </a:r>
          </a:p>
        </p:txBody>
      </p:sp>
      <p:sp>
        <p:nvSpPr>
          <p:cNvPr id="351" name="0.496">
            <a:extLst xmlns:a="http://schemas.openxmlformats.org/drawingml/2006/main">
              <a:ext uri="{FF2B5EF4-FFF2-40B4-BE49-F238E27FC236}">
                <a16:creationId xmlns:a16="http://schemas.microsoft.com/office/drawing/2014/main" id="{FCED27BA-DB8E-4E9B-B5A5-8FCBE8AB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1619250" cy="3429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2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0.496</a:t>
            </a:r>
          </a:p>
        </p:txBody>
      </p:sp>
      <p:sp>
        <p:nvSpPr>
          <p:cNvPr id="352" name="메타 / RF">
            <a:extLst xmlns:a="http://schemas.openxmlformats.org/drawingml/2006/main">
              <a:ext uri="{FF2B5EF4-FFF2-40B4-BE49-F238E27FC236}">
                <a16:creationId xmlns:a16="http://schemas.microsoft.com/office/drawing/2014/main" id="{B7852470-7765-4161-B0E5-4E006E88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8097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메타 / RF</a:t>
            </a:r>
          </a:p>
        </p:txBody>
      </p:sp>
      <p:sp>
        <p:nvSpPr>
          <p:cNvPr id="353" name="랭크는 단순 흥행 여부보다 클래스 경계가 촘촘해 인접 등급 오분류가 더 많이 발생한다.">
            <a:extLst xmlns:a="http://schemas.openxmlformats.org/drawingml/2006/main">
              <a:ext uri="{FF2B5EF4-FFF2-40B4-BE49-F238E27FC236}">
                <a16:creationId xmlns:a16="http://schemas.microsoft.com/office/drawing/2014/main" id="{8B040182-AB56-473C-9CF2-DBB499C9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2209800" cy="6096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랭크는 단순 흥행 여부보다 클래스 경계가 촘촘해 인접 등급 오분류가 더 많이 발생한다.</a:t>
            </a:r>
          </a:p>
        </p:txBody>
      </p:sp>
      <p:sp>
        <p:nvSpPr>
          <p:cNvPr id="35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79E8B3EF-5990-4684-B25A-35D0926B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524000"/>
            <a:ext cx="3143250" cy="4095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376" name="image8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55c9c0973346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33850" y="2620050"/>
            <a:ext cx="2838450" cy="1579799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56" name="랭크별 표본 분포">
            <a:extLst xmlns:a="http://schemas.openxmlformats.org/drawingml/2006/main">
              <a:ext uri="{FF2B5EF4-FFF2-40B4-BE49-F238E27FC236}">
                <a16:creationId xmlns:a16="http://schemas.microsoft.com/office/drawing/2014/main" id="{59322A3C-8EE9-4FBE-BDCC-533133D1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353050"/>
            <a:ext cx="280035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랭크별 표본 분포</a:t>
            </a:r>
          </a:p>
        </p:txBody>
      </p:sp>
      <p:sp>
        <p:nvSpPr>
          <p:cNvPr id="357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7B3E294D-2A74-49A0-956D-A60CBC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24000"/>
            <a:ext cx="3905250" cy="4095750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379" name="image9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ac6c3a094644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0" y="1823361"/>
            <a:ext cx="3600450" cy="3173179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59" name="랭크별 예측 혼동 구조">
            <a:extLst xmlns:a="http://schemas.openxmlformats.org/drawingml/2006/main">
              <a:ext uri="{FF2B5EF4-FFF2-40B4-BE49-F238E27FC236}">
                <a16:creationId xmlns:a16="http://schemas.microsoft.com/office/drawing/2014/main" id="{4A1CD84B-E1DF-44B8-81E3-9424BC14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353050"/>
            <a:ext cx="356235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랭크별 예측 혼동 구조</a:t>
            </a:r>
          </a:p>
        </p:txBody>
      </p:sp>
      <p:sp>
        <p:nvSpPr>
          <p:cNvPr id="360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600A1B76-401F-468F-8D43-D7C42128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361" name="11 / 16">
            <a:extLst xmlns:a="http://schemas.openxmlformats.org/drawingml/2006/main">
              <a:ext uri="{FF2B5EF4-FFF2-40B4-BE49-F238E27FC236}">
                <a16:creationId xmlns:a16="http://schemas.microsoft.com/office/drawing/2014/main" id="{4660F03B-D488-4025-B2DF-E085B842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11 / 16</a:t>
            </a:r>
          </a:p>
        </p:txBody>
      </p:sp>
    </p:spTree>
    <p:extLst>
      <p:ext uri="{BB962C8B-B14F-4D97-AF65-F5344CB8AC3E}">
        <p14:creationId xmlns:p14="http://schemas.microsoft.com/office/powerpoint/2010/main" val="3137860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3" name="오분류 구조">
            <a:extLst xmlns:a="http://schemas.openxmlformats.org/drawingml/2006/main">
              <a:ext uri="{FF2B5EF4-FFF2-40B4-BE49-F238E27FC236}">
                <a16:creationId xmlns:a16="http://schemas.microsoft.com/office/drawing/2014/main" id="{221390B0-68C7-4485-AD6C-33FEBCD5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오분류 구조</a:t>
            </a:r>
          </a:p>
        </p:txBody>
      </p:sp>
      <p:sp>
        <p:nvSpPr>
          <p:cNvPr id="364" name="오분류는 중간 랭크와 고관객 영화에서 해석 여지가 크다">
            <a:extLst xmlns:a="http://schemas.openxmlformats.org/drawingml/2006/main">
              <a:ext uri="{FF2B5EF4-FFF2-40B4-BE49-F238E27FC236}">
                <a16:creationId xmlns:a16="http://schemas.microsoft.com/office/drawing/2014/main" id="{62E40553-51A7-49BE-AD2A-E4CBA7CF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오분류는 중간 랭크와 고관객 영화에서 해석 여지가 크다</a:t>
            </a:r>
          </a:p>
        </p:txBody>
      </p:sp>
      <p:sp>
        <p:nvSpPr>
          <p:cNvPr id="365" name="선">
            <a:extLst xmlns:a="http://schemas.openxmlformats.org/drawingml/2006/main">
              <a:ext uri="{FF2B5EF4-FFF2-40B4-BE49-F238E27FC236}">
                <a16:creationId xmlns:a16="http://schemas.microsoft.com/office/drawing/2014/main" id="{50FB5107-BD06-4881-A916-E8CBEA0D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66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FFDCF3AF-8B79-4CC4-9E95-F1DED8A4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143500" cy="39433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384" name="image10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93e659deb84e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9604" y="1657350"/>
            <a:ext cx="4283490" cy="33147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68" name="랭크 오분류 영화별 관객 수">
            <a:extLst xmlns:a="http://schemas.openxmlformats.org/drawingml/2006/main">
              <a:ext uri="{FF2B5EF4-FFF2-40B4-BE49-F238E27FC236}">
                <a16:creationId xmlns:a16="http://schemas.microsoft.com/office/drawing/2014/main" id="{310BB2F1-5195-4D15-86F0-66B3848C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48006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랭크 오분류 영화별 관객 수</a:t>
            </a:r>
          </a:p>
        </p:txBody>
      </p:sp>
      <p:sp>
        <p:nvSpPr>
          <p:cNvPr id="36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898391B5-A4BA-4E36-A3F0-0FBBD279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04950"/>
            <a:ext cx="5143500" cy="39433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387" name="image11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6932a590d44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9812" y="1657350"/>
            <a:ext cx="4755876" cy="33147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71" name="특성 공간에서 본 영화 분포">
            <a:extLst xmlns:a="http://schemas.openxmlformats.org/drawingml/2006/main">
              <a:ext uri="{FF2B5EF4-FFF2-40B4-BE49-F238E27FC236}">
                <a16:creationId xmlns:a16="http://schemas.microsoft.com/office/drawing/2014/main" id="{354979B6-9945-4EEF-848B-821D774F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48006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특성 공간에서 본 영화 분포</a:t>
            </a:r>
          </a:p>
        </p:txBody>
      </p:sp>
      <p:sp>
        <p:nvSpPr>
          <p:cNvPr id="372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78D81BA0-A20C-4FCE-8092-48C5FCB5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53100"/>
            <a:ext cx="4476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>
            <a:solidFill>
              <a:srgbClr val="EDE9FE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73" name="랭크 문제는 '정확히 맞힘'보다 오차 방향과 인접 등급 여부를 함께 봐야 한다.">
            <a:extLst xmlns:a="http://schemas.openxmlformats.org/drawingml/2006/main">
              <a:ext uri="{FF2B5EF4-FFF2-40B4-BE49-F238E27FC236}">
                <a16:creationId xmlns:a16="http://schemas.microsoft.com/office/drawing/2014/main" id="{B9435722-6E7C-41B8-8D68-60437AD2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772150"/>
            <a:ext cx="4095750" cy="40005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6D28D9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랭크 문제는 '정확히 맞힘'보다 오차 방향과 인접 등급 여부를 함께 봐야 한다.</a:t>
            </a:r>
          </a:p>
        </p:txBody>
      </p:sp>
      <p:sp>
        <p:nvSpPr>
          <p:cNvPr id="37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3995BD41-3304-4691-A7B3-FED38C81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53100"/>
            <a:ext cx="434340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>
            <a:solidFill>
              <a:srgbClr val="DBEAFE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75" name="특성 공간에서 비슷한 영화가 다른 흥행 결과를 갖는 사례가 존재한다.">
            <a:extLst xmlns:a="http://schemas.openxmlformats.org/drawingml/2006/main">
              <a:ext uri="{FF2B5EF4-FFF2-40B4-BE49-F238E27FC236}">
                <a16:creationId xmlns:a16="http://schemas.microsoft.com/office/drawing/2014/main" id="{195A8524-F745-46AB-A2CC-6FF62AF9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772150"/>
            <a:ext cx="3962400" cy="40005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특성 공간에서 비슷한 영화가 다른 흥행 결과를 갖는 사례가 존재한다.</a:t>
            </a:r>
          </a:p>
        </p:txBody>
      </p:sp>
      <p:sp>
        <p:nvSpPr>
          <p:cNvPr id="376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A3C79595-35E1-4025-BEA6-B1B0AFB2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377" name="12 / 16">
            <a:extLst xmlns:a="http://schemas.openxmlformats.org/drawingml/2006/main">
              <a:ext uri="{FF2B5EF4-FFF2-40B4-BE49-F238E27FC236}">
                <a16:creationId xmlns:a16="http://schemas.microsoft.com/office/drawing/2014/main" id="{5B463EC6-DBB5-47EC-9395-821D6807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12 / 16</a:t>
            </a:r>
          </a:p>
        </p:txBody>
      </p:sp>
    </p:spTree>
    <p:extLst>
      <p:ext uri="{BB962C8B-B14F-4D97-AF65-F5344CB8AC3E}">
        <p14:creationId xmlns:p14="http://schemas.microsoft.com/office/powerpoint/2010/main" val="9000509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9" name="성공 요인 1">
            <a:extLst xmlns:a="http://schemas.openxmlformats.org/drawingml/2006/main">
              <a:ext uri="{FF2B5EF4-FFF2-40B4-BE49-F238E27FC236}">
                <a16:creationId xmlns:a16="http://schemas.microsoft.com/office/drawing/2014/main" id="{734E7880-45A4-4DE3-A29C-07DF125A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성공 요인 1</a:t>
            </a:r>
          </a:p>
        </p:txBody>
      </p:sp>
      <p:sp>
        <p:nvSpPr>
          <p:cNvPr id="380" name="성공 요인 신호는 메타데이터 변수에서 더 선명했다">
            <a:extLst xmlns:a="http://schemas.openxmlformats.org/drawingml/2006/main">
              <a:ext uri="{FF2B5EF4-FFF2-40B4-BE49-F238E27FC236}">
                <a16:creationId xmlns:a16="http://schemas.microsoft.com/office/drawing/2014/main" id="{719383D7-6590-4E41-8CC4-59B3BB51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성공 요인 신호는 메타데이터 변수에서 더 선명했다</a:t>
            </a:r>
          </a:p>
        </p:txBody>
      </p:sp>
      <p:sp>
        <p:nvSpPr>
          <p:cNvPr id="381" name="선">
            <a:extLst xmlns:a="http://schemas.openxmlformats.org/drawingml/2006/main">
              <a:ext uri="{FF2B5EF4-FFF2-40B4-BE49-F238E27FC236}">
                <a16:creationId xmlns:a16="http://schemas.microsoft.com/office/drawing/2014/main" id="{E77A3772-B926-412D-AE95-0117E4C2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82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E30905C8-FED2-4AC1-A22B-1ADE5CE2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143500" cy="39433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402" name="image12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4e960077ed40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" y="1782445"/>
            <a:ext cx="4838700" cy="306451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84" name="Random Forest 기준 주요 변수 중요도">
            <a:extLst xmlns:a="http://schemas.openxmlformats.org/drawingml/2006/main">
              <a:ext uri="{FF2B5EF4-FFF2-40B4-BE49-F238E27FC236}">
                <a16:creationId xmlns:a16="http://schemas.microsoft.com/office/drawing/2014/main" id="{F2CCD2AF-9D58-47B1-9BC6-A81D7C57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48006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Random Forest 기준 주요 변수 중요도</a:t>
            </a:r>
          </a:p>
        </p:txBody>
      </p:sp>
      <p:sp>
        <p:nvSpPr>
          <p:cNvPr id="385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98176412-CAF4-4D9A-AF93-4FE20616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04950"/>
            <a:ext cx="5143500" cy="39433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86" name="주요 해석">
            <a:extLst xmlns:a="http://schemas.openxmlformats.org/drawingml/2006/main">
              <a:ext uri="{FF2B5EF4-FFF2-40B4-BE49-F238E27FC236}">
                <a16:creationId xmlns:a16="http://schemas.microsoft.com/office/drawing/2014/main" id="{4760DD2B-0835-4533-9C9D-1FE3E594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47850"/>
            <a:ext cx="1524000" cy="254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주요 해석</a:t>
            </a:r>
          </a:p>
        </p:txBody>
      </p:sp>
      <p:sp>
        <p:nvSpPr>
          <p:cNvPr id="387" name="원">
            <a:extLst xmlns:a="http://schemas.openxmlformats.org/drawingml/2006/main">
              <a:ext uri="{FF2B5EF4-FFF2-40B4-BE49-F238E27FC236}">
                <a16:creationId xmlns:a16="http://schemas.microsoft.com/office/drawing/2014/main" id="{6650E54D-B4E4-4A41-A132-817F415A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7650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88" name="배우·감독·제작사 빈도와 장르 변수는 해석 가능한 신호를 제공한다.">
            <a:extLst xmlns:a="http://schemas.openxmlformats.org/drawingml/2006/main">
              <a:ext uri="{FF2B5EF4-FFF2-40B4-BE49-F238E27FC236}">
                <a16:creationId xmlns:a16="http://schemas.microsoft.com/office/drawing/2014/main" id="{97905F1E-9428-4F9E-9192-320A2D0C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00300"/>
            <a:ext cx="379095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배우·감독·제작사 빈도와 장르 변수는 해석 가능한 신호를 제공한다.</a:t>
            </a:r>
          </a:p>
        </p:txBody>
      </p:sp>
      <p:sp>
        <p:nvSpPr>
          <p:cNvPr id="389" name="원">
            <a:extLst xmlns:a="http://schemas.openxmlformats.org/drawingml/2006/main">
              <a:ext uri="{FF2B5EF4-FFF2-40B4-BE49-F238E27FC236}">
                <a16:creationId xmlns:a16="http://schemas.microsoft.com/office/drawing/2014/main" id="{88273F88-0993-4ECF-B7EB-C1D3DB7E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051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90" name="제목 특성은 순위화 성능 개선에 일부 기여하지만 모델 전체를 바꾸지는 못했다.">
            <a:extLst xmlns:a="http://schemas.openxmlformats.org/drawingml/2006/main">
              <a:ext uri="{FF2B5EF4-FFF2-40B4-BE49-F238E27FC236}">
                <a16:creationId xmlns:a16="http://schemas.microsoft.com/office/drawing/2014/main" id="{F8B3664E-291C-49F8-A93E-AE85C983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379095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제목 특성은 순위화 성능 개선에 일부 기여하지만 모델 전체를 바꾸지는 못했다.</a:t>
            </a:r>
          </a:p>
        </p:txBody>
      </p:sp>
      <p:sp>
        <p:nvSpPr>
          <p:cNvPr id="391" name="원">
            <a:extLst xmlns:a="http://schemas.openxmlformats.org/drawingml/2006/main">
              <a:ext uri="{FF2B5EF4-FFF2-40B4-BE49-F238E27FC236}">
                <a16:creationId xmlns:a16="http://schemas.microsoft.com/office/drawing/2014/main" id="{BF43ED31-28F6-4A4B-B998-E35777EF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3380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92" name="장르와 개봉 시점은 단독 요인이라기보다 다른 메타데이터와 함께 해석해야 한다.">
            <a:extLst xmlns:a="http://schemas.openxmlformats.org/drawingml/2006/main">
              <a:ext uri="{FF2B5EF4-FFF2-40B4-BE49-F238E27FC236}">
                <a16:creationId xmlns:a16="http://schemas.microsoft.com/office/drawing/2014/main" id="{FFAFE274-7037-4B61-895D-9BC33645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79095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장르와 개봉 시점은 단독 요인이라기보다 다른 메타데이터와 함께 해석해야 한다.</a:t>
            </a:r>
          </a:p>
        </p:txBody>
      </p:sp>
      <p:sp>
        <p:nvSpPr>
          <p:cNvPr id="393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F33DF4FE-C43D-42BA-BE21-3348B05C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29150"/>
            <a:ext cx="40005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>
            <a:solidFill>
              <a:srgbClr val="DBEAFE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394" name="장르와 개봉 시점은 다음 장에서 별도 패턴으로 확인한다.">
            <a:extLst xmlns:a="http://schemas.openxmlformats.org/drawingml/2006/main">
              <a:ext uri="{FF2B5EF4-FFF2-40B4-BE49-F238E27FC236}">
                <a16:creationId xmlns:a16="http://schemas.microsoft.com/office/drawing/2014/main" id="{73D0E7BE-5991-4636-9791-CE38914D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72024"/>
            <a:ext cx="3619500" cy="1905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장르와 개봉 시점은 다음 장에서 별도 패턴으로 확인한다.</a:t>
            </a:r>
          </a:p>
        </p:txBody>
      </p:sp>
      <p:sp>
        <p:nvSpPr>
          <p:cNvPr id="395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DBD569D4-82EF-41B2-AA84-7AC5AA02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396" name="13 / 16">
            <a:extLst xmlns:a="http://schemas.openxmlformats.org/drawingml/2006/main">
              <a:ext uri="{FF2B5EF4-FFF2-40B4-BE49-F238E27FC236}">
                <a16:creationId xmlns:a16="http://schemas.microsoft.com/office/drawing/2014/main" id="{4C259B14-F3C2-4A72-B035-52131C87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13 / 16</a:t>
            </a:r>
          </a:p>
        </p:txBody>
      </p:sp>
    </p:spTree>
    <p:extLst>
      <p:ext uri="{BB962C8B-B14F-4D97-AF65-F5344CB8AC3E}">
        <p14:creationId xmlns:p14="http://schemas.microsoft.com/office/powerpoint/2010/main" val="5559749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8" name="성공 요인 2">
            <a:extLst xmlns:a="http://schemas.openxmlformats.org/drawingml/2006/main">
              <a:ext uri="{FF2B5EF4-FFF2-40B4-BE49-F238E27FC236}">
                <a16:creationId xmlns:a16="http://schemas.microsoft.com/office/drawing/2014/main" id="{84B3678B-2192-4BCF-8944-2A10BB5C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성공 요인 2</a:t>
            </a:r>
          </a:p>
        </p:txBody>
      </p:sp>
      <p:sp>
        <p:nvSpPr>
          <p:cNvPr id="399" name="장르와 개봉 시기는 성공 랭크 분포의 보조 패턴이다">
            <a:extLst xmlns:a="http://schemas.openxmlformats.org/drawingml/2006/main">
              <a:ext uri="{FF2B5EF4-FFF2-40B4-BE49-F238E27FC236}">
                <a16:creationId xmlns:a16="http://schemas.microsoft.com/office/drawing/2014/main" id="{E5C7DC27-D958-4EB5-A728-BBEC131B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장르와 개봉 시기는 성공 랭크 분포의 보조 패턴이다</a:t>
            </a:r>
          </a:p>
        </p:txBody>
      </p:sp>
      <p:sp>
        <p:nvSpPr>
          <p:cNvPr id="400" name="선">
            <a:extLst xmlns:a="http://schemas.openxmlformats.org/drawingml/2006/main">
              <a:ext uri="{FF2B5EF4-FFF2-40B4-BE49-F238E27FC236}">
                <a16:creationId xmlns:a16="http://schemas.microsoft.com/office/drawing/2014/main" id="{981EF8A4-B822-42E7-9FCE-8F40D504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01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C6169986-D44B-4A48-8CA8-6113D7D4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143500" cy="3733800"/>
          </a:xfrm>
          <a:prstGeom xmlns:a="http://schemas.openxmlformats.org/drawingml/2006/main" prst="roundRect">
            <a:avLst>
              <a:gd name="adj" fmla="val 3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419" name="image1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1fa7488a94b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" y="1708258"/>
            <a:ext cx="4838700" cy="3003332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03" name="장르별 성공도 랭크 분포">
            <a:extLst xmlns:a="http://schemas.openxmlformats.org/drawingml/2006/main">
              <a:ext uri="{FF2B5EF4-FFF2-40B4-BE49-F238E27FC236}">
                <a16:creationId xmlns:a16="http://schemas.microsoft.com/office/drawing/2014/main" id="{481EFBC3-7218-4B3E-8BC5-1C787904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48006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장르별 성공도 랭크 분포</a:t>
            </a:r>
          </a:p>
        </p:txBody>
      </p:sp>
      <p:sp>
        <p:nvSpPr>
          <p:cNvPr id="404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3950C636-9211-4B5B-A12A-1286BE28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04950"/>
            <a:ext cx="5143500" cy="3733800"/>
          </a:xfrm>
          <a:prstGeom xmlns:a="http://schemas.openxmlformats.org/drawingml/2006/main" prst="roundRect">
            <a:avLst>
              <a:gd name="adj" fmla="val 3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422" name="image1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0f80cf7d249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4793" y="1657350"/>
            <a:ext cx="4545914" cy="310515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06" name="개봉 월별 성공도 랭크 분포">
            <a:extLst xmlns:a="http://schemas.openxmlformats.org/drawingml/2006/main">
              <a:ext uri="{FF2B5EF4-FFF2-40B4-BE49-F238E27FC236}">
                <a16:creationId xmlns:a16="http://schemas.microsoft.com/office/drawing/2014/main" id="{DD232383-C9B5-4433-955E-32AEFB76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972050"/>
            <a:ext cx="48006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개봉 월별 성공도 랭크 분포</a:t>
            </a:r>
          </a:p>
        </p:txBody>
      </p:sp>
      <p:sp>
        <p:nvSpPr>
          <p:cNvPr id="407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2A49D9FF-20AA-4839-A850-3A198F22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4476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>
            <a:solidFill>
              <a:srgbClr val="CCFB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08" name="장르는 흥행 경향을 설명하는 보조 축이지만 표본 수 차이를 함께 봐야 한다.">
            <a:extLst xmlns:a="http://schemas.openxmlformats.org/drawingml/2006/main">
              <a:ext uri="{FF2B5EF4-FFF2-40B4-BE49-F238E27FC236}">
                <a16:creationId xmlns:a16="http://schemas.microsoft.com/office/drawing/2014/main" id="{524546B4-56E2-4436-AE35-DD4FBA0B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00700"/>
            <a:ext cx="4095750" cy="40005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장르는 흥행 경향을 설명하는 보조 축이지만 표본 수 차이를 함께 봐야 한다.</a:t>
            </a:r>
          </a:p>
        </p:txBody>
      </p:sp>
      <p:sp>
        <p:nvSpPr>
          <p:cNvPr id="409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7B88D0EF-94B9-4781-8749-7FEC83DE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81650"/>
            <a:ext cx="400050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>
            <a:solidFill>
              <a:srgbClr val="FEF3C7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10" name="개봉월은 시즌 효과 가능성을 보여주지만 단독 인과로 해석하기 어렵다.">
            <a:extLst xmlns:a="http://schemas.openxmlformats.org/drawingml/2006/main">
              <a:ext uri="{FF2B5EF4-FFF2-40B4-BE49-F238E27FC236}">
                <a16:creationId xmlns:a16="http://schemas.microsoft.com/office/drawing/2014/main" id="{AD789F18-5838-4C77-8E47-B6255DC7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600700"/>
            <a:ext cx="3619500" cy="40005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2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개봉월은 시즌 효과 가능성을 보여주지만 단독 인과로 해석하기 어렵다.</a:t>
            </a:r>
          </a:p>
        </p:txBody>
      </p:sp>
      <p:sp>
        <p:nvSpPr>
          <p:cNvPr id="411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DAB145CC-6E2A-4C04-B190-13AFE3BF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412" name="14 / 16">
            <a:extLst xmlns:a="http://schemas.openxmlformats.org/drawingml/2006/main">
              <a:ext uri="{FF2B5EF4-FFF2-40B4-BE49-F238E27FC236}">
                <a16:creationId xmlns:a16="http://schemas.microsoft.com/office/drawing/2014/main" id="{5507339E-9C8E-48C1-994A-E2AB0190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14 / 16</a:t>
            </a:r>
          </a:p>
        </p:txBody>
      </p:sp>
    </p:spTree>
    <p:extLst>
      <p:ext uri="{BB962C8B-B14F-4D97-AF65-F5344CB8AC3E}">
        <p14:creationId xmlns:p14="http://schemas.microsoft.com/office/powerpoint/2010/main" val="20358911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4" name="성공 요인 3">
            <a:extLst xmlns:a="http://schemas.openxmlformats.org/drawingml/2006/main">
              <a:ext uri="{FF2B5EF4-FFF2-40B4-BE49-F238E27FC236}">
                <a16:creationId xmlns:a16="http://schemas.microsoft.com/office/drawing/2014/main" id="{4AB12226-2407-470C-82AB-D0F1DFB6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성공 요인 3</a:t>
            </a:r>
          </a:p>
        </p:txBody>
      </p:sp>
      <p:sp>
        <p:nvSpPr>
          <p:cNvPr id="415" name="포스터·배우·제작비는 보조 신호로 활용 가능하다">
            <a:extLst xmlns:a="http://schemas.openxmlformats.org/drawingml/2006/main">
              <a:ext uri="{FF2B5EF4-FFF2-40B4-BE49-F238E27FC236}">
                <a16:creationId xmlns:a16="http://schemas.microsoft.com/office/drawing/2014/main" id="{BCE15D1F-1445-420C-89AA-75C4DF8D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포스터·배우·제작비는 보조 신호로 활용 가능하다</a:t>
            </a:r>
          </a:p>
        </p:txBody>
      </p:sp>
      <p:sp>
        <p:nvSpPr>
          <p:cNvPr id="416" name="선">
            <a:extLst xmlns:a="http://schemas.openxmlformats.org/drawingml/2006/main">
              <a:ext uri="{FF2B5EF4-FFF2-40B4-BE49-F238E27FC236}">
                <a16:creationId xmlns:a16="http://schemas.microsoft.com/office/drawing/2014/main" id="{20B8F200-32C9-43E8-BBD1-57E334EF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17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5716E751-2352-4F34-A50E-27E33E15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443" name="image1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150c8396e74b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109" y="1657350"/>
            <a:ext cx="2438732" cy="17526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19" name="포스터 밝기·채도와 흥행 기준">
            <a:extLst xmlns:a="http://schemas.openxmlformats.org/drawingml/2006/main">
              <a:ext uri="{FF2B5EF4-FFF2-40B4-BE49-F238E27FC236}">
                <a16:creationId xmlns:a16="http://schemas.microsoft.com/office/drawing/2014/main" id="{FC4C9EF6-2593-417C-951B-894E69DA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299085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포스터 밝기·채도와 흥행 기준</a:t>
            </a:r>
          </a:p>
        </p:txBody>
      </p:sp>
      <p:sp>
        <p:nvSpPr>
          <p:cNvPr id="420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8C6311D2-8015-4C32-826C-E5CC5D9F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049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446" name="image16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9c08e118f4f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16072" y="1657350"/>
            <a:ext cx="2940804" cy="17526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22" name="출연진 빈도 기반 500만 돌파 신호">
            <a:extLst xmlns:a="http://schemas.openxmlformats.org/drawingml/2006/main">
              <a:ext uri="{FF2B5EF4-FFF2-40B4-BE49-F238E27FC236}">
                <a16:creationId xmlns:a16="http://schemas.microsoft.com/office/drawing/2014/main" id="{6EA4073C-76E4-4203-888C-01E5D380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19500"/>
            <a:ext cx="299085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출연진 빈도 기반 500만 돌파 신호</a:t>
            </a:r>
          </a:p>
        </p:txBody>
      </p:sp>
      <p:sp>
        <p:nvSpPr>
          <p:cNvPr id="423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3BBEE537-7413-46C9-8683-6EFCBE20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049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pic>
        <p:nvPicPr>
          <p:cNvPr id="449" name="image17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f0efa21c8541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11765" y="1657350"/>
            <a:ext cx="2769420" cy="17526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25" name="제작비와 관객 수의 군집 구조">
            <a:extLst xmlns:a="http://schemas.openxmlformats.org/drawingml/2006/main">
              <a:ext uri="{FF2B5EF4-FFF2-40B4-BE49-F238E27FC236}">
                <a16:creationId xmlns:a16="http://schemas.microsoft.com/office/drawing/2014/main" id="{B3F53468-B2B5-4FD3-935E-E782861D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299085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제작비와 관객 수의 군집 구조</a:t>
            </a:r>
          </a:p>
        </p:txBody>
      </p:sp>
      <p:sp>
        <p:nvSpPr>
          <p:cNvPr id="426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2BE364C3-DD77-4E8D-84B1-BAD34928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1095375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27" name="종합 해석">
            <a:extLst xmlns:a="http://schemas.openxmlformats.org/drawingml/2006/main">
              <a:ext uri="{FF2B5EF4-FFF2-40B4-BE49-F238E27FC236}">
                <a16:creationId xmlns:a16="http://schemas.microsoft.com/office/drawing/2014/main" id="{FA021A39-2F2D-43DE-9544-47A27A59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1333500" cy="254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종합 해석</a:t>
            </a:r>
          </a:p>
        </p:txBody>
      </p:sp>
      <p:sp>
        <p:nvSpPr>
          <p:cNvPr id="428" name="원">
            <a:extLst xmlns:a="http://schemas.openxmlformats.org/drawingml/2006/main">
              <a:ext uri="{FF2B5EF4-FFF2-40B4-BE49-F238E27FC236}">
                <a16:creationId xmlns:a16="http://schemas.microsoft.com/office/drawing/2014/main" id="{A600A611-22C3-4421-825E-1454A38D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5910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29" name="포스터 저수준 특성은 일부 변수 중요도에 포함되지만 단독 성능 개선은 제한적이다.">
            <a:extLst xmlns:a="http://schemas.openxmlformats.org/drawingml/2006/main">
              <a:ext uri="{FF2B5EF4-FFF2-40B4-BE49-F238E27FC236}">
                <a16:creationId xmlns:a16="http://schemas.microsoft.com/office/drawing/2014/main" id="{D8C5208D-30A2-4359-93EA-4CE90D52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514850"/>
            <a:ext cx="788670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포스터 저수준 특성은 일부 변수 중요도에 포함되지만 단독 성능 개선은 제한적이다.</a:t>
            </a:r>
          </a:p>
        </p:txBody>
      </p:sp>
      <p:sp>
        <p:nvSpPr>
          <p:cNvPr id="430" name="원">
            <a:extLst xmlns:a="http://schemas.openxmlformats.org/drawingml/2006/main">
              <a:ext uri="{FF2B5EF4-FFF2-40B4-BE49-F238E27FC236}">
                <a16:creationId xmlns:a16="http://schemas.microsoft.com/office/drawing/2014/main" id="{5F649927-CEB8-4EDC-ADE2-6394B0A5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1490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31" name="배우 관련 신호는 해석 가능성이 있지만 표본 수와 출연 빈도 편향을 함께 고려해야 한다.">
            <a:extLst xmlns:a="http://schemas.openxmlformats.org/drawingml/2006/main">
              <a:ext uri="{FF2B5EF4-FFF2-40B4-BE49-F238E27FC236}">
                <a16:creationId xmlns:a16="http://schemas.microsoft.com/office/drawing/2014/main" id="{06B7B0AA-E9AF-4D59-B9B9-80C0A059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838700"/>
            <a:ext cx="788670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배우 관련 신호는 해석 가능성이 있지만 표본 수와 출연 빈도 편향을 함께 고려해야 한다.</a:t>
            </a:r>
          </a:p>
        </p:txBody>
      </p:sp>
      <p:sp>
        <p:nvSpPr>
          <p:cNvPr id="432" name="원">
            <a:extLst xmlns:a="http://schemas.openxmlformats.org/drawingml/2006/main">
              <a:ext uri="{FF2B5EF4-FFF2-40B4-BE49-F238E27FC236}">
                <a16:creationId xmlns:a16="http://schemas.microsoft.com/office/drawing/2014/main" id="{0D524ED9-04D5-488C-946D-D15969AE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387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33" name="제작비는 흥행 규모와 관련성이 있지만 결측과 극단값 영향이 커 보정이 필요하다.">
            <a:extLst xmlns:a="http://schemas.openxmlformats.org/drawingml/2006/main">
              <a:ext uri="{FF2B5EF4-FFF2-40B4-BE49-F238E27FC236}">
                <a16:creationId xmlns:a16="http://schemas.microsoft.com/office/drawing/2014/main" id="{1DA81912-F4CF-4267-819D-D65C1B4E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62550"/>
            <a:ext cx="7886700" cy="1905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제작비는 흥행 규모와 관련성이 있지만 결측과 극단값 영향이 커 보정이 필요하다.</a:t>
            </a:r>
          </a:p>
        </p:txBody>
      </p:sp>
      <p:sp>
        <p:nvSpPr>
          <p:cNvPr id="434" name="출처: KOBIS/TMDB 데이터, 프로젝트 결과보고서(2026.06)">
            <a:extLst xmlns:a="http://schemas.openxmlformats.org/drawingml/2006/main">
              <a:ext uri="{FF2B5EF4-FFF2-40B4-BE49-F238E27FC236}">
                <a16:creationId xmlns:a16="http://schemas.microsoft.com/office/drawing/2014/main" id="{90418CDE-636A-40F9-B7C9-E2CC5FAD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KOBIS/TMDB 데이터, 프로젝트 결과보고서(2026.06)</a:t>
            </a:r>
          </a:p>
        </p:txBody>
      </p:sp>
      <p:sp>
        <p:nvSpPr>
          <p:cNvPr id="435" name="15 / 16">
            <a:extLst xmlns:a="http://schemas.openxmlformats.org/drawingml/2006/main">
              <a:ext uri="{FF2B5EF4-FFF2-40B4-BE49-F238E27FC236}">
                <a16:creationId xmlns:a16="http://schemas.microsoft.com/office/drawing/2014/main" id="{F2377AC7-68A4-4458-BD2A-87C6117E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15 / 16</a:t>
            </a:r>
          </a:p>
        </p:txBody>
      </p:sp>
    </p:spTree>
    <p:extLst>
      <p:ext uri="{BB962C8B-B14F-4D97-AF65-F5344CB8AC3E}">
        <p14:creationId xmlns:p14="http://schemas.microsoft.com/office/powerpoint/2010/main" val="156474983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7" name="결론 및 개선 방향">
            <a:extLst xmlns:a="http://schemas.openxmlformats.org/drawingml/2006/main">
              <a:ext uri="{FF2B5EF4-FFF2-40B4-BE49-F238E27FC236}">
                <a16:creationId xmlns:a16="http://schemas.microsoft.com/office/drawing/2014/main" id="{B0DD6C1B-D837-4E82-9D9D-4F931785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23900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결론 및 개선 방향</a:t>
            </a:r>
          </a:p>
        </p:txBody>
      </p:sp>
      <p:sp>
        <p:nvSpPr>
          <p:cNvPr id="438" name="결론은 RF 기준선은 유효하지만 데이터 확장이 성능 개선의 핵심이다">
            <a:extLst xmlns:a="http://schemas.openxmlformats.org/drawingml/2006/main">
              <a:ext uri="{FF2B5EF4-FFF2-40B4-BE49-F238E27FC236}">
                <a16:creationId xmlns:a16="http://schemas.microsoft.com/office/drawing/2014/main" id="{20E030D5-EFC1-42A7-A79D-E156AA1B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715500" cy="393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결론은 RF 기준선은 유효하지만 데이터 확장이 성능 개선의 핵심이다</a:t>
            </a:r>
          </a:p>
        </p:txBody>
      </p:sp>
      <p:sp>
        <p:nvSpPr>
          <p:cNvPr id="439" name="선">
            <a:extLst xmlns:a="http://schemas.openxmlformats.org/drawingml/2006/main">
              <a:ext uri="{FF2B5EF4-FFF2-40B4-BE49-F238E27FC236}">
                <a16:creationId xmlns:a16="http://schemas.microsoft.com/office/drawing/2014/main" id="{303E8B69-9BB2-4887-A54B-8046D09B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66801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1D4ED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40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4DDA9E49-7424-45F5-AF5D-34740140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1435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41" name="핵심 결론">
            <a:extLst xmlns:a="http://schemas.openxmlformats.org/drawingml/2006/main">
              <a:ext uri="{FF2B5EF4-FFF2-40B4-BE49-F238E27FC236}">
                <a16:creationId xmlns:a16="http://schemas.microsoft.com/office/drawing/2014/main" id="{34ECB3BE-D2DD-4043-8733-054B8A37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1714500" cy="266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핵심 결론</a:t>
            </a:r>
          </a:p>
        </p:txBody>
      </p:sp>
      <p:sp>
        <p:nvSpPr>
          <p:cNvPr id="442" name="원">
            <a:extLst xmlns:a="http://schemas.openxmlformats.org/drawingml/2006/main">
              <a:ext uri="{FF2B5EF4-FFF2-40B4-BE49-F238E27FC236}">
                <a16:creationId xmlns:a16="http://schemas.microsoft.com/office/drawing/2014/main" id="{FB7EC1DC-97B4-42F6-B57E-D7769315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336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43" name="Random Forest는 분류 문제에서 가장 안정적인 기준 모델이었다.">
            <a:extLst xmlns:a="http://schemas.openxmlformats.org/drawingml/2006/main">
              <a:ext uri="{FF2B5EF4-FFF2-40B4-BE49-F238E27FC236}">
                <a16:creationId xmlns:a16="http://schemas.microsoft.com/office/drawing/2014/main" id="{2677BA46-1D60-40D1-826A-EEF2BD2E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7450"/>
            <a:ext cx="379095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Random Forest는 분류 문제에서 가장 안정적인 기준 모델이었다.</a:t>
            </a:r>
          </a:p>
        </p:txBody>
      </p:sp>
      <p:sp>
        <p:nvSpPr>
          <p:cNvPr id="444" name="원">
            <a:extLst xmlns:a="http://schemas.openxmlformats.org/drawingml/2006/main">
              <a:ext uri="{FF2B5EF4-FFF2-40B4-BE49-F238E27FC236}">
                <a16:creationId xmlns:a16="http://schemas.microsoft.com/office/drawing/2014/main" id="{CA11991E-942E-420E-AF05-D56CD579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45" name="제목과 포스터는 보조 신호로 의미가 있으나 대폭적인 성능 향상은 제한적이었다.">
            <a:extLst xmlns:a="http://schemas.openxmlformats.org/drawingml/2006/main">
              <a:ext uri="{FF2B5EF4-FFF2-40B4-BE49-F238E27FC236}">
                <a16:creationId xmlns:a16="http://schemas.microsoft.com/office/drawing/2014/main" id="{DC45F5DB-3ACB-4C90-8B9C-719CF776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379095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제목과 포스터는 보조 신호로 의미가 있으나 대폭적인 성능 향상은 제한적이었다.</a:t>
            </a:r>
          </a:p>
        </p:txBody>
      </p:sp>
      <p:sp>
        <p:nvSpPr>
          <p:cNvPr id="446" name="원">
            <a:extLst xmlns:a="http://schemas.openxmlformats.org/drawingml/2006/main">
              <a:ext uri="{FF2B5EF4-FFF2-40B4-BE49-F238E27FC236}">
                <a16:creationId xmlns:a16="http://schemas.microsoft.com/office/drawing/2014/main" id="{D17A704E-F4FD-4255-A5EB-905EF34A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290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47" name="관객 수 회귀와 랭크 예측은 데이터 분포와 클래스 경계 문제의 영향을 크게 받았다.">
            <a:extLst xmlns:a="http://schemas.openxmlformats.org/drawingml/2006/main">
              <a:ext uri="{FF2B5EF4-FFF2-40B4-BE49-F238E27FC236}">
                <a16:creationId xmlns:a16="http://schemas.microsoft.com/office/drawing/2014/main" id="{D080069E-2D51-4D3B-A7AB-36FED48F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52850"/>
            <a:ext cx="379095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관객 수 회귀와 랭크 예측은 데이터 분포와 클래스 경계 문제의 영향을 크게 받았다.</a:t>
            </a:r>
          </a:p>
        </p:txBody>
      </p:sp>
      <p:sp>
        <p:nvSpPr>
          <p:cNvPr id="448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A22B1DF6-3578-4C11-9FE1-1CE2BBF1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24000"/>
            <a:ext cx="51435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49" name="개선 방향">
            <a:extLst xmlns:a="http://schemas.openxmlformats.org/drawingml/2006/main">
              <a:ext uri="{FF2B5EF4-FFF2-40B4-BE49-F238E27FC236}">
                <a16:creationId xmlns:a16="http://schemas.microsoft.com/office/drawing/2014/main" id="{95761C2C-76F4-4162-9D72-BDBFC2FF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85950"/>
            <a:ext cx="1714500" cy="266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개선 방향</a:t>
            </a:r>
          </a:p>
        </p:txBody>
      </p:sp>
      <p:sp>
        <p:nvSpPr>
          <p:cNvPr id="450" name="원">
            <a:extLst xmlns:a="http://schemas.openxmlformats.org/drawingml/2006/main">
              <a:ext uri="{FF2B5EF4-FFF2-40B4-BE49-F238E27FC236}">
                <a16:creationId xmlns:a16="http://schemas.microsoft.com/office/drawing/2014/main" id="{93732C4A-FA0A-4BAD-8289-B6C46589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5336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51" name="영화 코드 기반 매칭으로 KOBIS-TMDB 연결 품질을 높인다.">
            <a:extLst xmlns:a="http://schemas.openxmlformats.org/drawingml/2006/main">
              <a:ext uri="{FF2B5EF4-FFF2-40B4-BE49-F238E27FC236}">
                <a16:creationId xmlns:a16="http://schemas.microsoft.com/office/drawing/2014/main" id="{262C5641-2066-4F1D-A343-B3271CFA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57450"/>
            <a:ext cx="379095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영화 코드 기반 매칭으로 KOBIS-TMDB 연결 품질을 높인다.</a:t>
            </a:r>
          </a:p>
        </p:txBody>
      </p:sp>
      <p:sp>
        <p:nvSpPr>
          <p:cNvPr id="452" name="원">
            <a:extLst xmlns:a="http://schemas.openxmlformats.org/drawingml/2006/main">
              <a:ext uri="{FF2B5EF4-FFF2-40B4-BE49-F238E27FC236}">
                <a16:creationId xmlns:a16="http://schemas.microsoft.com/office/drawing/2014/main" id="{78BAE98E-A45D-4FBF-90AB-FB8A5B74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813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53" name="CLIP/CNN 임베딩으로 포스터 표현력을 확장한다.">
            <a:extLst xmlns:a="http://schemas.openxmlformats.org/drawingml/2006/main">
              <a:ext uri="{FF2B5EF4-FFF2-40B4-BE49-F238E27FC236}">
                <a16:creationId xmlns:a16="http://schemas.microsoft.com/office/drawing/2014/main" id="{1B1E6E37-6B3B-4967-9475-0D462285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05150"/>
            <a:ext cx="3790950" cy="2032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CLIP/CNN 임베딩으로 포스터 표현력을 확장한다.</a:t>
            </a:r>
          </a:p>
        </p:txBody>
      </p:sp>
      <p:sp>
        <p:nvSpPr>
          <p:cNvPr id="454" name="원">
            <a:extLst xmlns:a="http://schemas.openxmlformats.org/drawingml/2006/main">
              <a:ext uri="{FF2B5EF4-FFF2-40B4-BE49-F238E27FC236}">
                <a16:creationId xmlns:a16="http://schemas.microsoft.com/office/drawing/2014/main" id="{1F87A35E-8FD3-43F7-BDF0-C2D504F0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829050"/>
            <a:ext cx="85726" cy="8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/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55" name="교차검증, 클래스 불균형 보정, 임계값 조정으로 평가 안정성을 높인다.">
            <a:extLst xmlns:a="http://schemas.openxmlformats.org/drawingml/2006/main">
              <a:ext uri="{FF2B5EF4-FFF2-40B4-BE49-F238E27FC236}">
                <a16:creationId xmlns:a16="http://schemas.microsoft.com/office/drawing/2014/main" id="{23F5DC0C-AC78-496A-97DF-2C9CEE0B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52850"/>
            <a:ext cx="3790950" cy="42672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교차검증, 클래스 불균형 보정, 임계값 조정으로 평가 안정성을 높인다.</a:t>
            </a:r>
          </a:p>
        </p:txBody>
      </p:sp>
      <p:sp>
        <p:nvSpPr>
          <p:cNvPr id="456" name="모서리가 둥근 직사각형">
            <a:extLst xmlns:a="http://schemas.openxmlformats.org/drawingml/2006/main">
              <a:ext uri="{FF2B5EF4-FFF2-40B4-BE49-F238E27FC236}">
                <a16:creationId xmlns:a16="http://schemas.microsoft.com/office/drawing/2014/main" id="{69C3E84A-888C-470B-8B1C-63D2224A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EE9"/>
            </a:solidFill>
          </a:ln>
          <a:effectLst xmlns:a="http://schemas.openxmlformats.org/drawingml/2006/main">
            <a:outerShdw blurRad="25400" dist="9525" dir="5400000" rotWithShape="0">
              <a:srgbClr val="000000">
                <a:alpha val="6000"/>
              </a:srgb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/>
        </p:txBody>
      </p:sp>
      <p:sp>
        <p:nvSpPr>
          <p:cNvPr id="457" name="참고 자료: KOBIS 영화관입장권통합전산망, TMDB API, scikit-learn 공식 문서, Pillow 이미지 처리 라이브러리">
            <a:extLst xmlns:a="http://schemas.openxmlformats.org/drawingml/2006/main">
              <a:ext uri="{FF2B5EF4-FFF2-40B4-BE49-F238E27FC236}">
                <a16:creationId xmlns:a16="http://schemas.microsoft.com/office/drawing/2014/main" id="{A751BF3F-90E7-4F60-9AF6-8E40A1E2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0363200" cy="16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참고 자료: KOBIS 영화관입장권통합전산망, TMDB API, scikit-learn 공식 문서, Pillow 이미지 처리 라이브러리</a:t>
            </a:r>
          </a:p>
        </p:txBody>
      </p:sp>
      <p:sp>
        <p:nvSpPr>
          <p:cNvPr id="458" name="출처: 프로젝트 결과보고서 및 outputs/metrics CSV, KOBIS/TMDB/scikit-learn/Pillow">
            <a:extLst xmlns:a="http://schemas.openxmlformats.org/drawingml/2006/main">
              <a:ext uri="{FF2B5EF4-FFF2-40B4-BE49-F238E27FC236}">
                <a16:creationId xmlns:a16="http://schemas.microsoft.com/office/drawing/2014/main" id="{E6D67BA8-E72F-487E-8179-AB7E877F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8001000" cy="1270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</a:defRPr>
            </a:lvl1pPr>
          </a:lstStyle>
          <a:p xmlns:a="http://schemas.openxmlformats.org/drawingml/2006/main">
            <a:r>
              <a:t>출처: 프로젝트 결과보고서 및 outputs/metrics CSV, KOBIS/TMDB/scikit-learn/Pillow</a:t>
            </a:r>
          </a:p>
        </p:txBody>
      </p:sp>
      <p:sp>
        <p:nvSpPr>
          <p:cNvPr id="459" name="16 / 16">
            <a:extLst xmlns:a="http://schemas.openxmlformats.org/drawingml/2006/main">
              <a:ext uri="{FF2B5EF4-FFF2-40B4-BE49-F238E27FC236}">
                <a16:creationId xmlns:a16="http://schemas.microsoft.com/office/drawing/2014/main" id="{6441939D-72EF-44FF-B0C8-4DE95DB7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742950" cy="139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r">
              <a:lnSpc>
                <a:spcPct val="110000"/>
              </a:lnSpc>
              <a:buNone/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</a:defRPr>
            </a:lvl1pPr>
          </a:lstStyle>
          <a:p xmlns:a="http://schemas.openxmlformats.org/drawingml/2006/main">
            <a:r>
              <a:t>16 / 16</a:t>
            </a:r>
          </a:p>
        </p:txBody>
      </p:sp>
    </p:spTree>
    <p:extLst>
      <p:ext uri="{BB962C8B-B14F-4D97-AF65-F5344CB8AC3E}">
        <p14:creationId xmlns:p14="http://schemas.microsoft.com/office/powerpoint/2010/main" val="2572565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2026-06-19T08:41:16.8420000Z</dcterms:created>
  <dcterms:modified xsi:type="dcterms:W3CDTF">2026-06-19T08:41:16.8420000Z</dcterms:modified>
</coreProperties>
</file>