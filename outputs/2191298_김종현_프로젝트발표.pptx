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63993" y="6223864"/>
            <a:ext cx="273607" cy="26497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" name="Local LM Studio 연동…"/>
          <p:cNvSpPr txBox="1"/>
          <p:nvPr/>
        </p:nvSpPr>
        <p:spPr>
          <a:xfrm>
            <a:off x="685800" y="1447800"/>
            <a:ext cx="7239000" cy="1428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/>
          <a:p>
            <a:pPr>
              <a:lnSpc>
                <a:spcPct val="95000"/>
              </a:lnSpc>
              <a:defRPr b="1" sz="39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Local LM Studio 연동</a:t>
            </a:r>
          </a:p>
          <a:p>
            <a:pPr>
              <a:lnSpc>
                <a:spcPct val="95000"/>
              </a:lnSpc>
              <a:defRPr b="1" sz="39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세미나실 예약 자동화 MCP 서버</a:t>
            </a:r>
          </a:p>
        </p:txBody>
      </p:sp>
      <p:sp>
        <p:nvSpPr>
          <p:cNvPr id="22" name="예약 오픈 시각 계산, 작업 저장, 브라우저 확인 흐름을 자연어 MCP 도구 호출로 연결한 로컬 자동화 프로젝트"/>
          <p:cNvSpPr txBox="1"/>
          <p:nvPr/>
        </p:nvSpPr>
        <p:spPr>
          <a:xfrm>
            <a:off x="723900" y="3143250"/>
            <a:ext cx="6715125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sz="15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오픈 시각 계산, 작업 저장, 브라우저 확인 흐름을 자연어 MCP 도구 호출로 연결한 로컬 자동화 프로젝트</a:t>
            </a:r>
          </a:p>
        </p:txBody>
      </p:sp>
      <p:sp>
        <p:nvSpPr>
          <p:cNvPr id="23" name="모서리가 둥근 직사각형"/>
          <p:cNvSpPr/>
          <p:nvPr/>
        </p:nvSpPr>
        <p:spPr>
          <a:xfrm>
            <a:off x="723900" y="4591050"/>
            <a:ext cx="2895600" cy="83820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" name="2191298"/>
          <p:cNvSpPr txBox="1"/>
          <p:nvPr/>
        </p:nvSpPr>
        <p:spPr>
          <a:xfrm>
            <a:off x="971550" y="4762500"/>
            <a:ext cx="952500" cy="20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b="1" sz="1000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2191298</a:t>
            </a:r>
          </a:p>
        </p:txBody>
      </p:sp>
      <p:sp>
        <p:nvSpPr>
          <p:cNvPr id="25" name="김종현"/>
          <p:cNvSpPr txBox="1"/>
          <p:nvPr/>
        </p:nvSpPr>
        <p:spPr>
          <a:xfrm>
            <a:off x="971550" y="5010150"/>
            <a:ext cx="226695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김종현</a:t>
            </a:r>
          </a:p>
        </p:txBody>
      </p:sp>
      <p:sp>
        <p:nvSpPr>
          <p:cNvPr id="26" name="01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3175">
            <a:solidFill>
              <a:srgbClr val="F8FAF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" name="slide-title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MCP란 무엇인가</a:t>
            </a:r>
          </a:p>
        </p:txBody>
      </p:sp>
      <p:sp>
        <p:nvSpPr>
          <p:cNvPr id="30" name="slide-subtitle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AI 애플리케이션과 외부 도구·데이터를 연결하는 표준 인터페이스</a:t>
            </a:r>
          </a:p>
        </p:txBody>
      </p:sp>
      <p:sp>
        <p:nvSpPr>
          <p:cNvPr id="31" name="accent-bar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" name="page-number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flow-LM Studio"/>
          <p:cNvSpPr/>
          <p:nvPr/>
        </p:nvSpPr>
        <p:spPr>
          <a:xfrm>
            <a:off x="1047750" y="1762125"/>
            <a:ext cx="2524125" cy="87630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3175">
            <a:solidFill>
              <a:srgbClr val="11182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" name="flow-title-LM Studio"/>
          <p:cNvSpPr txBox="1"/>
          <p:nvPr/>
        </p:nvSpPr>
        <p:spPr>
          <a:xfrm>
            <a:off x="1219200" y="1971675"/>
            <a:ext cx="2181225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</a:t>
            </a:r>
          </a:p>
        </p:txBody>
      </p:sp>
      <p:sp>
        <p:nvSpPr>
          <p:cNvPr id="35" name="flow-body-LM Studio"/>
          <p:cNvSpPr txBox="1"/>
          <p:nvPr/>
        </p:nvSpPr>
        <p:spPr>
          <a:xfrm>
            <a:off x="1219200" y="2286000"/>
            <a:ext cx="2181225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D1D5D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자연어 요청</a:t>
            </a:r>
          </a:p>
        </p:txBody>
      </p:sp>
      <p:sp>
        <p:nvSpPr>
          <p:cNvPr id="36" name="flow-arrow"/>
          <p:cNvSpPr/>
          <p:nvPr/>
        </p:nvSpPr>
        <p:spPr>
          <a:xfrm>
            <a:off x="3857625" y="2066925"/>
            <a:ext cx="5524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" name="flow-MCP 서버"/>
          <p:cNvSpPr/>
          <p:nvPr/>
        </p:nvSpPr>
        <p:spPr>
          <a:xfrm>
            <a:off x="4857750" y="1762125"/>
            <a:ext cx="252412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flow-title-MCP 서버"/>
          <p:cNvSpPr txBox="1"/>
          <p:nvPr/>
        </p:nvSpPr>
        <p:spPr>
          <a:xfrm>
            <a:off x="5029200" y="1971675"/>
            <a:ext cx="2181225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MCP 서버</a:t>
            </a:r>
          </a:p>
        </p:txBody>
      </p:sp>
      <p:sp>
        <p:nvSpPr>
          <p:cNvPr id="39" name="flow-body-MCP 서버"/>
          <p:cNvSpPr txBox="1"/>
          <p:nvPr/>
        </p:nvSpPr>
        <p:spPr>
          <a:xfrm>
            <a:off x="5029200" y="2286000"/>
            <a:ext cx="2181225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표준 방식으로 도구 제공</a:t>
            </a:r>
          </a:p>
        </p:txBody>
      </p:sp>
      <p:sp>
        <p:nvSpPr>
          <p:cNvPr id="40" name="flow-arrow"/>
          <p:cNvSpPr/>
          <p:nvPr/>
        </p:nvSpPr>
        <p:spPr>
          <a:xfrm>
            <a:off x="7667625" y="2066925"/>
            <a:ext cx="5524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" name="flow-예약 도구"/>
          <p:cNvSpPr/>
          <p:nvPr/>
        </p:nvSpPr>
        <p:spPr>
          <a:xfrm>
            <a:off x="8667750" y="1762125"/>
            <a:ext cx="252412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" name="flow-title-예약 도구"/>
          <p:cNvSpPr txBox="1"/>
          <p:nvPr/>
        </p:nvSpPr>
        <p:spPr>
          <a:xfrm>
            <a:off x="8839200" y="1971675"/>
            <a:ext cx="2181225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도구</a:t>
            </a:r>
          </a:p>
        </p:txBody>
      </p:sp>
      <p:sp>
        <p:nvSpPr>
          <p:cNvPr id="43" name="flow-body-예약 도구"/>
          <p:cNvSpPr txBox="1"/>
          <p:nvPr/>
        </p:nvSpPr>
        <p:spPr>
          <a:xfrm>
            <a:off x="8839200" y="2286000"/>
            <a:ext cx="2181225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계산 · 저장 · 확인 · 검증</a:t>
            </a:r>
          </a:p>
        </p:txBody>
      </p:sp>
      <p:sp>
        <p:nvSpPr>
          <p:cNvPr id="44" name="card-MCP는 무엇인가"/>
          <p:cNvSpPr/>
          <p:nvPr/>
        </p:nvSpPr>
        <p:spPr>
          <a:xfrm>
            <a:off x="838200" y="3333750"/>
            <a:ext cx="32004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" name="card-title-MCP는 무엇인가"/>
          <p:cNvSpPr txBox="1"/>
          <p:nvPr/>
        </p:nvSpPr>
        <p:spPr>
          <a:xfrm>
            <a:off x="1066800" y="3543300"/>
            <a:ext cx="27432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MCP는 무엇인가</a:t>
            </a:r>
          </a:p>
        </p:txBody>
      </p:sp>
      <p:sp>
        <p:nvSpPr>
          <p:cNvPr id="46" name="card-body-MCP는 무엇인가"/>
          <p:cNvSpPr txBox="1"/>
          <p:nvPr/>
        </p:nvSpPr>
        <p:spPr>
          <a:xfrm>
            <a:off x="1143000" y="4000500"/>
            <a:ext cx="25908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Model Context Protocol의 약자입니다.</a:t>
            </a:r>
          </a:p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LLM 앱이 외부 시스템을 같은 규칙으로 연결해 도구와 데이터를 사용할 수 있게 합니다.</a:t>
            </a:r>
          </a:p>
        </p:txBody>
      </p:sp>
      <p:sp>
        <p:nvSpPr>
          <p:cNvPr id="47" name="card-무슨 일을 해주나"/>
          <p:cNvSpPr/>
          <p:nvPr/>
        </p:nvSpPr>
        <p:spPr>
          <a:xfrm>
            <a:off x="4495800" y="3333750"/>
            <a:ext cx="32004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card-title-무슨 일을 해주나"/>
          <p:cNvSpPr txBox="1"/>
          <p:nvPr/>
        </p:nvSpPr>
        <p:spPr>
          <a:xfrm>
            <a:off x="4724400" y="3543300"/>
            <a:ext cx="27432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무슨 일을 해주나</a:t>
            </a:r>
          </a:p>
        </p:txBody>
      </p:sp>
      <p:sp>
        <p:nvSpPr>
          <p:cNvPr id="49" name="card-body-무슨 일을 해주나"/>
          <p:cNvSpPr txBox="1"/>
          <p:nvPr/>
        </p:nvSpPr>
        <p:spPr>
          <a:xfrm>
            <a:off x="4800600" y="4000500"/>
            <a:ext cx="25908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파일, 데이터베이스, 웹 서비스, 브라우저 자동화 같은 기능을 도구로 노출합니다.</a:t>
            </a:r>
          </a:p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AI는 필요한 순간 해당 도구를 호출해 작업을 수행합니다.</a:t>
            </a:r>
          </a:p>
        </p:txBody>
      </p:sp>
      <p:sp>
        <p:nvSpPr>
          <p:cNvPr id="50" name="card-이 프로젝트에서는"/>
          <p:cNvSpPr/>
          <p:nvPr/>
        </p:nvSpPr>
        <p:spPr>
          <a:xfrm>
            <a:off x="8153400" y="3333750"/>
            <a:ext cx="32004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" name="card-title-이 프로젝트에서는"/>
          <p:cNvSpPr txBox="1"/>
          <p:nvPr/>
        </p:nvSpPr>
        <p:spPr>
          <a:xfrm>
            <a:off x="8382000" y="3543300"/>
            <a:ext cx="27432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 프로젝트에서는</a:t>
            </a:r>
          </a:p>
        </p:txBody>
      </p:sp>
      <p:sp>
        <p:nvSpPr>
          <p:cNvPr id="52" name="card-body-이 프로젝트에서는"/>
          <p:cNvSpPr txBox="1"/>
          <p:nvPr/>
        </p:nvSpPr>
        <p:spPr>
          <a:xfrm>
            <a:off x="8458200" y="4000500"/>
            <a:ext cx="25908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세미나실 예약 기능을 MCP 도구로 제공합니다.</a:t>
            </a:r>
          </a:p>
          <a:p>
            <a:pPr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날짜 계산, 작업 저장, 가용 공간 확인, 제출 검증을 자연어 흐름으로 연결합니다.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왜 이 프로젝트가 필요한가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왜 이 프로젝트가 필요한가</a:t>
            </a:r>
          </a:p>
        </p:txBody>
      </p:sp>
      <p:sp>
        <p:nvSpPr>
          <p:cNvPr id="55" name="세미나실 예약은 단순하지만 놓치기 쉽고 반복적인 작업이다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세미나실 예약은 단순하지만 놓치기 쉽고 반복적인 작업이다</a:t>
            </a:r>
          </a:p>
        </p:txBody>
      </p:sp>
      <p:sp>
        <p:nvSpPr>
          <p:cNvPr id="56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" name="모서리가 둥근 직사각형"/>
          <p:cNvSpPr/>
          <p:nvPr/>
        </p:nvSpPr>
        <p:spPr>
          <a:xfrm>
            <a:off x="685800" y="182880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D1D5D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8" name="기존 예약 방식의 문제"/>
          <p:cNvSpPr txBox="1"/>
          <p:nvPr/>
        </p:nvSpPr>
        <p:spPr>
          <a:xfrm>
            <a:off x="895350" y="2000250"/>
            <a:ext cx="2724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기존 예약 방식의 문제</a:t>
            </a:r>
          </a:p>
        </p:txBody>
      </p:sp>
      <p:sp>
        <p:nvSpPr>
          <p:cNvPr id="59" name="사용일 기준 D-7 오픈 시각을 직접 계산해야 함…"/>
          <p:cNvSpPr txBox="1"/>
          <p:nvPr/>
        </p:nvSpPr>
        <p:spPr>
          <a:xfrm>
            <a:off x="990600" y="2476500"/>
            <a:ext cx="2533650" cy="209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marL="1" indent="4"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사용일 기준 D-7 오픈 시각을 직접 계산해야 함</a:t>
            </a:r>
          </a:p>
          <a:p>
            <a:pPr marL="1" indent="4"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로그인, 공간 선택, 시간대 확인 과정이 반복됨</a:t>
            </a:r>
          </a:p>
          <a:p>
            <a:pPr marL="1" indent="4"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마감 시 대체 공간을 다시 찾아야 함</a:t>
            </a:r>
          </a:p>
          <a:p>
            <a:pPr marL="1" indent="4">
              <a:lnSpc>
                <a:spcPct val="120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자동 제출은 편하지만 오입력 위험이 있음</a:t>
            </a:r>
          </a:p>
        </p:txBody>
      </p:sp>
      <p:sp>
        <p:nvSpPr>
          <p:cNvPr id="60" name="화살표"/>
          <p:cNvSpPr/>
          <p:nvPr/>
        </p:nvSpPr>
        <p:spPr>
          <a:xfrm>
            <a:off x="4248150" y="2990850"/>
            <a:ext cx="1066800" cy="5905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모서리가 둥근 직사각형"/>
          <p:cNvSpPr/>
          <p:nvPr/>
        </p:nvSpPr>
        <p:spPr>
          <a:xfrm>
            <a:off x="5810250" y="182880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D1D5D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2" name="프로젝트 목표"/>
          <p:cNvSpPr txBox="1"/>
          <p:nvPr/>
        </p:nvSpPr>
        <p:spPr>
          <a:xfrm>
            <a:off x="6019800" y="2000250"/>
            <a:ext cx="43434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프로젝트 목표</a:t>
            </a:r>
          </a:p>
        </p:txBody>
      </p:sp>
      <p:sp>
        <p:nvSpPr>
          <p:cNvPr id="63" name="예약 과정을 날짜 계산, 작업 저장, 사이트 확인, 제출 검증이라는 작은 기능으로 나누고, LM Studio가 MCP 도구를 통해 필요한 기능을 자연어로 호출하게 만든다."/>
          <p:cNvSpPr txBox="1"/>
          <p:nvPr/>
        </p:nvSpPr>
        <p:spPr>
          <a:xfrm>
            <a:off x="6191250" y="2476500"/>
            <a:ext cx="4000500" cy="2000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7999"/>
              </a:lnSpc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과정을 날짜 계산, 작업 저장, 사이트 확인, 제출 검증이라는 작은 기능으로 나누고, LM Studio가 MCP 도구를 통해 필요한 기능을 자연어로 호출하게 만든다.</a:t>
            </a:r>
          </a:p>
        </p:txBody>
      </p:sp>
      <p:sp>
        <p:nvSpPr>
          <p:cNvPr id="64" name="02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개발 목표와 구현 결과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개발 목표와 구현 결과</a:t>
            </a:r>
          </a:p>
        </p:txBody>
      </p:sp>
      <p:sp>
        <p:nvSpPr>
          <p:cNvPr id="67" name="보고서의 목표 항목을 실제 구현 모듈과 연결했다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보고서의 목표 항목을 실제 구현 모듈과 연결했다</a:t>
            </a:r>
          </a:p>
        </p:txBody>
      </p:sp>
      <p:sp>
        <p:nvSpPr>
          <p:cNvPr id="68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69" name="표 1"/>
          <p:cNvGraphicFramePr/>
          <p:nvPr/>
        </p:nvGraphicFramePr>
        <p:xfrm>
          <a:off x="819150" y="1733550"/>
          <a:ext cx="10553700" cy="37719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276850"/>
                <a:gridCol w="5276850"/>
              </a:tblGrid>
              <a:tr h="6286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 결과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1182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15E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 정책 설정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config/venues.yaml에 URL, 로그인 URL, D-7 정책, 기본 알림 시간 분리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15E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 오픈 시각 계산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scheduler.py에서 open_at, notify_at을 Asia/Seoul 기준으로 계산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15E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LM Studio 연동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server.py에서 FastMCP 기반 도구 7개 노출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15E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 작업 저장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storage.py에서 SQLite 작업 생성, 조회, 상태 변경 관리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15E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안전한 예약 흐름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dry-run 기본값, 참가자 검증, confirm_submit 옵션 적용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03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시스템 구조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시스템 구조</a:t>
            </a:r>
          </a:p>
        </p:txBody>
      </p:sp>
      <p:sp>
        <p:nvSpPr>
          <p:cNvPr id="73" name="LM Studio의 자연어 요청을 로컬 MCP 서버의 함수 호출로 연결한다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Studio의 자연어 요청을 로컬 MCP 서버의 함수 호출로 연결한다</a:t>
            </a:r>
          </a:p>
        </p:txBody>
      </p:sp>
      <p:sp>
        <p:nvSpPr>
          <p:cNvPr id="74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모서리가 둥근 직사각형"/>
          <p:cNvSpPr/>
          <p:nvPr/>
        </p:nvSpPr>
        <p:spPr>
          <a:xfrm>
            <a:off x="685800" y="222885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6" name="LM Studio"/>
          <p:cNvSpPr txBox="1"/>
          <p:nvPr/>
        </p:nvSpPr>
        <p:spPr>
          <a:xfrm>
            <a:off x="857250" y="2381250"/>
            <a:ext cx="184785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</a:t>
            </a:r>
          </a:p>
        </p:txBody>
      </p:sp>
      <p:sp>
        <p:nvSpPr>
          <p:cNvPr id="77" name="자연어 요청…"/>
          <p:cNvSpPr txBox="1"/>
          <p:nvPr/>
        </p:nvSpPr>
        <p:spPr>
          <a:xfrm>
            <a:off x="857250" y="2724150"/>
            <a:ext cx="1847850" cy="438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자연어 요청</a:t>
            </a:r>
          </a:p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도구 호출</a:t>
            </a:r>
          </a:p>
        </p:txBody>
      </p:sp>
      <p:sp>
        <p:nvSpPr>
          <p:cNvPr id="78" name="모서리가 둥근 직사각형"/>
          <p:cNvSpPr/>
          <p:nvPr/>
        </p:nvSpPr>
        <p:spPr>
          <a:xfrm>
            <a:off x="3238500" y="2219324"/>
            <a:ext cx="2190750" cy="104775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9" name="FastMCP server.py"/>
          <p:cNvSpPr txBox="1"/>
          <p:nvPr/>
        </p:nvSpPr>
        <p:spPr>
          <a:xfrm>
            <a:off x="3409950" y="2371724"/>
            <a:ext cx="1847850" cy="266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FastMCP server.py</a:t>
            </a:r>
          </a:p>
        </p:txBody>
      </p:sp>
      <p:sp>
        <p:nvSpPr>
          <p:cNvPr id="80" name="create / find / submit 등…"/>
          <p:cNvSpPr txBox="1"/>
          <p:nvPr/>
        </p:nvSpPr>
        <p:spPr>
          <a:xfrm>
            <a:off x="3409950" y="2714624"/>
            <a:ext cx="1847850" cy="43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create / find / submit 등</a:t>
            </a:r>
          </a:p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7개 도구 등록</a:t>
            </a:r>
          </a:p>
        </p:txBody>
      </p:sp>
      <p:sp>
        <p:nvSpPr>
          <p:cNvPr id="81" name="모서리가 둥근 직사각형"/>
          <p:cNvSpPr/>
          <p:nvPr/>
        </p:nvSpPr>
        <p:spPr>
          <a:xfrm>
            <a:off x="5791200" y="2219325"/>
            <a:ext cx="2190750" cy="104775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2" name="tools.py"/>
          <p:cNvSpPr txBox="1"/>
          <p:nvPr/>
        </p:nvSpPr>
        <p:spPr>
          <a:xfrm>
            <a:off x="5962650" y="2371725"/>
            <a:ext cx="184785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tools.py</a:t>
            </a:r>
          </a:p>
        </p:txBody>
      </p:sp>
      <p:sp>
        <p:nvSpPr>
          <p:cNvPr id="83" name="입력 검증…"/>
          <p:cNvSpPr txBox="1"/>
          <p:nvPr/>
        </p:nvSpPr>
        <p:spPr>
          <a:xfrm>
            <a:off x="5962650" y="2714625"/>
            <a:ext cx="1847850" cy="43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입력 검증</a:t>
            </a:r>
          </a:p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비즈니스 로직 연결</a:t>
            </a:r>
          </a:p>
        </p:txBody>
      </p:sp>
      <p:sp>
        <p:nvSpPr>
          <p:cNvPr id="84" name="모서리가 둥근 직사각형"/>
          <p:cNvSpPr/>
          <p:nvPr/>
        </p:nvSpPr>
        <p:spPr>
          <a:xfrm>
            <a:off x="8382000" y="150495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grpSp>
        <p:nvGrpSpPr>
          <p:cNvPr id="87" name="SQLite storage.py"/>
          <p:cNvGrpSpPr/>
          <p:nvPr/>
        </p:nvGrpSpPr>
        <p:grpSpPr>
          <a:xfrm>
            <a:off x="8553450" y="1657350"/>
            <a:ext cx="1847850" cy="266700"/>
            <a:chOff x="0" y="0"/>
            <a:chExt cx="1847850" cy="266700"/>
          </a:xfrm>
        </p:grpSpPr>
        <p:sp>
          <p:nvSpPr>
            <p:cNvPr id="85" name="직사각형"/>
            <p:cNvSpPr/>
            <p:nvPr/>
          </p:nvSpPr>
          <p:spPr>
            <a:xfrm>
              <a:off x="0" y="0"/>
              <a:ext cx="1847850" cy="2667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200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</p:txBody>
        </p:sp>
        <p:sp>
          <p:nvSpPr>
            <p:cNvPr id="86" name="SQLite storage.py"/>
            <p:cNvSpPr txBox="1"/>
            <p:nvPr/>
          </p:nvSpPr>
          <p:spPr>
            <a:xfrm>
              <a:off x="0" y="0"/>
              <a:ext cx="184785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rmAutofit fontScale="100000" lnSpcReduction="0"/>
            </a:bodyPr>
            <a:lstStyle>
              <a:lvl1pPr algn="ctr">
                <a:defRPr b="1" sz="1200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SQLite storage.py</a:t>
              </a:r>
            </a:p>
          </p:txBody>
        </p:sp>
      </p:grpSp>
      <p:sp>
        <p:nvSpPr>
          <p:cNvPr id="88" name="예약 작업 저장…"/>
          <p:cNvSpPr txBox="1"/>
          <p:nvPr/>
        </p:nvSpPr>
        <p:spPr>
          <a:xfrm>
            <a:off x="8553450" y="2000250"/>
            <a:ext cx="1847850" cy="438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예약 작업 저장</a:t>
            </a:r>
          </a:p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상태 변경</a:t>
            </a:r>
          </a:p>
        </p:txBody>
      </p:sp>
      <p:sp>
        <p:nvSpPr>
          <p:cNvPr id="89" name="모서리가 둥근 직사각형"/>
          <p:cNvSpPr/>
          <p:nvPr/>
        </p:nvSpPr>
        <p:spPr>
          <a:xfrm>
            <a:off x="8382000" y="295275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grpSp>
        <p:nvGrpSpPr>
          <p:cNvPr id="92" name="Playwright booking_runner.py"/>
          <p:cNvGrpSpPr/>
          <p:nvPr/>
        </p:nvGrpSpPr>
        <p:grpSpPr>
          <a:xfrm>
            <a:off x="8553450" y="3105150"/>
            <a:ext cx="1847850" cy="266700"/>
            <a:chOff x="0" y="0"/>
            <a:chExt cx="1847850" cy="266700"/>
          </a:xfrm>
        </p:grpSpPr>
        <p:sp>
          <p:nvSpPr>
            <p:cNvPr id="90" name="직사각형"/>
            <p:cNvSpPr/>
            <p:nvPr/>
          </p:nvSpPr>
          <p:spPr>
            <a:xfrm>
              <a:off x="0" y="0"/>
              <a:ext cx="1847850" cy="2667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200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</p:txBody>
        </p:sp>
        <p:sp>
          <p:nvSpPr>
            <p:cNvPr id="91" name="Playwright booking_runner.py"/>
            <p:cNvSpPr txBox="1"/>
            <p:nvPr/>
          </p:nvSpPr>
          <p:spPr>
            <a:xfrm>
              <a:off x="0" y="0"/>
              <a:ext cx="184785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rmAutofit fontScale="100000" lnSpcReduction="0"/>
            </a:bodyPr>
            <a:lstStyle>
              <a:lvl1pPr algn="ctr" defTabSz="905255">
                <a:defRPr b="1" sz="989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Playwright booking_runner.py</a:t>
              </a:r>
            </a:p>
          </p:txBody>
        </p:sp>
      </p:grpSp>
      <p:sp>
        <p:nvSpPr>
          <p:cNvPr id="93" name="로그인, 시간대 확인…"/>
          <p:cNvSpPr txBox="1"/>
          <p:nvPr/>
        </p:nvSpPr>
        <p:spPr>
          <a:xfrm>
            <a:off x="8553450" y="3448050"/>
            <a:ext cx="1847850" cy="438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로그인, 시간대 확인</a:t>
            </a:r>
          </a:p>
          <a:p>
            <a:pPr algn="ctr">
              <a:lnSpc>
                <a:spcPct val="112000"/>
              </a:lnSpc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신청 폼 입력</a:t>
            </a:r>
          </a:p>
        </p:txBody>
      </p:sp>
      <p:cxnSp>
        <p:nvCxnSpPr>
          <p:cNvPr id="94" name="연결선"/>
          <p:cNvCxnSpPr>
            <a:stCxn id="81" idx="0"/>
            <a:endCxn id="84" idx="0"/>
          </p:cNvCxnSpPr>
          <p:nvPr/>
        </p:nvCxnSpPr>
        <p:spPr>
          <a:xfrm flipV="1">
            <a:off x="6883400" y="2032000"/>
            <a:ext cx="2590800" cy="711200"/>
          </a:xfrm>
          <a:prstGeom prst="bentConnector5">
            <a:avLst>
              <a:gd name="adj1" fmla="val 52450"/>
              <a:gd name="adj2" fmla="val 62499"/>
              <a:gd name="adj3" fmla="val 47549"/>
            </a:avLst>
          </a:prstGeom>
          <a:ln w="19050">
            <a:solidFill>
              <a:srgbClr val="D1D5DB"/>
            </a:solidFill>
          </a:ln>
        </p:spPr>
      </p:cxnSp>
      <p:cxnSp>
        <p:nvCxnSpPr>
          <p:cNvPr id="95" name="연결선"/>
          <p:cNvCxnSpPr>
            <a:stCxn id="81" idx="0"/>
            <a:endCxn id="89" idx="0"/>
          </p:cNvCxnSpPr>
          <p:nvPr/>
        </p:nvCxnSpPr>
        <p:spPr>
          <a:xfrm>
            <a:off x="6883400" y="2743200"/>
            <a:ext cx="2590800" cy="736600"/>
          </a:xfrm>
          <a:prstGeom prst="bentConnector5">
            <a:avLst>
              <a:gd name="adj1" fmla="val 52450"/>
              <a:gd name="adj2" fmla="val 37931"/>
              <a:gd name="adj3" fmla="val 47549"/>
            </a:avLst>
          </a:prstGeom>
          <a:ln w="19050">
            <a:solidFill>
              <a:srgbClr val="D1D5DB"/>
            </a:solidFill>
          </a:ln>
        </p:spPr>
      </p:cxnSp>
      <p:sp>
        <p:nvSpPr>
          <p:cNvPr id="96" name="화살표"/>
          <p:cNvSpPr/>
          <p:nvPr/>
        </p:nvSpPr>
        <p:spPr>
          <a:xfrm>
            <a:off x="2914650" y="2581275"/>
            <a:ext cx="2857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1D5DB"/>
          </a:solidFill>
          <a:ln w="3175"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화살표"/>
          <p:cNvSpPr/>
          <p:nvPr/>
        </p:nvSpPr>
        <p:spPr>
          <a:xfrm>
            <a:off x="5467350" y="2581275"/>
            <a:ext cx="2857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1D5DB"/>
          </a:solidFill>
          <a:ln w="3175"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8" name="모서리가 둥근 직사각형"/>
          <p:cNvSpPr/>
          <p:nvPr/>
        </p:nvSpPr>
        <p:spPr>
          <a:xfrm>
            <a:off x="1009650" y="4572000"/>
            <a:ext cx="9810750" cy="1123950"/>
          </a:xfrm>
          <a:prstGeom prst="roundRect">
            <a:avLst>
              <a:gd name="adj" fmla="val 6780"/>
            </a:avLst>
          </a:prstGeom>
          <a:solidFill>
            <a:srgbClr val="F9FAFB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" name="보조 실행"/>
          <p:cNvSpPr txBox="1"/>
          <p:nvPr/>
        </p:nvSpPr>
        <p:spPr>
          <a:xfrm>
            <a:off x="1219200" y="4743450"/>
            <a:ext cx="9391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보조 실행</a:t>
            </a:r>
          </a:p>
        </p:txBody>
      </p:sp>
      <p:sp>
        <p:nvSpPr>
          <p:cNvPr id="100" name="launchd.py와 worker.py는 예약 오픈 전 알림을 준비하고, config/venues.yaml은 장소별 정책을 코드 밖에서 관리한다."/>
          <p:cNvSpPr txBox="1"/>
          <p:nvPr/>
        </p:nvSpPr>
        <p:spPr>
          <a:xfrm>
            <a:off x="1219200" y="5162550"/>
            <a:ext cx="93916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2000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launchd.py와 worker.py는 예약 오픈 전 알림을 준비하고, config/venues.yaml은 장소별 정책을 코드 밖에서 관리한다.</a:t>
            </a:r>
          </a:p>
        </p:txBody>
      </p:sp>
      <p:sp>
        <p:nvSpPr>
          <p:cNvPr id="101" name="04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3175">
            <a:solidFill>
              <a:srgbClr val="F8FAF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4" name="slide-title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핵심 동작 흐름</a:t>
            </a:r>
          </a:p>
        </p:txBody>
      </p:sp>
      <p:sp>
        <p:nvSpPr>
          <p:cNvPr id="105" name="slide-subtitle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요청 생성부터 실제 제출까지 네 단계로 분리하고, 안전 조건을 마지막에 검증한다</a:t>
            </a:r>
          </a:p>
        </p:txBody>
      </p:sp>
      <p:sp>
        <p:nvSpPr>
          <p:cNvPr id="106" name="accent-bar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7" name="page-number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08" name="step-card-01"/>
          <p:cNvSpPr/>
          <p:nvPr/>
        </p:nvSpPr>
        <p:spPr>
          <a:xfrm>
            <a:off x="990600" y="1809750"/>
            <a:ext cx="2381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9" name="step-number-bg-01"/>
          <p:cNvSpPr/>
          <p:nvPr/>
        </p:nvSpPr>
        <p:spPr>
          <a:xfrm>
            <a:off x="1162050" y="2028825"/>
            <a:ext cx="361950" cy="2476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0" name="step-number-01"/>
          <p:cNvSpPr txBox="1"/>
          <p:nvPr/>
        </p:nvSpPr>
        <p:spPr>
          <a:xfrm>
            <a:off x="1162050" y="2038350"/>
            <a:ext cx="3619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1" name="step-title-01"/>
          <p:cNvSpPr txBox="1"/>
          <p:nvPr/>
        </p:nvSpPr>
        <p:spPr>
          <a:xfrm>
            <a:off x="1619250" y="2009775"/>
            <a:ext cx="15621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요청 입력</a:t>
            </a:r>
          </a:p>
        </p:txBody>
      </p:sp>
      <p:sp>
        <p:nvSpPr>
          <p:cNvPr id="112" name="step-body-01"/>
          <p:cNvSpPr txBox="1"/>
          <p:nvPr/>
        </p:nvSpPr>
        <p:spPr>
          <a:xfrm>
            <a:off x="1219200" y="2447925"/>
            <a:ext cx="192405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장소, 호실, 날짜,</a:t>
            </a:r>
          </a:p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시작·종료 시간 전달</a:t>
            </a:r>
          </a:p>
        </p:txBody>
      </p:sp>
      <p:sp>
        <p:nvSpPr>
          <p:cNvPr id="113" name="step-card-02"/>
          <p:cNvSpPr/>
          <p:nvPr/>
        </p:nvSpPr>
        <p:spPr>
          <a:xfrm>
            <a:off x="3600450" y="1809750"/>
            <a:ext cx="2381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4" name="step-number-bg-02"/>
          <p:cNvSpPr/>
          <p:nvPr/>
        </p:nvSpPr>
        <p:spPr>
          <a:xfrm>
            <a:off x="3771900" y="2028825"/>
            <a:ext cx="361950" cy="2476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5" name="step-number-02"/>
          <p:cNvSpPr txBox="1"/>
          <p:nvPr/>
        </p:nvSpPr>
        <p:spPr>
          <a:xfrm>
            <a:off x="3771900" y="2038350"/>
            <a:ext cx="3619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6" name="step-title-02"/>
          <p:cNvSpPr txBox="1"/>
          <p:nvPr/>
        </p:nvSpPr>
        <p:spPr>
          <a:xfrm>
            <a:off x="4229100" y="2009775"/>
            <a:ext cx="15621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오픈 시각 계산</a:t>
            </a:r>
          </a:p>
        </p:txBody>
      </p:sp>
      <p:sp>
        <p:nvSpPr>
          <p:cNvPr id="117" name="step-body-02"/>
          <p:cNvSpPr txBox="1"/>
          <p:nvPr/>
        </p:nvSpPr>
        <p:spPr>
          <a:xfrm>
            <a:off x="3829050" y="2447925"/>
            <a:ext cx="192405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D-7 09:00 정책으로</a:t>
            </a:r>
          </a:p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open_at 계산 후 저장</a:t>
            </a:r>
          </a:p>
        </p:txBody>
      </p:sp>
      <p:sp>
        <p:nvSpPr>
          <p:cNvPr id="118" name="step-card-03"/>
          <p:cNvSpPr/>
          <p:nvPr/>
        </p:nvSpPr>
        <p:spPr>
          <a:xfrm>
            <a:off x="6210300" y="1809750"/>
            <a:ext cx="2381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9" name="step-number-bg-03"/>
          <p:cNvSpPr/>
          <p:nvPr/>
        </p:nvSpPr>
        <p:spPr>
          <a:xfrm>
            <a:off x="6381750" y="2028825"/>
            <a:ext cx="361950" cy="2476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step-number-03"/>
          <p:cNvSpPr txBox="1"/>
          <p:nvPr/>
        </p:nvSpPr>
        <p:spPr>
          <a:xfrm>
            <a:off x="6381750" y="2038350"/>
            <a:ext cx="3619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1" name="step-title-03"/>
          <p:cNvSpPr txBox="1"/>
          <p:nvPr/>
        </p:nvSpPr>
        <p:spPr>
          <a:xfrm>
            <a:off x="6838950" y="2009775"/>
            <a:ext cx="15621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가용 공간 확인</a:t>
            </a:r>
          </a:p>
        </p:txBody>
      </p:sp>
      <p:sp>
        <p:nvSpPr>
          <p:cNvPr id="122" name="step-body-03"/>
          <p:cNvSpPr txBox="1"/>
          <p:nvPr/>
        </p:nvSpPr>
        <p:spPr>
          <a:xfrm>
            <a:off x="6438900" y="2447925"/>
            <a:ext cx="192405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Playwright 로그인 후</a:t>
            </a:r>
          </a:p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요청 시간대 후보 확인</a:t>
            </a:r>
          </a:p>
        </p:txBody>
      </p:sp>
      <p:sp>
        <p:nvSpPr>
          <p:cNvPr id="123" name="step-card-04"/>
          <p:cNvSpPr/>
          <p:nvPr/>
        </p:nvSpPr>
        <p:spPr>
          <a:xfrm>
            <a:off x="8820150" y="1809750"/>
            <a:ext cx="2381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step-number-bg-04"/>
          <p:cNvSpPr/>
          <p:nvPr/>
        </p:nvSpPr>
        <p:spPr>
          <a:xfrm>
            <a:off x="8991600" y="2028825"/>
            <a:ext cx="361950" cy="2476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step-number-04"/>
          <p:cNvSpPr txBox="1"/>
          <p:nvPr/>
        </p:nvSpPr>
        <p:spPr>
          <a:xfrm>
            <a:off x="8991600" y="2038350"/>
            <a:ext cx="3619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6" name="step-title-04"/>
          <p:cNvSpPr txBox="1"/>
          <p:nvPr/>
        </p:nvSpPr>
        <p:spPr>
          <a:xfrm>
            <a:off x="9448800" y="2009775"/>
            <a:ext cx="15621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b="1" sz="13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안전 검증 제출</a:t>
            </a:r>
          </a:p>
        </p:txBody>
      </p:sp>
      <p:sp>
        <p:nvSpPr>
          <p:cNvPr id="127" name="step-body-04"/>
          <p:cNvSpPr txBox="1"/>
          <p:nvPr/>
        </p:nvSpPr>
        <p:spPr>
          <a:xfrm>
            <a:off x="9048750" y="2447925"/>
            <a:ext cx="192405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/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참가자·인원수와</a:t>
            </a:r>
          </a:p>
          <a:p>
            <a:pPr>
              <a:lnSpc>
                <a:spcPct val="117999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confirm_submit 확인</a:t>
            </a:r>
          </a:p>
        </p:txBody>
      </p:sp>
      <p:sp>
        <p:nvSpPr>
          <p:cNvPr id="128" name="flow-arrow"/>
          <p:cNvSpPr/>
          <p:nvPr/>
        </p:nvSpPr>
        <p:spPr>
          <a:xfrm>
            <a:off x="3076575" y="2400300"/>
            <a:ext cx="5524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flow-arrow"/>
          <p:cNvSpPr/>
          <p:nvPr/>
        </p:nvSpPr>
        <p:spPr>
          <a:xfrm>
            <a:off x="5686425" y="2400300"/>
            <a:ext cx="5524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0" name="flow-arrow"/>
          <p:cNvSpPr/>
          <p:nvPr/>
        </p:nvSpPr>
        <p:spPr>
          <a:xfrm>
            <a:off x="8296275" y="2400300"/>
            <a:ext cx="5524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1" name="safety-panel"/>
          <p:cNvSpPr/>
          <p:nvPr/>
        </p:nvSpPr>
        <p:spPr>
          <a:xfrm>
            <a:off x="1066800" y="3857625"/>
            <a:ext cx="10058400" cy="121920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safety-title"/>
          <p:cNvSpPr txBox="1"/>
          <p:nvPr/>
        </p:nvSpPr>
        <p:spPr>
          <a:xfrm>
            <a:off x="1333500" y="4038600"/>
            <a:ext cx="1428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b="1" sz="1400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안전장치</a:t>
            </a:r>
          </a:p>
        </p:txBody>
      </p:sp>
      <p:sp>
        <p:nvSpPr>
          <p:cNvPr id="133" name="safety-summary"/>
          <p:cNvSpPr txBox="1"/>
          <p:nvPr/>
        </p:nvSpPr>
        <p:spPr>
          <a:xfrm>
            <a:off x="2781300" y="4048125"/>
            <a:ext cx="7810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>
              <a:lnSpc>
                <a:spcPct val="115000"/>
              </a:lnSpc>
              <a:defRPr sz="1100">
                <a:solidFill>
                  <a:srgbClr val="78350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자동 제출은 편하지만 위험할 수 있으므로, 실제 신청 전에 네 가지 조건을 별도로 확인합니다.</a:t>
            </a:r>
          </a:p>
        </p:txBody>
      </p:sp>
      <p:sp>
        <p:nvSpPr>
          <p:cNvPr id="134" name="safety-pill-dry-run 기본 실행"/>
          <p:cNvSpPr/>
          <p:nvPr/>
        </p:nvSpPr>
        <p:spPr>
          <a:xfrm>
            <a:off x="1409700" y="4495800"/>
            <a:ext cx="20574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safety-pill-text-dry-run 기본 실행"/>
          <p:cNvSpPr txBox="1"/>
          <p:nvPr/>
        </p:nvSpPr>
        <p:spPr>
          <a:xfrm>
            <a:off x="1543050" y="4572000"/>
            <a:ext cx="1790700" cy="20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dry-run 기본 실행</a:t>
            </a:r>
          </a:p>
        </p:txBody>
      </p:sp>
      <p:sp>
        <p:nvSpPr>
          <p:cNvPr id="136" name="safety-pill-참가자 성명·학번 검증"/>
          <p:cNvSpPr/>
          <p:nvPr/>
        </p:nvSpPr>
        <p:spPr>
          <a:xfrm>
            <a:off x="3714750" y="4495800"/>
            <a:ext cx="20574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7" name="safety-pill-text-참가자 성명·학번 검증"/>
          <p:cNvSpPr txBox="1"/>
          <p:nvPr/>
        </p:nvSpPr>
        <p:spPr>
          <a:xfrm>
            <a:off x="3848100" y="4572000"/>
            <a:ext cx="1790700" cy="20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참가자 성명·학번 검증</a:t>
            </a:r>
          </a:p>
        </p:txBody>
      </p:sp>
      <p:sp>
        <p:nvSpPr>
          <p:cNvPr id="138" name="safety-pill-총 인원수 누락 차단"/>
          <p:cNvSpPr/>
          <p:nvPr/>
        </p:nvSpPr>
        <p:spPr>
          <a:xfrm>
            <a:off x="6172200" y="4495800"/>
            <a:ext cx="20574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9" name="safety-pill-text-총 인원수 누락 차단"/>
          <p:cNvSpPr txBox="1"/>
          <p:nvPr/>
        </p:nvSpPr>
        <p:spPr>
          <a:xfrm>
            <a:off x="6305550" y="4572000"/>
            <a:ext cx="1790700" cy="20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총 인원수 누락 차단</a:t>
            </a:r>
          </a:p>
        </p:txBody>
      </p:sp>
      <p:sp>
        <p:nvSpPr>
          <p:cNvPr id="140" name="safety-pill-confirm_submit 분리"/>
          <p:cNvSpPr/>
          <p:nvPr/>
        </p:nvSpPr>
        <p:spPr>
          <a:xfrm>
            <a:off x="8477250" y="4495800"/>
            <a:ext cx="20574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1" name="safety-pill-text-confirm_submit 분리"/>
          <p:cNvSpPr txBox="1"/>
          <p:nvPr/>
        </p:nvSpPr>
        <p:spPr>
          <a:xfrm>
            <a:off x="8610600" y="4572000"/>
            <a:ext cx="1790700" cy="20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b="1" sz="900">
                <a:solidFill>
                  <a:srgbClr val="92400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confirm_submit 분리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실행 화면 1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실행 화면 1</a:t>
            </a:r>
          </a:p>
        </p:txBody>
      </p:sp>
      <p:sp>
        <p:nvSpPr>
          <p:cNvPr id="144" name="LM Studio에서 MCP 서버와 도구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Studio에서 MCP 서버와 도구</a:t>
            </a:r>
          </a:p>
        </p:txBody>
      </p:sp>
      <p:sp>
        <p:nvSpPr>
          <p:cNvPr id="145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6" name="선"/>
          <p:cNvSpPr/>
          <p:nvPr/>
        </p:nvSpPr>
        <p:spPr>
          <a:xfrm>
            <a:off x="857249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7" name="선"/>
          <p:cNvSpPr/>
          <p:nvPr/>
        </p:nvSpPr>
        <p:spPr>
          <a:xfrm>
            <a:off x="857249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" name="사진 자리 1"/>
          <p:cNvSpPr txBox="1"/>
          <p:nvPr/>
        </p:nvSpPr>
        <p:spPr>
          <a:xfrm>
            <a:off x="876300" y="2714625"/>
            <a:ext cx="2952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사진 자리 1</a:t>
            </a:r>
          </a:p>
        </p:txBody>
      </p:sp>
      <p:sp>
        <p:nvSpPr>
          <p:cNvPr id="149" name="LM Studio MCP 서버 활성화 화면"/>
          <p:cNvSpPr txBox="1"/>
          <p:nvPr/>
        </p:nvSpPr>
        <p:spPr>
          <a:xfrm>
            <a:off x="952500" y="3028950"/>
            <a:ext cx="280035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 MCP 서버 활성화 화면</a:t>
            </a:r>
          </a:p>
        </p:txBody>
      </p:sp>
      <p:sp>
        <p:nvSpPr>
          <p:cNvPr id="150" name="선"/>
          <p:cNvSpPr/>
          <p:nvPr/>
        </p:nvSpPr>
        <p:spPr>
          <a:xfrm>
            <a:off x="4610099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1" name="선"/>
          <p:cNvSpPr/>
          <p:nvPr/>
        </p:nvSpPr>
        <p:spPr>
          <a:xfrm>
            <a:off x="4610099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2" name="사진 자리 2"/>
          <p:cNvSpPr txBox="1"/>
          <p:nvPr/>
        </p:nvSpPr>
        <p:spPr>
          <a:xfrm>
            <a:off x="4629150" y="2714625"/>
            <a:ext cx="2952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사진 자리 2</a:t>
            </a:r>
          </a:p>
        </p:txBody>
      </p:sp>
      <p:sp>
        <p:nvSpPr>
          <p:cNvPr id="153" name="create_reservation_task 등 도구 목록"/>
          <p:cNvSpPr txBox="1"/>
          <p:nvPr/>
        </p:nvSpPr>
        <p:spPr>
          <a:xfrm>
            <a:off x="4705350" y="3028950"/>
            <a:ext cx="280035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create_reservation_task 등 도구 목록</a:t>
            </a:r>
          </a:p>
        </p:txBody>
      </p:sp>
      <p:sp>
        <p:nvSpPr>
          <p:cNvPr id="154" name="선"/>
          <p:cNvSpPr/>
          <p:nvPr/>
        </p:nvSpPr>
        <p:spPr>
          <a:xfrm>
            <a:off x="8362950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5" name="선"/>
          <p:cNvSpPr/>
          <p:nvPr/>
        </p:nvSpPr>
        <p:spPr>
          <a:xfrm>
            <a:off x="8362950" y="1943099"/>
            <a:ext cx="2990852" cy="2038352"/>
          </a:xfrm>
          <a:prstGeom prst="line">
            <a:avLst/>
          </a:prstGeom>
          <a:ln>
            <a:solidFill>
              <a:srgbClr val="CBD5E1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사진 자리 3"/>
          <p:cNvSpPr txBox="1"/>
          <p:nvPr/>
        </p:nvSpPr>
        <p:spPr>
          <a:xfrm>
            <a:off x="8382000" y="2714625"/>
            <a:ext cx="2952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사진 자리 3</a:t>
            </a:r>
          </a:p>
        </p:txBody>
      </p:sp>
      <p:sp>
        <p:nvSpPr>
          <p:cNvPr id="157" name="자연어 예약 요청 입력 화면"/>
          <p:cNvSpPr txBox="1"/>
          <p:nvPr/>
        </p:nvSpPr>
        <p:spPr>
          <a:xfrm>
            <a:off x="8458200" y="3028950"/>
            <a:ext cx="280035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자연어 예약 요청 입력 화면</a:t>
            </a:r>
          </a:p>
        </p:txBody>
      </p:sp>
      <p:sp>
        <p:nvSpPr>
          <p:cNvPr id="158" name="06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07</a:t>
            </a:r>
          </a:p>
        </p:txBody>
      </p:sp>
      <p:pic>
        <p:nvPicPr>
          <p:cNvPr id="159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33312" y="1753762"/>
            <a:ext cx="7843451" cy="4610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붙여넣은 동영상.png" descr="붙여넣은 동영상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6471"/>
          <a:stretch>
            <a:fillRect/>
          </a:stretch>
        </p:blipFill>
        <p:spPr>
          <a:xfrm>
            <a:off x="495298" y="3875206"/>
            <a:ext cx="3714753" cy="2524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붙여넣은 동영상.png" descr="붙여넣은 동영상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6328" y="1621642"/>
            <a:ext cx="3692694" cy="21576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실행 화면2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실행 화면2</a:t>
            </a:r>
          </a:p>
        </p:txBody>
      </p:sp>
      <p:sp>
        <p:nvSpPr>
          <p:cNvPr id="164" name="가용 공간 확인과 예약 신청 성공 결과"/>
          <p:cNvSpPr txBox="1"/>
          <p:nvPr/>
        </p:nvSpPr>
        <p:spPr>
          <a:xfrm>
            <a:off x="704850" y="1066800"/>
            <a:ext cx="72390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sz="12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가용 공간 확인과 예약 신청 성공 결과</a:t>
            </a:r>
          </a:p>
        </p:txBody>
      </p:sp>
      <p:sp>
        <p:nvSpPr>
          <p:cNvPr id="165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사진 자리 5"/>
          <p:cNvSpPr txBox="1"/>
          <p:nvPr/>
        </p:nvSpPr>
        <p:spPr>
          <a:xfrm>
            <a:off x="6591300" y="3057525"/>
            <a:ext cx="45720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사진 자리 5</a:t>
            </a:r>
          </a:p>
        </p:txBody>
      </p:sp>
      <p:sp>
        <p:nvSpPr>
          <p:cNvPr id="167" name="submit_booking 성공 메시지 출력 화면"/>
          <p:cNvSpPr txBox="1"/>
          <p:nvPr/>
        </p:nvSpPr>
        <p:spPr>
          <a:xfrm>
            <a:off x="6667500" y="3371850"/>
            <a:ext cx="44196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ctr"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submit_booking 성공 메시지 출력 화면</a:t>
            </a:r>
          </a:p>
        </p:txBody>
      </p:sp>
      <p:sp>
        <p:nvSpPr>
          <p:cNvPr id="168" name="넣으면 좋은 캡처 포인트"/>
          <p:cNvSpPr txBox="1"/>
          <p:nvPr/>
        </p:nvSpPr>
        <p:spPr>
          <a:xfrm>
            <a:off x="5010150" y="3962400"/>
            <a:ext cx="65151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완료 메시지 확인</a:t>
            </a:r>
          </a:p>
        </p:txBody>
      </p:sp>
      <p:sp>
        <p:nvSpPr>
          <p:cNvPr id="169" name="07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08</a:t>
            </a:r>
          </a:p>
        </p:txBody>
      </p:sp>
      <p:pic>
        <p:nvPicPr>
          <p:cNvPr id="170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10217" y="1068019"/>
            <a:ext cx="6521321" cy="2726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4" name="그룹화"/>
          <p:cNvGrpSpPr/>
          <p:nvPr/>
        </p:nvGrpSpPr>
        <p:grpSpPr>
          <a:xfrm>
            <a:off x="593703" y="1483685"/>
            <a:ext cx="3498945" cy="5224130"/>
            <a:chOff x="0" y="0"/>
            <a:chExt cx="3498943" cy="5224129"/>
          </a:xfrm>
        </p:grpSpPr>
        <p:pic>
          <p:nvPicPr>
            <p:cNvPr id="171" name="붙여넣은 동영상.png" descr="붙여넣은 동영상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2542" y="0"/>
              <a:ext cx="3473859" cy="15320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붙여넣은 동영상.png" descr="붙여넣은 동영상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535332"/>
              <a:ext cx="3498944" cy="16709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붙여넣은 동영상.png" descr="붙여넣은 동영상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3207377"/>
              <a:ext cx="3498944" cy="20167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77" name="그룹화"/>
          <p:cNvGrpSpPr/>
          <p:nvPr/>
        </p:nvGrpSpPr>
        <p:grpSpPr>
          <a:xfrm>
            <a:off x="5000768" y="4274914"/>
            <a:ext cx="6533864" cy="2283637"/>
            <a:chOff x="0" y="0"/>
            <a:chExt cx="6533863" cy="2283635"/>
          </a:xfrm>
        </p:grpSpPr>
        <p:pic>
          <p:nvPicPr>
            <p:cNvPr id="175" name="붙여넣은 동영상.png" descr="붙여넣은 동영상.pn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533864" cy="22836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6" name="직사각형"/>
            <p:cNvSpPr/>
            <p:nvPr/>
          </p:nvSpPr>
          <p:spPr>
            <a:xfrm>
              <a:off x="30225" y="2011338"/>
              <a:ext cx="6473341" cy="237044"/>
            </a:xfrm>
            <a:prstGeom prst="rect">
              <a:avLst/>
            </a:prstGeom>
            <a:noFill/>
            <a:ln w="50800" cap="flat">
              <a:solidFill>
                <a:srgbClr val="FF0E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결과와 검증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결과와 검증</a:t>
            </a:r>
          </a:p>
        </p:txBody>
      </p:sp>
      <p:sp>
        <p:nvSpPr>
          <p:cNvPr id="180" name="MCP 도구 노출, 실제 예약 흐름, 단위 테스트까지 확인했다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MCP 도구 노출, 실제 예약 흐름, 단위 테스트까지 확인</a:t>
            </a:r>
          </a:p>
        </p:txBody>
      </p:sp>
      <p:sp>
        <p:nvSpPr>
          <p:cNvPr id="181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2" name="모서리가 둥근 직사각형"/>
          <p:cNvSpPr/>
          <p:nvPr/>
        </p:nvSpPr>
        <p:spPr>
          <a:xfrm>
            <a:off x="685800" y="173355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>
            <a:solidFill>
              <a:srgbClr val="99F6E4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83" name="7개"/>
          <p:cNvSpPr txBox="1"/>
          <p:nvPr/>
        </p:nvSpPr>
        <p:spPr>
          <a:xfrm>
            <a:off x="895350" y="1905000"/>
            <a:ext cx="2152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7개</a:t>
            </a:r>
          </a:p>
        </p:txBody>
      </p:sp>
      <p:sp>
        <p:nvSpPr>
          <p:cNvPr id="184" name="LM Studio에서 노출된 FastMCP 도구"/>
          <p:cNvSpPr txBox="1"/>
          <p:nvPr/>
        </p:nvSpPr>
        <p:spPr>
          <a:xfrm>
            <a:off x="895350" y="2324100"/>
            <a:ext cx="21526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LM Studio에서 노출된 FastMCP 도구</a:t>
            </a:r>
          </a:p>
        </p:txBody>
      </p:sp>
      <p:sp>
        <p:nvSpPr>
          <p:cNvPr id="185" name="모서리가 둥근 직사각형"/>
          <p:cNvSpPr/>
          <p:nvPr/>
        </p:nvSpPr>
        <p:spPr>
          <a:xfrm>
            <a:off x="3562350" y="173355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>
            <a:solidFill>
              <a:srgbClr val="BFDBFE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86" name="id=4"/>
          <p:cNvSpPr txBox="1"/>
          <p:nvPr/>
        </p:nvSpPr>
        <p:spPr>
          <a:xfrm>
            <a:off x="3771900" y="1905000"/>
            <a:ext cx="2152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id=4</a:t>
            </a:r>
          </a:p>
        </p:txBody>
      </p:sp>
      <p:sp>
        <p:nvSpPr>
          <p:cNvPr id="187" name="예약 작업 생성 및 open_at 계산 확인"/>
          <p:cNvSpPr txBox="1"/>
          <p:nvPr/>
        </p:nvSpPr>
        <p:spPr>
          <a:xfrm>
            <a:off x="3771900" y="2324100"/>
            <a:ext cx="21526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예약 작업 생성 및 open_at 계산 확인</a:t>
            </a:r>
          </a:p>
        </p:txBody>
      </p:sp>
      <p:sp>
        <p:nvSpPr>
          <p:cNvPr id="188" name="모서리가 둥근 직사각형"/>
          <p:cNvSpPr/>
          <p:nvPr/>
        </p:nvSpPr>
        <p:spPr>
          <a:xfrm>
            <a:off x="6438900" y="173355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>
            <a:solidFill>
              <a:srgbClr val="FDE68A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89" name="9개"/>
          <p:cNvSpPr txBox="1"/>
          <p:nvPr/>
        </p:nvSpPr>
        <p:spPr>
          <a:xfrm>
            <a:off x="6648450" y="1905000"/>
            <a:ext cx="2152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9개</a:t>
            </a:r>
          </a:p>
        </p:txBody>
      </p:sp>
      <p:sp>
        <p:nvSpPr>
          <p:cNvPr id="190" name="unittest discover 기준 전체 테스트 통과"/>
          <p:cNvSpPr txBox="1"/>
          <p:nvPr/>
        </p:nvSpPr>
        <p:spPr>
          <a:xfrm>
            <a:off x="6648450" y="2324100"/>
            <a:ext cx="21526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lnSpc>
                <a:spcPct val="115000"/>
              </a:lnSpc>
              <a:defRPr sz="10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unittest discover 기준 전체 테스트 통과</a:t>
            </a:r>
          </a:p>
        </p:txBody>
      </p:sp>
      <p:sp>
        <p:nvSpPr>
          <p:cNvPr id="191" name="출처: 프로젝트 보고서(2026.06.14)"/>
          <p:cNvSpPr txBox="1"/>
          <p:nvPr/>
        </p:nvSpPr>
        <p:spPr>
          <a:xfrm>
            <a:off x="685800" y="6496050"/>
            <a:ext cx="342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sz="7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출처: 프로젝트 보고서(2026.06.14)</a:t>
            </a:r>
          </a:p>
        </p:txBody>
      </p:sp>
      <p:sp>
        <p:nvSpPr>
          <p:cNvPr id="192" name="08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09</a:t>
            </a:r>
          </a:p>
        </p:txBody>
      </p:sp>
      <p:pic>
        <p:nvPicPr>
          <p:cNvPr id="193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rcRect l="0" t="0" r="18711" b="0"/>
          <a:stretch>
            <a:fillRect/>
          </a:stretch>
        </p:blipFill>
        <p:spPr>
          <a:xfrm>
            <a:off x="2321519" y="3380183"/>
            <a:ext cx="5301113" cy="27265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결론"/>
          <p:cNvSpPr txBox="1"/>
          <p:nvPr/>
        </p:nvSpPr>
        <p:spPr>
          <a:xfrm>
            <a:off x="685800" y="514350"/>
            <a:ext cx="108204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결론</a:t>
            </a:r>
          </a:p>
        </p:txBody>
      </p:sp>
      <p:sp>
        <p:nvSpPr>
          <p:cNvPr id="196" name="반복되는 생활 문제를 함수 단위 자동화로 구조화했다"/>
          <p:cNvSpPr txBox="1"/>
          <p:nvPr/>
        </p:nvSpPr>
        <p:spPr>
          <a:xfrm>
            <a:off x="1066800" y="1076325"/>
            <a:ext cx="100584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반복되는 생활 문제를 함수 단위 자동화로 구조화</a:t>
            </a:r>
          </a:p>
        </p:txBody>
      </p:sp>
      <p:sp>
        <p:nvSpPr>
          <p:cNvPr id="197" name="직사각형"/>
          <p:cNvSpPr/>
          <p:nvPr/>
        </p:nvSpPr>
        <p:spPr>
          <a:xfrm>
            <a:off x="685800" y="1381125"/>
            <a:ext cx="876300" cy="38100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8" name="모서리가 둥근 직사각형"/>
          <p:cNvSpPr/>
          <p:nvPr/>
        </p:nvSpPr>
        <p:spPr>
          <a:xfrm>
            <a:off x="838200" y="175260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>
            <a:solidFill>
              <a:srgbClr val="D1D5D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99" name="달성한 것"/>
          <p:cNvSpPr txBox="1"/>
          <p:nvPr/>
        </p:nvSpPr>
        <p:spPr>
          <a:xfrm>
            <a:off x="1047750" y="1924050"/>
            <a:ext cx="2724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달성한 것</a:t>
            </a:r>
          </a:p>
        </p:txBody>
      </p:sp>
      <p:sp>
        <p:nvSpPr>
          <p:cNvPr id="200" name="D-7 예약 오픈 시각 자동 계산…"/>
          <p:cNvSpPr txBox="1"/>
          <p:nvPr/>
        </p:nvSpPr>
        <p:spPr>
          <a:xfrm>
            <a:off x="1112519" y="2343150"/>
            <a:ext cx="2594612" cy="2114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D-7 예약 오픈 시각 자동 계산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SQLite와 launchd 기반 로컬 작업 관리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LM Studio 자연어 요청과 MCP 도구 연결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Playwright 흐름에 안전 검증 조건 추가</a:t>
            </a:r>
          </a:p>
        </p:txBody>
      </p:sp>
      <p:sp>
        <p:nvSpPr>
          <p:cNvPr id="201" name="모서리가 둥근 직사각형"/>
          <p:cNvSpPr/>
          <p:nvPr/>
        </p:nvSpPr>
        <p:spPr>
          <a:xfrm>
            <a:off x="4514850" y="175260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>
            <a:solidFill>
              <a:srgbClr val="D1D5D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02" name="배운 점"/>
          <p:cNvSpPr txBox="1"/>
          <p:nvPr/>
        </p:nvSpPr>
        <p:spPr>
          <a:xfrm>
            <a:off x="4724400" y="1924050"/>
            <a:ext cx="2724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배운 점</a:t>
            </a:r>
          </a:p>
        </p:txBody>
      </p:sp>
      <p:sp>
        <p:nvSpPr>
          <p:cNvPr id="203" name="자동화일수록 입력 검증과 실패 처리가 중요함…"/>
          <p:cNvSpPr txBox="1"/>
          <p:nvPr/>
        </p:nvSpPr>
        <p:spPr>
          <a:xfrm>
            <a:off x="4789170" y="2343150"/>
            <a:ext cx="2594612" cy="2114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자동화일수록 입력 검증과 실패 처리가 중요함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외부 사이트 의존 기능은 성공 경로와 실패 경로를 함께 설계해야 함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사용자가 이해할 수 있는 인터페이스가 필요함</a:t>
            </a:r>
          </a:p>
        </p:txBody>
      </p:sp>
      <p:sp>
        <p:nvSpPr>
          <p:cNvPr id="204" name="모서리가 둥근 직사각형"/>
          <p:cNvSpPr/>
          <p:nvPr/>
        </p:nvSpPr>
        <p:spPr>
          <a:xfrm>
            <a:off x="8191500" y="175260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>
            <a:solidFill>
              <a:srgbClr val="D1D5DB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05" name="향후 개선"/>
          <p:cNvSpPr txBox="1"/>
          <p:nvPr/>
        </p:nvSpPr>
        <p:spPr>
          <a:xfrm>
            <a:off x="8401050" y="1924050"/>
            <a:ext cx="2724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향후 개선</a:t>
            </a:r>
          </a:p>
        </p:txBody>
      </p:sp>
      <p:sp>
        <p:nvSpPr>
          <p:cNvPr id="206" name="셀렉터 실패 로그 체계화…"/>
          <p:cNvSpPr txBox="1"/>
          <p:nvPr/>
        </p:nvSpPr>
        <p:spPr>
          <a:xfrm>
            <a:off x="8465818" y="2343150"/>
            <a:ext cx="2594612" cy="2114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셀렉터 실패 로그 체계화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중복 작업 방지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캘린더 내보내기</a:t>
            </a:r>
          </a:p>
          <a:p>
            <a:pPr marL="1" indent="4">
              <a:lnSpc>
                <a:spcPct val="122000"/>
              </a:lnSpc>
              <a:defRPr sz="1100">
                <a:solidFill>
                  <a:srgbClr val="37415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취소표 감시 모드 확장</a:t>
            </a:r>
          </a:p>
        </p:txBody>
      </p:sp>
      <p:sp>
        <p:nvSpPr>
          <p:cNvPr id="207" name="출처: 프로젝트 보고서(2026.06.14)"/>
          <p:cNvSpPr txBox="1"/>
          <p:nvPr/>
        </p:nvSpPr>
        <p:spPr>
          <a:xfrm>
            <a:off x="685800" y="6496050"/>
            <a:ext cx="342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sz="7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출처: 프로젝트 보고서(2026.06.14)</a:t>
            </a:r>
          </a:p>
        </p:txBody>
      </p:sp>
      <p:sp>
        <p:nvSpPr>
          <p:cNvPr id="208" name="09"/>
          <p:cNvSpPr txBox="1"/>
          <p:nvPr/>
        </p:nvSpPr>
        <p:spPr>
          <a:xfrm>
            <a:off x="11029950" y="6438900"/>
            <a:ext cx="47625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normAutofit fontScale="100000" lnSpcReduction="0"/>
          </a:bodyPr>
          <a:lstStyle>
            <a:lvl1pPr algn="ctr">
              <a:defRPr b="1" sz="1100">
                <a:solidFill>
                  <a:srgbClr val="111827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